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Roboto Medium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Roboto Ligh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Medium-bold.fntdata"/><Relationship Id="rId25" Type="http://schemas.openxmlformats.org/officeDocument/2006/relationships/font" Target="fonts/RobotoMedium-regular.fntdata"/><Relationship Id="rId28" Type="http://schemas.openxmlformats.org/officeDocument/2006/relationships/font" Target="fonts/RobotoMedium-boldItalic.fntdata"/><Relationship Id="rId27" Type="http://schemas.openxmlformats.org/officeDocument/2006/relationships/font" Target="fonts/RobotoMedium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7.xml"/><Relationship Id="rId33" Type="http://schemas.openxmlformats.org/officeDocument/2006/relationships/font" Target="fonts/RobotoLight-regular.fntdata"/><Relationship Id="rId10" Type="http://schemas.openxmlformats.org/officeDocument/2006/relationships/slide" Target="slides/slide6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9.xml"/><Relationship Id="rId35" Type="http://schemas.openxmlformats.org/officeDocument/2006/relationships/font" Target="fonts/RobotoLight-italic.fntdata"/><Relationship Id="rId12" Type="http://schemas.openxmlformats.org/officeDocument/2006/relationships/slide" Target="slides/slide8.xml"/><Relationship Id="rId34" Type="http://schemas.openxmlformats.org/officeDocument/2006/relationships/font" Target="fonts/RobotoLight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RobotoLight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9143fda57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9143fda57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9143fda576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9143fda57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d2d2aea2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ad2d2ae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ad2d2aea2_0_15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ad2d2aea2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ad2d2aea2_0_15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ad2d2aea2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ad2d2aea2_0_16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ad2d2aea2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ad2d2aea2_0_17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ad2d2aea2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98ef225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98ef225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ad2d2aea2_0_18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ad2d2aea2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98ef2257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98ef2257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ad2d2aea2_0_19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ad2d2aea2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98ef2257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98ef2257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ad2d2aea2_0_20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ad2d2aea2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98ef2257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f98ef2257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ad2d2aea2_0_21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ad2d2ae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98ef2257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98ef2257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ad2d2aea2_0_22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ad2d2aea2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98ef2257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98ef2257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ad2d2aea2_0_76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ad2d2aea2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ad2d2aea2_0_77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ad2d2aea2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f06253986f_7_0)">
  <p:cSld name="Title and body (g3f06253986f_7_0)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f06253986f_14_0)">
  <p:cSld name="Title and body (g3f06253986f_14_0)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kestra.io/plugins/plugin-ai/provider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ctrTitle"/>
          </p:nvPr>
        </p:nvSpPr>
        <p:spPr>
          <a:xfrm>
            <a:off x="311700" y="1811375"/>
            <a:ext cx="870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</a:rPr>
              <a:t>AI Agents</a:t>
            </a:r>
            <a:endParaRPr sz="4200"/>
          </a:p>
        </p:txBody>
      </p:sp>
      <p:sp>
        <p:nvSpPr>
          <p:cNvPr id="153" name="Google Shape;153;p26"/>
          <p:cNvSpPr txBox="1"/>
          <p:nvPr/>
        </p:nvSpPr>
        <p:spPr>
          <a:xfrm>
            <a:off x="345775" y="28927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06 | July, 2026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4" name="Google Shape;15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6"/>
          <p:cNvSpPr txBox="1"/>
          <p:nvPr/>
        </p:nvSpPr>
        <p:spPr>
          <a:xfrm>
            <a:off x="311700" y="3769550"/>
            <a:ext cx="85206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Instructor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: Sithvothy Kiv 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Josh Hug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AI Agents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When to Use AI Agents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Structure of an AI Agent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Simple Agent Example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Advanced Agent Example: Web Research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Agent Tools Available in Kestra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Agent Observability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1" name="Google Shape;16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7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AI Agents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167;p28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AI Agents</a:t>
            </a:r>
            <a:endParaRPr sz="1800"/>
          </a:p>
        </p:txBody>
      </p:sp>
      <p:sp>
        <p:nvSpPr>
          <p:cNvPr id="169" name="Google Shape;169;p28"/>
          <p:cNvSpPr txBox="1"/>
          <p:nvPr/>
        </p:nvSpPr>
        <p:spPr>
          <a:xfrm>
            <a:off x="428625" y="714375"/>
            <a:ext cx="8286900" cy="2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Module 1 you built the agentic loop by hand: a while loop that called the LLM, executed any tool calls it returned, sent the results back, and stopped when the model produced a final answer with no more tool calls. That pattern is the foundation of every agent framework.</a:t>
            </a:r>
            <a:endParaRPr sz="180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" name="Google Shape;175;p29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AI Agents</a:t>
            </a:r>
            <a:endParaRPr sz="1800"/>
          </a:p>
        </p:txBody>
      </p:sp>
      <p:sp>
        <p:nvSpPr>
          <p:cNvPr id="177" name="Google Shape;177;p29"/>
          <p:cNvSpPr txBox="1"/>
          <p:nvPr/>
        </p:nvSpPr>
        <p:spPr>
          <a:xfrm>
            <a:off x="428625" y="714375"/>
            <a:ext cx="8286900" cy="2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Kestra, the AIAgent plugin handles that loop for you. You define the goal, the tools, and optionally a system message - Kestra drives the loop, manages conversation history, and surfaces the result as a task output.</a:t>
            </a:r>
            <a:endParaRPr sz="1800">
              <a:solidFill>
                <a:srgbClr val="4A55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Google Shape;183;p30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AI Agents</a:t>
            </a:r>
            <a:endParaRPr sz="1800"/>
          </a:p>
        </p:txBody>
      </p:sp>
      <p:sp>
        <p:nvSpPr>
          <p:cNvPr id="185" name="Google Shape;185;p30"/>
          <p:cNvSpPr txBox="1"/>
          <p:nvPr/>
        </p:nvSpPr>
        <p:spPr>
          <a:xfrm>
            <a:off x="428625" y="714375"/>
            <a:ext cx="8286900" cy="2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The example flows use Gemini, but the provider block supports any major AI provider — swap io.kestra.plugin.ai.provider.GoogleGemini for OpenAI, Anthropic, or others. See the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full list of supported providers</a:t>
            </a: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Traditional Workflow — fixed sequence, predetermined logic:</a:t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AI Agents</a:t>
            </a:r>
            <a:endParaRPr sz="1800"/>
          </a:p>
        </p:txBody>
      </p:sp>
      <p:sp>
        <p:nvSpPr>
          <p:cNvPr id="193" name="Google Shape;193;p31"/>
          <p:cNvSpPr txBox="1"/>
          <p:nvPr/>
        </p:nvSpPr>
        <p:spPr>
          <a:xfrm>
            <a:off x="428625" y="714375"/>
            <a:ext cx="8286900" cy="2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Traditional Workflow — fixed sequence, predetermined logic:</a:t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tasks: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- id: step1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  type: Task1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- id: step2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  type: Task2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- id: step3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  type: Task3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Google Shape;199;p3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AI Agents</a:t>
            </a:r>
            <a:endParaRPr sz="1800"/>
          </a:p>
        </p:txBody>
      </p:sp>
      <p:sp>
        <p:nvSpPr>
          <p:cNvPr id="201" name="Google Shape;201;p32"/>
          <p:cNvSpPr txBox="1"/>
          <p:nvPr/>
        </p:nvSpPr>
        <p:spPr>
          <a:xfrm>
            <a:off x="428625" y="714375"/>
            <a:ext cx="8286900" cy="3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AI Agent Workflow — agent decides what to do, in what order, based on the goal:</a:t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tasks: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- id: agent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  type: io.kestra.plugin.ai.agent.AIAgent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  prompt: "Research data engineering trends and create a report"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  tools: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    - WebSearch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     - TaskExecution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AI Agents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When to Use AI Agents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Structure</a:t>
            </a:r>
            <a:r>
              <a:rPr lang="en">
                <a:solidFill>
                  <a:schemeClr val="dk2"/>
                </a:solidFill>
              </a:rPr>
              <a:t> of an AI Agent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Simple Agent Example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Advanced Agent Example: Web Research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Agent Tools Available in Kestra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Agent Observability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3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When to Use </a:t>
            </a:r>
            <a:r>
              <a:rPr lang="en">
                <a:solidFill>
                  <a:schemeClr val="accent3"/>
                </a:solidFill>
              </a:rPr>
              <a:t>AI Agents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3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When to Use AI Agents</a:t>
            </a:r>
            <a:endParaRPr sz="1800"/>
          </a:p>
        </p:txBody>
      </p:sp>
      <p:sp>
        <p:nvSpPr>
          <p:cNvPr id="216" name="Google Shape;216;p34"/>
          <p:cNvSpPr txBox="1"/>
          <p:nvPr/>
        </p:nvSpPr>
        <p:spPr>
          <a:xfrm>
            <a:off x="428625" y="714375"/>
            <a:ext cx="8286900" cy="3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Use AI Agents when the exact sequence of steps isn't known in advance, decisions depend on dynamic changing information, or you need to adapt to unexpected conditions.</a:t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Use traditional workflows when steps are deterministic and repeatable, compliance requires exact auditable processes, or cost and latency must be minimized.</a:t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AI Agents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When to Use AI Agents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Structure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of an AI Agent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Simple Agent Example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Advanced Agent Example: Web Research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Agent Tools Available in Kestra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Agent Observability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3" name="Google Shape;22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5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Structure of an AI Agent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9" name="Google Shape;229;p36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Structure of an AI Agent</a:t>
            </a:r>
            <a:endParaRPr sz="1800"/>
          </a:p>
        </p:txBody>
      </p:sp>
      <p:sp>
        <p:nvSpPr>
          <p:cNvPr id="231" name="Google Shape;231;p36"/>
          <p:cNvSpPr txBox="1"/>
          <p:nvPr/>
        </p:nvSpPr>
        <p:spPr>
          <a:xfrm>
            <a:off x="428625" y="714375"/>
            <a:ext cx="82869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id: example_agent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namespace: llm-course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tasks: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- id: agent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type: io.kestra.plugin.ai.agent.AIAgent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# Defines the agent's role and behavior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systemMessage: |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  You are a data analyst. Analyze data and provide insights.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# The actual task or question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prompt: "What are the top 3 trends in this data?"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# LLM provider configuration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provider: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  type: io.kestra.plugin.ai.provider.GoogleGemini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  modelName: gemini-2.5-flash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  apiKey: "{{ secret('GEMINI_API_KEY') }}"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# Tools the agent can use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tools: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  - type: io.kestra.plugin.ai.tool.TavilyWebSearch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    apiKey: "{{ secret('TAVILY_API_KEY') }}"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# Memory for context across executions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memory: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  type: io.kestra.plugin.ai.memory.KestraKVStore</a:t>
            </a:r>
            <a:endParaRPr sz="9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highlight>
                  <a:srgbClr val="F6F8FA"/>
                </a:highlight>
                <a:latin typeface="Roboto"/>
                <a:ea typeface="Roboto"/>
                <a:cs typeface="Roboto"/>
                <a:sym typeface="Roboto"/>
              </a:rPr>
              <a:t>      memoryId: analyst_001</a:t>
            </a:r>
            <a:endParaRPr sz="19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AI Agents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When to Use AI Agents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Structure</a:t>
            </a:r>
            <a:r>
              <a:rPr lang="en">
                <a:solidFill>
                  <a:schemeClr val="dk2"/>
                </a:solidFill>
              </a:rPr>
              <a:t> of an AI Agent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Simple Agent Example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Advanced Agent Example: Web Research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Agent Tools Available in Kestra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Agent Observability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7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Simple Agent Example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Google Shape;244;p38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Simple Agent Example</a:t>
            </a:r>
            <a:endParaRPr sz="1800"/>
          </a:p>
        </p:txBody>
      </p:sp>
      <p:sp>
        <p:nvSpPr>
          <p:cNvPr id="246" name="Google Shape;246;p38"/>
          <p:cNvSpPr txBox="1"/>
          <p:nvPr/>
        </p:nvSpPr>
        <p:spPr>
          <a:xfrm>
            <a:off x="428625" y="714375"/>
            <a:ext cx="82869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Flow: </a:t>
            </a: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4_simple_agent.yaml</a:t>
            </a:r>
            <a:endParaRPr sz="1800" u="sng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rgbClr val="18803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flow demonstrates a basic AI agent that summarizes text with controllable length and language. It shows how to structure agent prompts, chain agent tasks, use </a:t>
            </a:r>
            <a:r>
              <a:rPr lang="en" sz="18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pluginDefaults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avoid repetition, and track token usage for cost monitoring.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highlight>
                <a:srgbClr val="F6F8FA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AI Agents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When to Use AI Agents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Structure</a:t>
            </a:r>
            <a:r>
              <a:rPr lang="en">
                <a:solidFill>
                  <a:schemeClr val="dk2"/>
                </a:solidFill>
              </a:rPr>
              <a:t> of an AI Agent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Simple Agent Example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Advanced Agent Example: Web Research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Agent Tools Available in Kestra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Agent Observability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3" name="Google Shape;25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39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Advanced Agent Example: Web Research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9" name="Google Shape;259;p40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Advanced Agent Example: Web Research</a:t>
            </a:r>
            <a:endParaRPr sz="1800"/>
          </a:p>
        </p:txBody>
      </p:sp>
      <p:sp>
        <p:nvSpPr>
          <p:cNvPr id="261" name="Google Shape;261;p40"/>
          <p:cNvSpPr txBox="1"/>
          <p:nvPr/>
        </p:nvSpPr>
        <p:spPr>
          <a:xfrm>
            <a:off x="428625" y="714375"/>
            <a:ext cx="8286900" cy="3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Flow: </a:t>
            </a: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5_web_research_agent.yaml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This flow demonstrates an agent with autonomous tool usage:</a:t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Receives a research prompt (e.g., "Latest trends in workflow orchestration")</a:t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Decides to use the web search tool to gather information</a:t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Evaluates search results and determines if more searches are needed</a:t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Synthesizes findings into a structured markdown report</a:t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Saves the report to a file using the filesystem tool</a:t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The agent autonomously decides when to use tools, can loop (search → evaluate → search again) until satisfied, and you only specify the goal — not the exact steps.</a:t>
            </a:r>
            <a:endParaRPr sz="18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AI Agents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When to Use AI Agents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Structure</a:t>
            </a:r>
            <a:r>
              <a:rPr lang="en">
                <a:solidFill>
                  <a:schemeClr val="dk2"/>
                </a:solidFill>
              </a:rPr>
              <a:t> of an AI Agent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Simple Agent Example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Advanced Agent Example: Web Research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Agent Tools Available in Kestra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Agent Observability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8" name="Google Shape;26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41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Agent Tools Available in Kestra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4" name="Google Shape;274;p4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Agent Tools Available in Kestra</a:t>
            </a:r>
            <a:endParaRPr sz="1800"/>
          </a:p>
        </p:txBody>
      </p:sp>
      <p:grpSp>
        <p:nvGrpSpPr>
          <p:cNvPr id="276" name="Google Shape;276;p42"/>
          <p:cNvGrpSpPr/>
          <p:nvPr/>
        </p:nvGrpSpPr>
        <p:grpSpPr>
          <a:xfrm>
            <a:off x="428625" y="714375"/>
            <a:ext cx="8286900" cy="3791100"/>
            <a:chOff x="428625" y="714375"/>
            <a:chExt cx="8286900" cy="3791100"/>
          </a:xfrm>
        </p:grpSpPr>
        <p:sp>
          <p:nvSpPr>
            <p:cNvPr id="277" name="Google Shape;277;p42"/>
            <p:cNvSpPr/>
            <p:nvPr/>
          </p:nvSpPr>
          <p:spPr>
            <a:xfrm>
              <a:off x="428625" y="714375"/>
              <a:ext cx="8286900" cy="362100"/>
            </a:xfrm>
            <a:prstGeom prst="roundRect">
              <a:avLst>
                <a:gd fmla="val 10526" name="adj"/>
              </a:avLst>
            </a:prstGeom>
            <a:solidFill>
              <a:srgbClr val="0B539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8" name="Google Shape;278;p42"/>
            <p:cNvSpPr/>
            <p:nvPr/>
          </p:nvSpPr>
          <p:spPr>
            <a:xfrm>
              <a:off x="428625" y="1095375"/>
              <a:ext cx="8286900" cy="362100"/>
            </a:xfrm>
            <a:prstGeom prst="roundRect">
              <a:avLst>
                <a:gd fmla="val 10526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9" name="Google Shape;279;p42"/>
            <p:cNvSpPr/>
            <p:nvPr/>
          </p:nvSpPr>
          <p:spPr>
            <a:xfrm>
              <a:off x="428625" y="1476375"/>
              <a:ext cx="8286900" cy="362100"/>
            </a:xfrm>
            <a:prstGeom prst="roundRect">
              <a:avLst>
                <a:gd fmla="val 1052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0" name="Google Shape;280;p42"/>
            <p:cNvSpPr/>
            <p:nvPr/>
          </p:nvSpPr>
          <p:spPr>
            <a:xfrm>
              <a:off x="428625" y="1857375"/>
              <a:ext cx="8286900" cy="362100"/>
            </a:xfrm>
            <a:prstGeom prst="roundRect">
              <a:avLst>
                <a:gd fmla="val 10526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1" name="Google Shape;281;p42"/>
            <p:cNvSpPr/>
            <p:nvPr/>
          </p:nvSpPr>
          <p:spPr>
            <a:xfrm>
              <a:off x="428625" y="2238375"/>
              <a:ext cx="8286900" cy="362100"/>
            </a:xfrm>
            <a:prstGeom prst="roundRect">
              <a:avLst>
                <a:gd fmla="val 1052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2" name="Google Shape;282;p42"/>
            <p:cNvSpPr/>
            <p:nvPr/>
          </p:nvSpPr>
          <p:spPr>
            <a:xfrm>
              <a:off x="428625" y="2619375"/>
              <a:ext cx="8286900" cy="362100"/>
            </a:xfrm>
            <a:prstGeom prst="roundRect">
              <a:avLst>
                <a:gd fmla="val 10526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3" name="Google Shape;283;p42"/>
            <p:cNvSpPr/>
            <p:nvPr/>
          </p:nvSpPr>
          <p:spPr>
            <a:xfrm>
              <a:off x="428625" y="3000375"/>
              <a:ext cx="8286900" cy="362100"/>
            </a:xfrm>
            <a:prstGeom prst="roundRect">
              <a:avLst>
                <a:gd fmla="val 1052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4" name="Google Shape;284;p42"/>
            <p:cNvSpPr/>
            <p:nvPr/>
          </p:nvSpPr>
          <p:spPr>
            <a:xfrm>
              <a:off x="428625" y="3381375"/>
              <a:ext cx="8286900" cy="362100"/>
            </a:xfrm>
            <a:prstGeom prst="roundRect">
              <a:avLst>
                <a:gd fmla="val 10526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5" name="Google Shape;285;p42"/>
            <p:cNvSpPr/>
            <p:nvPr/>
          </p:nvSpPr>
          <p:spPr>
            <a:xfrm>
              <a:off x="428625" y="3762375"/>
              <a:ext cx="8286900" cy="362100"/>
            </a:xfrm>
            <a:prstGeom prst="roundRect">
              <a:avLst>
                <a:gd fmla="val 1052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6" name="Google Shape;286;p42"/>
            <p:cNvSpPr/>
            <p:nvPr/>
          </p:nvSpPr>
          <p:spPr>
            <a:xfrm>
              <a:off x="428625" y="4143375"/>
              <a:ext cx="8286900" cy="362100"/>
            </a:xfrm>
            <a:prstGeom prst="roundRect">
              <a:avLst>
                <a:gd fmla="val 10526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7" name="Google Shape;287;p42"/>
            <p:cNvSpPr txBox="1"/>
            <p:nvPr/>
          </p:nvSpPr>
          <p:spPr>
            <a:xfrm>
              <a:off x="523875" y="714375"/>
              <a:ext cx="2095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Tool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8" name="Google Shape;288;p42"/>
            <p:cNvSpPr txBox="1"/>
            <p:nvPr/>
          </p:nvSpPr>
          <p:spPr>
            <a:xfrm>
              <a:off x="2809875" y="714375"/>
              <a:ext cx="2952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Purpose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9" name="Google Shape;289;p42"/>
            <p:cNvSpPr txBox="1"/>
            <p:nvPr/>
          </p:nvSpPr>
          <p:spPr>
            <a:xfrm>
              <a:off x="5953125" y="714375"/>
              <a:ext cx="2667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Example Use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0" name="Google Shape;290;p42"/>
            <p:cNvSpPr txBox="1"/>
            <p:nvPr/>
          </p:nvSpPr>
          <p:spPr>
            <a:xfrm>
              <a:off x="523875" y="1095375"/>
              <a:ext cx="2095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00000"/>
                  </a:solidFill>
                  <a:latin typeface="Roboto"/>
                  <a:ea typeface="Roboto"/>
                  <a:cs typeface="Roboto"/>
                  <a:sym typeface="Roboto"/>
                </a:rPr>
                <a:t>TavilyWebSearch</a:t>
              </a:r>
              <a:endParaRPr b="1" sz="1100">
                <a:solidFill>
                  <a:srgbClr val="8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1" name="Google Shape;291;p42"/>
            <p:cNvSpPr txBox="1"/>
            <p:nvPr/>
          </p:nvSpPr>
          <p:spPr>
            <a:xfrm>
              <a:off x="2809875" y="1095375"/>
              <a:ext cx="2952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Search the web for current information</a:t>
              </a:r>
              <a:endParaRPr sz="10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2" name="Google Shape;292;p42"/>
            <p:cNvSpPr txBox="1"/>
            <p:nvPr/>
          </p:nvSpPr>
          <p:spPr>
            <a:xfrm>
              <a:off x="5953125" y="1095375"/>
              <a:ext cx="2667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Market research, news monitoring</a:t>
              </a:r>
              <a:endParaRPr sz="105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3" name="Google Shape;293;p42"/>
            <p:cNvSpPr txBox="1"/>
            <p:nvPr/>
          </p:nvSpPr>
          <p:spPr>
            <a:xfrm>
              <a:off x="523875" y="1476375"/>
              <a:ext cx="2095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00000"/>
                  </a:solidFill>
                  <a:latin typeface="Roboto"/>
                  <a:ea typeface="Roboto"/>
                  <a:cs typeface="Roboto"/>
                  <a:sym typeface="Roboto"/>
                </a:rPr>
                <a:t>GoogleCustomWebSearch</a:t>
              </a:r>
              <a:endParaRPr b="1" sz="1100">
                <a:solidFill>
                  <a:srgbClr val="8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4" name="Google Shape;294;p42"/>
            <p:cNvSpPr txBox="1"/>
            <p:nvPr/>
          </p:nvSpPr>
          <p:spPr>
            <a:xfrm>
              <a:off x="2809875" y="1476375"/>
              <a:ext cx="2952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Search with Google Custom Search API</a:t>
              </a:r>
              <a:endParaRPr sz="10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5" name="Google Shape;295;p42"/>
            <p:cNvSpPr txBox="1"/>
            <p:nvPr/>
          </p:nvSpPr>
          <p:spPr>
            <a:xfrm>
              <a:off x="5953125" y="1476375"/>
              <a:ext cx="2667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Google search</a:t>
              </a:r>
              <a:endParaRPr sz="105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6" name="Google Shape;296;p42"/>
            <p:cNvSpPr txBox="1"/>
            <p:nvPr/>
          </p:nvSpPr>
          <p:spPr>
            <a:xfrm>
              <a:off x="523875" y="1857375"/>
              <a:ext cx="2095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00000"/>
                  </a:solidFill>
                  <a:latin typeface="Roboto"/>
                  <a:ea typeface="Roboto"/>
                  <a:cs typeface="Roboto"/>
                  <a:sym typeface="Roboto"/>
                </a:rPr>
                <a:t>CodeExecution</a:t>
              </a:r>
              <a:endParaRPr b="1" sz="1100">
                <a:solidFill>
                  <a:srgbClr val="8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7" name="Google Shape;297;p42"/>
            <p:cNvSpPr txBox="1"/>
            <p:nvPr/>
          </p:nvSpPr>
          <p:spPr>
            <a:xfrm>
              <a:off x="2809875" y="1857375"/>
              <a:ext cx="2952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Run code safely via Judge0</a:t>
              </a:r>
              <a:endParaRPr sz="10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8" name="Google Shape;298;p42"/>
            <p:cNvSpPr txBox="1"/>
            <p:nvPr/>
          </p:nvSpPr>
          <p:spPr>
            <a:xfrm>
              <a:off x="5953125" y="1857375"/>
              <a:ext cx="2667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Math calculations, data validation</a:t>
              </a:r>
              <a:endParaRPr sz="105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9" name="Google Shape;299;p42"/>
            <p:cNvSpPr txBox="1"/>
            <p:nvPr/>
          </p:nvSpPr>
          <p:spPr>
            <a:xfrm>
              <a:off x="523875" y="2238375"/>
              <a:ext cx="2095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00000"/>
                  </a:solidFill>
                  <a:latin typeface="Roboto"/>
                  <a:ea typeface="Roboto"/>
                  <a:cs typeface="Roboto"/>
                  <a:sym typeface="Roboto"/>
                </a:rPr>
                <a:t>KestraTask</a:t>
              </a:r>
              <a:endParaRPr b="1" sz="1100">
                <a:solidFill>
                  <a:srgbClr val="8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0" name="Google Shape;300;p42"/>
            <p:cNvSpPr txBox="1"/>
            <p:nvPr/>
          </p:nvSpPr>
          <p:spPr>
            <a:xfrm>
              <a:off x="2809875" y="2238375"/>
              <a:ext cx="2952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Execute any Kestra task</a:t>
              </a:r>
              <a:endParaRPr sz="10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1" name="Google Shape;301;p42"/>
            <p:cNvSpPr txBox="1"/>
            <p:nvPr/>
          </p:nvSpPr>
          <p:spPr>
            <a:xfrm>
              <a:off x="5953125" y="2238375"/>
              <a:ext cx="2667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Run tasks based on 1000+ Kestra plugins</a:t>
              </a:r>
              <a:endParaRPr sz="105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2" name="Google Shape;302;p42"/>
            <p:cNvSpPr txBox="1"/>
            <p:nvPr/>
          </p:nvSpPr>
          <p:spPr>
            <a:xfrm>
              <a:off x="523875" y="2619375"/>
              <a:ext cx="2095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00000"/>
                  </a:solidFill>
                  <a:latin typeface="Roboto"/>
                  <a:ea typeface="Roboto"/>
                  <a:cs typeface="Roboto"/>
                  <a:sym typeface="Roboto"/>
                </a:rPr>
                <a:t>KestraFlow</a:t>
              </a:r>
              <a:endParaRPr b="1" sz="1100">
                <a:solidFill>
                  <a:srgbClr val="8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3" name="Google Shape;303;p42"/>
            <p:cNvSpPr txBox="1"/>
            <p:nvPr/>
          </p:nvSpPr>
          <p:spPr>
            <a:xfrm>
              <a:off x="2809875" y="2619375"/>
              <a:ext cx="2952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Trigger other Kestra flows</a:t>
              </a:r>
              <a:endParaRPr sz="10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4" name="Google Shape;304;p42"/>
            <p:cNvSpPr txBox="1"/>
            <p:nvPr/>
          </p:nvSpPr>
          <p:spPr>
            <a:xfrm>
              <a:off x="5953125" y="2619375"/>
              <a:ext cx="2667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Call other flows for modularity</a:t>
              </a:r>
              <a:endParaRPr sz="105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5" name="Google Shape;305;p42"/>
            <p:cNvSpPr txBox="1"/>
            <p:nvPr/>
          </p:nvSpPr>
          <p:spPr>
            <a:xfrm>
              <a:off x="523875" y="3000375"/>
              <a:ext cx="2095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00000"/>
                  </a:solidFill>
                  <a:latin typeface="Roboto"/>
                  <a:ea typeface="Roboto"/>
                  <a:cs typeface="Roboto"/>
                  <a:sym typeface="Roboto"/>
                </a:rPr>
                <a:t>StreamableHttpMcpClient</a:t>
              </a:r>
              <a:endParaRPr b="1" sz="1100">
                <a:solidFill>
                  <a:srgbClr val="8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6" name="Google Shape;306;p42"/>
            <p:cNvSpPr txBox="1"/>
            <p:nvPr/>
          </p:nvSpPr>
          <p:spPr>
            <a:xfrm>
              <a:off x="2809875" y="3000375"/>
              <a:ext cx="2952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Use MCP servers via HTTP/SSE</a:t>
              </a:r>
              <a:endParaRPr sz="10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7" name="Google Shape;307;p42"/>
            <p:cNvSpPr txBox="1"/>
            <p:nvPr/>
          </p:nvSpPr>
          <p:spPr>
            <a:xfrm>
              <a:off x="5953125" y="3000375"/>
              <a:ext cx="2667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Connect to remote MCP servers</a:t>
              </a:r>
              <a:endParaRPr sz="105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8" name="Google Shape;308;p42"/>
            <p:cNvSpPr txBox="1"/>
            <p:nvPr/>
          </p:nvSpPr>
          <p:spPr>
            <a:xfrm>
              <a:off x="523875" y="3381375"/>
              <a:ext cx="2095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00000"/>
                  </a:solidFill>
                  <a:latin typeface="Roboto"/>
                  <a:ea typeface="Roboto"/>
                  <a:cs typeface="Roboto"/>
                  <a:sym typeface="Roboto"/>
                </a:rPr>
                <a:t>DockerMcpClient</a:t>
              </a:r>
              <a:endParaRPr b="1" sz="1100">
                <a:solidFill>
                  <a:srgbClr val="8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9" name="Google Shape;309;p42"/>
            <p:cNvSpPr txBox="1"/>
            <p:nvPr/>
          </p:nvSpPr>
          <p:spPr>
            <a:xfrm>
              <a:off x="2809875" y="3381375"/>
              <a:ext cx="2952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Use MCP servers in Docker</a:t>
              </a:r>
              <a:endParaRPr sz="10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0" name="Google Shape;310;p42"/>
            <p:cNvSpPr txBox="1"/>
            <p:nvPr/>
          </p:nvSpPr>
          <p:spPr>
            <a:xfrm>
              <a:off x="5953125" y="3381375"/>
              <a:ext cx="2667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MCP servers spun up on-demand via Docker</a:t>
              </a:r>
              <a:endParaRPr sz="105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1" name="Google Shape;311;p42"/>
            <p:cNvSpPr txBox="1"/>
            <p:nvPr/>
          </p:nvSpPr>
          <p:spPr>
            <a:xfrm>
              <a:off x="523875" y="3762375"/>
              <a:ext cx="2095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00000"/>
                  </a:solidFill>
                  <a:latin typeface="Roboto"/>
                  <a:ea typeface="Roboto"/>
                  <a:cs typeface="Roboto"/>
                  <a:sym typeface="Roboto"/>
                </a:rPr>
                <a:t>StdioMcpClient</a:t>
              </a:r>
              <a:endParaRPr b="1" sz="1100">
                <a:solidFill>
                  <a:srgbClr val="8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2" name="Google Shape;312;p42"/>
            <p:cNvSpPr txBox="1"/>
            <p:nvPr/>
          </p:nvSpPr>
          <p:spPr>
            <a:xfrm>
              <a:off x="2809875" y="3762375"/>
              <a:ext cx="2952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Use MCP servers via stdio</a:t>
              </a:r>
              <a:endParaRPr sz="10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3" name="Google Shape;313;p42"/>
            <p:cNvSpPr txBox="1"/>
            <p:nvPr/>
          </p:nvSpPr>
          <p:spPr>
            <a:xfrm>
              <a:off x="5953125" y="3762375"/>
              <a:ext cx="2667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Integration with external systems</a:t>
              </a:r>
              <a:endParaRPr sz="105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4" name="Google Shape;314;p42"/>
            <p:cNvSpPr txBox="1"/>
            <p:nvPr/>
          </p:nvSpPr>
          <p:spPr>
            <a:xfrm>
              <a:off x="523875" y="4143375"/>
              <a:ext cx="2095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00000"/>
                  </a:solidFill>
                  <a:latin typeface="Roboto"/>
                  <a:ea typeface="Roboto"/>
                  <a:cs typeface="Roboto"/>
                  <a:sym typeface="Roboto"/>
                </a:rPr>
                <a:t>AIAgent</a:t>
              </a:r>
              <a:endParaRPr b="1" sz="1100">
                <a:solidFill>
                  <a:srgbClr val="8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5" name="Google Shape;315;p42"/>
            <p:cNvSpPr txBox="1"/>
            <p:nvPr/>
          </p:nvSpPr>
          <p:spPr>
            <a:xfrm>
              <a:off x="2809875" y="4143375"/>
              <a:ext cx="2952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Use another agent as a tool</a:t>
              </a:r>
              <a:endParaRPr sz="10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6" name="Google Shape;316;p42"/>
            <p:cNvSpPr txBox="1"/>
            <p:nvPr/>
          </p:nvSpPr>
          <p:spPr>
            <a:xfrm>
              <a:off x="5953125" y="4143375"/>
              <a:ext cx="2667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rPr>
                <a:t>Multi-agent systems, specialized sub-agents</a:t>
              </a:r>
              <a:endParaRPr sz="105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17" name="Google Shape;317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3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AI Agents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When to Use AI Agents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Structure</a:t>
            </a:r>
            <a:r>
              <a:rPr lang="en">
                <a:solidFill>
                  <a:schemeClr val="dk2"/>
                </a:solidFill>
              </a:rPr>
              <a:t> of an AI Agent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Simple Agent Example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Advanced Agent Example: Web Research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Agent Tools Available in Kestra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Agent Observability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43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Agent Observability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9" name="Google Shape;329;p4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Agent Observability</a:t>
            </a:r>
            <a:endParaRPr sz="1800"/>
          </a:p>
        </p:txBody>
      </p:sp>
      <p:sp>
        <p:nvSpPr>
          <p:cNvPr id="331" name="Google Shape;331;p44"/>
          <p:cNvSpPr txBox="1"/>
          <p:nvPr/>
        </p:nvSpPr>
        <p:spPr>
          <a:xfrm>
            <a:off x="428625" y="714375"/>
            <a:ext cx="8286900" cy="3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Kestra provides full observability for agent executions — token usage, tool executions, request and response logs, outputs, and execution time. Enable detailed logging via the configuration property: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7" name="Google Shape;337;p45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Agent Observability</a:t>
            </a:r>
            <a:endParaRPr sz="1800"/>
          </a:p>
        </p:txBody>
      </p:sp>
      <p:sp>
        <p:nvSpPr>
          <p:cNvPr id="339" name="Google Shape;339;p45"/>
          <p:cNvSpPr txBox="1"/>
          <p:nvPr/>
        </p:nvSpPr>
        <p:spPr>
          <a:xfrm>
            <a:off x="428625" y="714375"/>
            <a:ext cx="8286900" cy="3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tasks:</a:t>
            </a:r>
            <a:endParaRPr>
              <a:solidFill>
                <a:schemeClr val="accent3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 - id: research_agent</a:t>
            </a:r>
            <a:endParaRPr>
              <a:solidFill>
                <a:schemeClr val="accent3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   type: io.kestra.plugin.ai.agent.AIAgent</a:t>
            </a:r>
            <a:endParaRPr>
              <a:solidFill>
                <a:schemeClr val="accent3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   description: Autonomous research agent with web search capabilities</a:t>
            </a:r>
            <a:endParaRPr>
              <a:solidFill>
                <a:schemeClr val="accent3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   provider:</a:t>
            </a:r>
            <a:endParaRPr>
              <a:solidFill>
                <a:schemeClr val="accent3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     type: io.kestra.plugin.ai.provider.GoogleGemini</a:t>
            </a:r>
            <a:endParaRPr>
              <a:solidFill>
                <a:schemeClr val="accent3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     apiKey: "{{ secret('GEMINI_API_KEY') }}"</a:t>
            </a:r>
            <a:endParaRPr>
              <a:solidFill>
                <a:schemeClr val="accent3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     modelName: gemini-3.5-flash</a:t>
            </a:r>
            <a:endParaRPr>
              <a:solidFill>
                <a:schemeClr val="accent3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   configuration:</a:t>
            </a:r>
            <a:endParaRPr>
              <a:solidFill>
                <a:schemeClr val="accent3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     logRequests: true</a:t>
            </a:r>
            <a:endParaRPr>
              <a:solidFill>
                <a:schemeClr val="accent3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     logResponses: true</a:t>
            </a:r>
            <a:endParaRPr>
              <a:solidFill>
                <a:schemeClr val="accent3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