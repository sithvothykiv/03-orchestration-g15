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edium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Roboto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A4A9DD-6125-4F7B-9593-0458C5DD02AB}">
  <a:tblStyle styleId="{85A4A9DD-6125-4F7B-9593-0458C5DD02A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regular.fntdata"/><Relationship Id="rId22" Type="http://schemas.openxmlformats.org/officeDocument/2006/relationships/font" Target="fonts/RobotoMedium-italic.fntdata"/><Relationship Id="rId21" Type="http://schemas.openxmlformats.org/officeDocument/2006/relationships/font" Target="fonts/RobotoMedium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Medium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Light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Light-boldItalic.fntdata"/><Relationship Id="rId30" Type="http://schemas.openxmlformats.org/officeDocument/2006/relationships/font" Target="fonts/RobotoLigh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9143fda57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9143fda57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9143fda57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9143fda57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69504a7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69504a7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407e79b29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407e79b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69504a75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69504a75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407e79b29_0_15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407e79b29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407e79b29_0_1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407e79b29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69504a75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69504a75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407e79b29_0_18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407e79b29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9504a75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69504a75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407e79b29_0_1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407e79b29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407e79b29_0_20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407e79b29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69504a75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69504a75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407e79b29_0_2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407e79b29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06253986f_7_0)">
  <p:cSld name="Title and body (g3f06253986f_7_0)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06253986f_14_0)">
  <p:cSld name="Title and body (g3f06253986f_14_0)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i.google.dev/gemini-api/docs/pric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i.google.dev/gemini-api/docs/pric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kestra.io/docs/concepts/secre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ctrTitle"/>
          </p:nvPr>
        </p:nvSpPr>
        <p:spPr>
          <a:xfrm>
            <a:off x="311700" y="18113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</a:rPr>
              <a:t>Best Practices</a:t>
            </a:r>
            <a:endParaRPr sz="4200"/>
          </a:p>
        </p:txBody>
      </p:sp>
      <p:sp>
        <p:nvSpPr>
          <p:cNvPr id="153" name="Google Shape;153;p26"/>
          <p:cNvSpPr txBox="1"/>
          <p:nvPr/>
        </p:nvSpPr>
        <p:spPr>
          <a:xfrm>
            <a:off x="345775" y="28927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08 | July, 2026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311700" y="3769550"/>
            <a:ext cx="85206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Instructor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: Sithvothy Kiv 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Josh Hug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Best Practices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When to Use What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Cost Considerations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Security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Observability and Debugging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Production Readiness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Best Practices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Best Practices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When to Use What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Cost Considerations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Security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Observability and Debugging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Production Readiness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8" name="Google Shape;16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28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When to Use What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29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When to Use What</a:t>
            </a:r>
            <a:endParaRPr sz="1800"/>
          </a:p>
        </p:txBody>
      </p:sp>
      <p:sp>
        <p:nvSpPr>
          <p:cNvPr id="176" name="Google Shape;176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7" name="Google Shape;177;p29"/>
          <p:cNvGraphicFramePr/>
          <p:nvPr/>
        </p:nvGraphicFramePr>
        <p:xfrm>
          <a:off x="228600" y="76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{85A4A9DD-6125-4F7B-9593-0458C5DD02AB}</a:tableStyleId>
              </a:tblPr>
              <a:tblGrid>
                <a:gridCol w="3142350"/>
                <a:gridCol w="1885400"/>
                <a:gridCol w="3492850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450">
                          <a:solidFill>
                            <a:schemeClr val="accent3"/>
                          </a:solidFill>
                        </a:rPr>
                        <a:t>Scenario</a:t>
                      </a:r>
                      <a:endParaRPr b="1" sz="1450">
                        <a:solidFill>
                          <a:schemeClr val="accent3"/>
                        </a:solidFill>
                      </a:endParaRPr>
                    </a:p>
                  </a:txBody>
                  <a:tcPr marT="47625" marB="47625" marR="95250" marL="9525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450">
                          <a:solidFill>
                            <a:schemeClr val="accent3"/>
                          </a:solidFill>
                        </a:rPr>
                        <a:t>Use This</a:t>
                      </a:r>
                      <a:endParaRPr b="1" sz="1450">
                        <a:solidFill>
                          <a:schemeClr val="accent3"/>
                        </a:solidFill>
                      </a:endParaRPr>
                    </a:p>
                  </a:txBody>
                  <a:tcPr marT="47625" marB="47625" marR="95250" marL="9525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450">
                          <a:solidFill>
                            <a:schemeClr val="accent3"/>
                          </a:solidFill>
                        </a:rPr>
                        <a:t>Why</a:t>
                      </a:r>
                      <a:endParaRPr b="1" sz="1450">
                        <a:solidFill>
                          <a:schemeClr val="accent3"/>
                        </a:solidFill>
                      </a:endParaRPr>
                    </a:p>
                  </a:txBody>
                  <a:tcPr marT="47625" marB="47625" marR="95250" marL="9525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Creating/editing flows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AI Copilot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Fastest way to generate YAML flow code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Answering questions about your data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RAG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Grounds responses in real data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Fixed, repeatable ETL pipelines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Traditional workflows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Deterministic, predictable, compliant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Research and analysis tasks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AI Agents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Can adapt to findings and make decisions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Complex, multi-step objectives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Multi-agent systems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450">
                          <a:solidFill>
                            <a:schemeClr val="dk1"/>
                          </a:solidFill>
                        </a:rPr>
                        <a:t>Specialized agents working together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Best Practices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When to Use What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Cost Considerations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Security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Observability and Debugging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Production Readiness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3" name="Google Shape;18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30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Cost Considerations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Cost Considerations</a:t>
            </a:r>
            <a:endParaRPr sz="1800"/>
          </a:p>
        </p:txBody>
      </p:sp>
      <p:sp>
        <p:nvSpPr>
          <p:cNvPr id="191" name="Google Shape;191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1"/>
          <p:cNvSpPr txBox="1"/>
          <p:nvPr/>
        </p:nvSpPr>
        <p:spPr>
          <a:xfrm>
            <a:off x="76200" y="457200"/>
            <a:ext cx="81849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 features use LLM APIs, which have costs based on token usage.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Pricing per 1M tokens </a:t>
            </a:r>
            <a:r>
              <a:rPr i="1"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en" sz="1800">
                <a:solidFill>
                  <a:schemeClr val="accent3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full pricing page</a:t>
            </a:r>
            <a:r>
              <a:rPr i="1"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):</a:t>
            </a:r>
            <a:endParaRPr i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3" name="Google Shape;193;p31"/>
          <p:cNvGraphicFramePr/>
          <p:nvPr/>
        </p:nvGraphicFramePr>
        <p:xfrm>
          <a:off x="3048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{85A4A9DD-6125-4F7B-9593-0458C5DD02AB}</a:tableStyleId>
              </a:tblPr>
              <a:tblGrid>
                <a:gridCol w="3026100"/>
                <a:gridCol w="2263625"/>
                <a:gridCol w="1382000"/>
                <a:gridCol w="1620275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endParaRPr b="1"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Tier</a:t>
                      </a:r>
                      <a:endParaRPr b="1"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Input</a:t>
                      </a:r>
                      <a:endParaRPr b="1"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Output</a:t>
                      </a:r>
                      <a:endParaRPr b="1"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Gemini 2.5 Flash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Free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$0.00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$0.00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Gemini 2.5 Flash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Batch / Flex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$0.15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$1.25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Gemini 3.5 Flash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Free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$0.00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$0.00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Gemini 3.5 Flash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Standard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$1.50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$9.00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Gemini 3.5 Flash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Batch / Flex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$0.75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$4.50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Gemini 3.5 Flash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Priority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$2.70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$16.20</a:t>
                      </a:r>
                      <a:endParaRPr sz="15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95250" marL="95250"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Google Shape;198;p3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Cost Considerations</a:t>
            </a:r>
            <a:endParaRPr sz="1800"/>
          </a:p>
        </p:txBody>
      </p:sp>
      <p:sp>
        <p:nvSpPr>
          <p:cNvPr id="200" name="Google Shape;200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2"/>
          <p:cNvSpPr txBox="1"/>
          <p:nvPr/>
        </p:nvSpPr>
        <p:spPr>
          <a:xfrm>
            <a:off x="76200" y="533400"/>
            <a:ext cx="8869500" cy="4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Gemini 2.5 Flash for most workflows — it's cheaper and free for standard inference. Step up to Gemini 3.5 Flash when you need stronger reasoning for complex agent tasks.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Cost-saving tips:</a:t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 with the free tier for learning and development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smaller/cheaper models for simple tasks — check the </a:t>
            </a:r>
            <a:r>
              <a:rPr lang="en" sz="18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pricing page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maxOutputTokens to limit response size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Monitor token usage in execution outputs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traditional workflows when determinism is needed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Best Practices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When to Use What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Cost Considerations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Observability and Debugging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Production Readiness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7" name="Google Shape;20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3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Security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Google Shape;213;p3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Security</a:t>
            </a:r>
            <a:endParaRPr sz="1800"/>
          </a:p>
        </p:txBody>
      </p:sp>
      <p:sp>
        <p:nvSpPr>
          <p:cNvPr id="215" name="Google Shape;215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4"/>
          <p:cNvSpPr txBox="1"/>
          <p:nvPr/>
        </p:nvSpPr>
        <p:spPr>
          <a:xfrm>
            <a:off x="76200" y="533400"/>
            <a:ext cx="8869500" cy="28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Never commit API keys to Git. Always use secrets: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57A64A"/>
                </a:solidFill>
                <a:latin typeface="Roboto"/>
                <a:ea typeface="Roboto"/>
                <a:cs typeface="Roboto"/>
                <a:sym typeface="Roboto"/>
              </a:rPr>
              <a:t># ❌ Wrong</a:t>
            </a:r>
            <a:endParaRPr sz="1800">
              <a:solidFill>
                <a:srgbClr val="D4D4D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CDCFE"/>
                </a:solidFill>
                <a:latin typeface="Roboto"/>
                <a:ea typeface="Roboto"/>
                <a:cs typeface="Roboto"/>
                <a:sym typeface="Roboto"/>
              </a:rPr>
              <a:t>apiKey:</a:t>
            </a:r>
            <a:r>
              <a:rPr lang="en" sz="1800">
                <a:solidFill>
                  <a:srgbClr val="D4D4D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rgbClr val="D69D85"/>
                </a:solidFill>
                <a:latin typeface="Roboto"/>
                <a:ea typeface="Roboto"/>
                <a:cs typeface="Roboto"/>
                <a:sym typeface="Roboto"/>
              </a:rPr>
              <a:t>"sk-abc123def456"</a:t>
            </a:r>
            <a:endParaRPr sz="1800">
              <a:solidFill>
                <a:srgbClr val="D4D4D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4D4D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57A64A"/>
                </a:solidFill>
                <a:latin typeface="Roboto"/>
                <a:ea typeface="Roboto"/>
                <a:cs typeface="Roboto"/>
                <a:sym typeface="Roboto"/>
              </a:rPr>
              <a:t># ✅ Correct</a:t>
            </a:r>
            <a:endParaRPr sz="1800">
              <a:solidFill>
                <a:srgbClr val="D4D4D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9CDCFE"/>
                </a:solidFill>
                <a:latin typeface="Roboto"/>
                <a:ea typeface="Roboto"/>
                <a:cs typeface="Roboto"/>
                <a:sym typeface="Roboto"/>
              </a:rPr>
              <a:t>apiKey:</a:t>
            </a:r>
            <a:r>
              <a:rPr lang="en" sz="1800">
                <a:solidFill>
                  <a:srgbClr val="D4D4D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rgbClr val="D69D85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lang="en" sz="1800">
                <a:solidFill>
                  <a:srgbClr val="BD63C5"/>
                </a:solidFill>
                <a:latin typeface="Roboto"/>
                <a:ea typeface="Roboto"/>
                <a:cs typeface="Roboto"/>
                <a:sym typeface="Roboto"/>
              </a:rPr>
              <a:t>{{ secret('GEMINI_API_KEY') }}</a:t>
            </a:r>
            <a:r>
              <a:rPr lang="en" sz="1800">
                <a:solidFill>
                  <a:srgbClr val="D69D85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34"/>
          <p:cNvSpPr txBox="1"/>
          <p:nvPr/>
        </p:nvSpPr>
        <p:spPr>
          <a:xfrm>
            <a:off x="76200" y="3733800"/>
            <a:ext cx="8741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Export base64-encoded keys as </a:t>
            </a:r>
            <a:r>
              <a:rPr lang="en" sz="1800">
                <a:solidFill>
                  <a:srgbClr val="BD63C5"/>
                </a:solidFill>
                <a:latin typeface="Roboto"/>
                <a:ea typeface="Roboto"/>
                <a:cs typeface="Roboto"/>
                <a:sym typeface="Roboto"/>
              </a:rPr>
              <a:t>SECRET_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-prefixed environment variables before starting Kestra. Rotate keys regularly (e.g., every 90 days) and monitor usage. Read more about secrets in the </a:t>
            </a:r>
            <a:r>
              <a:rPr i="1" lang="en" sz="1800">
                <a:solidFill>
                  <a:schemeClr val="accent3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Kestra documentation</a:t>
            </a:r>
            <a:r>
              <a:rPr i="1"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Best Practices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When to Use What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Cost Considerations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Security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Observability and Debugging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Production Readiness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3" name="Google Shape;22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5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Observability and Debugging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" name="Google Shape;229;p36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Observability and Debugging</a:t>
            </a:r>
            <a:endParaRPr sz="1800"/>
          </a:p>
        </p:txBody>
      </p:sp>
      <p:sp>
        <p:nvSpPr>
          <p:cNvPr id="231" name="Google Shape;231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6"/>
          <p:cNvSpPr txBox="1"/>
          <p:nvPr/>
        </p:nvSpPr>
        <p:spPr>
          <a:xfrm>
            <a:off x="76200" y="533400"/>
            <a:ext cx="88695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Enable detailed logging when troubleshooting: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 id: </a:t>
            </a: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my_agent_task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type: </a:t>
            </a: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io.kestra.plugin.ai.agent.AIAgent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provider: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D4D4D4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i="1" lang="en" sz="1600">
                <a:solidFill>
                  <a:srgbClr val="57A64A"/>
                </a:solidFill>
                <a:latin typeface="Roboto"/>
                <a:ea typeface="Roboto"/>
                <a:cs typeface="Roboto"/>
                <a:sym typeface="Roboto"/>
              </a:rPr>
              <a:t># ...</a:t>
            </a:r>
            <a:endParaRPr sz="1600">
              <a:solidFill>
                <a:srgbClr val="D4D4D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D4D4D4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i="1" lang="en" sz="1600">
                <a:solidFill>
                  <a:srgbClr val="57A64A"/>
                </a:solidFill>
                <a:latin typeface="Roboto"/>
                <a:ea typeface="Roboto"/>
                <a:cs typeface="Roboto"/>
                <a:sym typeface="Roboto"/>
              </a:rPr>
              <a:t># provider settings</a:t>
            </a:r>
            <a:endParaRPr sz="1600">
              <a:solidFill>
                <a:srgbClr val="D4D4D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D4D4D4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i="1" lang="en" sz="1600">
                <a:solidFill>
                  <a:srgbClr val="57A64A"/>
                </a:solidFill>
                <a:latin typeface="Roboto"/>
                <a:ea typeface="Roboto"/>
                <a:cs typeface="Roboto"/>
                <a:sym typeface="Roboto"/>
              </a:rPr>
              <a:t># ...</a:t>
            </a:r>
            <a:endParaRPr sz="1600">
              <a:solidFill>
                <a:srgbClr val="D4D4D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configuration: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logRequests: </a:t>
            </a: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logResponses: </a:t>
            </a: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37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Observability and Debugging</a:t>
            </a:r>
            <a:endParaRPr sz="1800"/>
          </a:p>
        </p:txBody>
      </p:sp>
      <p:sp>
        <p:nvSpPr>
          <p:cNvPr id="239" name="Google Shape;239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76200" y="533400"/>
            <a:ext cx="8869500" cy="30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Monitor token usage per execution, agent tool calls and decisions, execution time and costs, and output quality.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Debugging tips: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 with simple prompts and iterate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Check logs for LLM reasoning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Verify tool execution outputs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Best Practices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When to Use What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Cost Considerations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Security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Observability and Debugging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Production Readiness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38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Production Readiness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p39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Production Readiness</a:t>
            </a:r>
            <a:endParaRPr sz="1800"/>
          </a:p>
        </p:txBody>
      </p:sp>
      <p:sp>
        <p:nvSpPr>
          <p:cNvPr id="254" name="Google Shape;254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39"/>
          <p:cNvSpPr txBox="1"/>
          <p:nvPr/>
        </p:nvSpPr>
        <p:spPr>
          <a:xfrm>
            <a:off x="76200" y="533400"/>
            <a:ext cx="8869500" cy="3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 deploying AI workflows to production: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thoroughly — run multiple times with different inputs, verify outputs are consistent and accurate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 fallbacks — handle API failures with retries and configure alerts on failure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limits — cap maxOutputTokens to control costs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Document behavior — explain what the agent does in your flow and task descriptions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