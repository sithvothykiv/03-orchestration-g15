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oboto Medium"/>
      <p:regular r:id="rId28"/>
      <p:bold r:id="rId29"/>
      <p:italic r:id="rId30"/>
      <p:boldItalic r:id="rId31"/>
    </p:embeddedFont>
    <p:embeddedFont>
      <p:font typeface="Roboto"/>
      <p:regular r:id="rId32"/>
      <p:bold r:id="rId33"/>
      <p:italic r:id="rId34"/>
      <p:boldItalic r:id="rId35"/>
    </p:embeddedFont>
    <p:embeddedFont>
      <p:font typeface="Roboto Light"/>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5FA9E1-AA20-4A59-B25F-7AF3B479B6FD}">
  <a:tblStyle styleId="{A25FA9E1-AA20-4A59-B25F-7AF3B479B6F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Medium-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edium-boldItalic.fntdata"/><Relationship Id="rId30" Type="http://schemas.openxmlformats.org/officeDocument/2006/relationships/font" Target="fonts/RobotoMedium-italic.fntdata"/><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RobotoLight-bold.fntdata"/><Relationship Id="rId14" Type="http://schemas.openxmlformats.org/officeDocument/2006/relationships/slide" Target="slides/slide9.xml"/><Relationship Id="rId36" Type="http://schemas.openxmlformats.org/officeDocument/2006/relationships/font" Target="fonts/RobotoLight-regular.fntdata"/><Relationship Id="rId17" Type="http://schemas.openxmlformats.org/officeDocument/2006/relationships/slide" Target="slides/slide12.xml"/><Relationship Id="rId39" Type="http://schemas.openxmlformats.org/officeDocument/2006/relationships/font" Target="fonts/RobotoLight-boldItalic.fntdata"/><Relationship Id="rId16" Type="http://schemas.openxmlformats.org/officeDocument/2006/relationships/slide" Target="slides/slide11.xml"/><Relationship Id="rId38" Type="http://schemas.openxmlformats.org/officeDocument/2006/relationships/font" Target="fonts/RobotoLigh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9143fda57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9143fda57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9143fda576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9143fda57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6fae33059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6fae330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98f0c1d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98f0c1d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6fae33059_0_1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6fae3305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98f0c1db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98f0c1db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6fae33059_0_1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6fae33059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6fae33059_0_18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f6fae33059_0_1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6fae33059_0_1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f6fae33059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fb26dc8040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fb26dc80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98f0c1db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98f0c1db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98f0c1db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98f0c1db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6fae33059_0_1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f6fae3305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98f0c1db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f98f0c1db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6fae33059_0_19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6fae33059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98f0c1db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f98f0c1db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6fae33059_0_19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6fae3305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6fae33059_0_2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6fae33059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98f0c1db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98f0c1db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6fae33059_0_2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f6fae3305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f98f0c1db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f98f0c1db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f6fae33059_0_10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f6fae33059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7_0)">
  <p:cSld name="Title and body (g3f06253986f_7_0)">
    <p:spTree>
      <p:nvGrpSpPr>
        <p:cNvPr id="140" name="Shape 140"/>
        <p:cNvGrpSpPr/>
        <p:nvPr/>
      </p:nvGrpSpPr>
      <p:grpSpPr>
        <a:xfrm>
          <a:off x="0" y="0"/>
          <a:ext cx="0" cy="0"/>
          <a:chOff x="0" y="0"/>
          <a:chExt cx="0" cy="0"/>
        </a:xfrm>
      </p:grpSpPr>
      <p:sp>
        <p:nvSpPr>
          <p:cNvPr id="141" name="Google Shape;141;p2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2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3" name="Google Shape;14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14_0)">
  <p:cSld name="Title and body (g3f06253986f_14_0)">
    <p:spTree>
      <p:nvGrpSpPr>
        <p:cNvPr id="144" name="Shape 144"/>
        <p:cNvGrpSpPr/>
        <p:nvPr/>
      </p:nvGrpSpPr>
      <p:grpSpPr>
        <a:xfrm>
          <a:off x="0" y="0"/>
          <a:ext cx="0" cy="0"/>
          <a:chOff x="0" y="0"/>
          <a:chExt cx="0" cy="0"/>
        </a:xfrm>
      </p:grpSpPr>
      <p:sp>
        <p:nvSpPr>
          <p:cNvPr id="145" name="Google Shape;145;p2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 name="Google Shape;146;p2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theme" Target="../theme/theme2.xml"/><Relationship Id="rId25" Type="http://schemas.openxmlformats.org/officeDocument/2006/relationships/slideLayout" Target="../slideLayouts/slideLayout2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indent="-330200" lvl="1" marL="914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indent="-330200" lvl="2" marL="1371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indent="-330200" lvl="3" marL="1828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indent="-330200" lvl="4" marL="22860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indent="-330200" lvl="5" marL="2743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indent="-330200" lvl="6" marL="3200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indent="-330200" lvl="7" marL="3657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indent="-330200" lvl="8" marL="4114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hyperlink" Target="about:blan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hyperlink" Target="about:blan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hyperlink" Target="about:blan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hyperlink" Target="https://www.tavily.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ctrTitle"/>
          </p:nvPr>
        </p:nvSpPr>
        <p:spPr>
          <a:xfrm>
            <a:off x="311700" y="18113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solidFill>
                  <a:schemeClr val="accent3"/>
                </a:solidFill>
              </a:rPr>
              <a:t>Retrieval Augmented Generation</a:t>
            </a:r>
            <a:endParaRPr sz="4200"/>
          </a:p>
        </p:txBody>
      </p:sp>
      <p:sp>
        <p:nvSpPr>
          <p:cNvPr id="153" name="Google Shape;153;p26"/>
          <p:cNvSpPr txBox="1"/>
          <p:nvPr/>
        </p:nvSpPr>
        <p:spPr>
          <a:xfrm>
            <a:off x="345775" y="28927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05 | July, 2026</a:t>
            </a:r>
            <a:endParaRPr sz="1200">
              <a:solidFill>
                <a:srgbClr val="BF9000"/>
              </a:solidFill>
              <a:latin typeface="Roboto Medium"/>
              <a:ea typeface="Roboto Medium"/>
              <a:cs typeface="Roboto Medium"/>
              <a:sym typeface="Roboto Medium"/>
            </a:endParaRPr>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nvSpPr>
        <p:spPr>
          <a:xfrm>
            <a:off x="311700" y="3769550"/>
            <a:ext cx="8520600" cy="1167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Light"/>
                <a:ea typeface="Roboto Light"/>
                <a:cs typeface="Roboto Light"/>
                <a:sym typeface="Roboto Light"/>
              </a:rPr>
              <a:t>Instructor</a:t>
            </a:r>
            <a:r>
              <a:rPr lang="en" sz="1600">
                <a:latin typeface="Roboto Light"/>
                <a:ea typeface="Roboto Light"/>
                <a:cs typeface="Roboto Light"/>
                <a:sym typeface="Roboto Light"/>
              </a:rPr>
              <a:t>: Sithvothy Kiv </a:t>
            </a:r>
            <a:endParaRPr sz="1600">
              <a:latin typeface="Roboto Light"/>
              <a:ea typeface="Roboto Light"/>
              <a:cs typeface="Roboto Light"/>
              <a:sym typeface="Roboto Light"/>
            </a:endParaRPr>
          </a:p>
          <a:p>
            <a:pPr indent="0" lvl="0" marL="0" rtl="0" algn="l">
              <a:spcBef>
                <a:spcPts val="600"/>
              </a:spcBef>
              <a:spcAft>
                <a:spcPts val="0"/>
              </a:spcAft>
              <a:buNone/>
            </a:pPr>
            <a:r>
              <a:rPr lang="en" sz="1600">
                <a:latin typeface="Roboto Light"/>
                <a:ea typeface="Roboto Light"/>
                <a:cs typeface="Roboto Light"/>
                <a:sym typeface="Roboto Light"/>
              </a:rPr>
              <a:t>Slides Credit: Josh Hug</a:t>
            </a:r>
            <a:endParaRPr sz="1600">
              <a:latin typeface="Roboto Light"/>
              <a:ea typeface="Roboto Light"/>
              <a:cs typeface="Roboto Light"/>
              <a:sym typeface="Robo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Retrieval Augmented Generation</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Kestra Release Features</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161" name="Google Shape;16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Retrieval Augmented Generation</a:t>
            </a:r>
            <a:endParaRPr>
              <a:solidFill>
                <a:schemeClr val="accent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28"/>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168" name="Google Shape;168;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Retrieval Augmented Generation</a:t>
            </a:r>
            <a:endParaRPr sz="1800"/>
          </a:p>
        </p:txBody>
      </p:sp>
      <p:sp>
        <p:nvSpPr>
          <p:cNvPr id="169" name="Google Shape;169;p28"/>
          <p:cNvSpPr txBox="1"/>
          <p:nvPr/>
        </p:nvSpPr>
        <p:spPr>
          <a:xfrm>
            <a:off x="428625" y="714375"/>
            <a:ext cx="8286900" cy="20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AI Copilot solves the context problem for flow generation. But what about workflows that need to answer questions from your own data? That's where RAG comes in.</a:t>
            </a:r>
            <a:endParaRPr sz="1800">
              <a:solidFill>
                <a:schemeClr val="dk1"/>
              </a:solidFill>
              <a:latin typeface="Roboto"/>
              <a:ea typeface="Roboto"/>
              <a:cs typeface="Roboto"/>
              <a:sym typeface="Roboto"/>
            </a:endParaRPr>
          </a:p>
          <a:p>
            <a:pPr indent="0" lvl="0" marL="101600" marR="152400" rtl="0" algn="l">
              <a:lnSpc>
                <a:spcPct val="115000"/>
              </a:lnSpc>
              <a:spcBef>
                <a:spcPts val="1200"/>
              </a:spcBef>
              <a:spcAft>
                <a:spcPts val="0"/>
              </a:spcAft>
              <a:buClr>
                <a:schemeClr val="dk1"/>
              </a:buClr>
              <a:buSzPts val="1100"/>
              <a:buFont typeface="Arial"/>
              <a:buNone/>
            </a:pPr>
            <a:r>
              <a:t/>
            </a:r>
            <a:endParaRPr sz="1800">
              <a:solidFill>
                <a:schemeClr val="dk1"/>
              </a:solidFill>
              <a:highlight>
                <a:srgbClr val="F2F2F2"/>
              </a:highlight>
              <a:latin typeface="Roboto"/>
              <a:ea typeface="Roboto"/>
              <a:cs typeface="Roboto"/>
              <a:sym typeface="Roboto"/>
            </a:endParaRPr>
          </a:p>
          <a:p>
            <a:pPr indent="0" lvl="0" marL="0" rtl="0" algn="l">
              <a:spcBef>
                <a:spcPts val="0"/>
              </a:spcBef>
              <a:spcAft>
                <a:spcPts val="0"/>
              </a:spcAft>
              <a:buNone/>
            </a:pPr>
            <a:r>
              <a:t/>
            </a:r>
            <a:endParaRPr sz="1800">
              <a:solidFill>
                <a:srgbClr val="4A5568"/>
              </a:solidFill>
              <a:latin typeface="Roboto"/>
              <a:ea typeface="Roboto"/>
              <a:cs typeface="Roboto"/>
              <a:sym typeface="Roboto"/>
            </a:endParaRPr>
          </a:p>
        </p:txBody>
      </p:sp>
      <p:sp>
        <p:nvSpPr>
          <p:cNvPr id="170" name="Google Shape;170;p2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What is RAG?</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Kestra Release Features</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176" name="Google Shape;176;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9"/>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What is RAG?</a:t>
            </a:r>
            <a:endParaRPr>
              <a:solidFill>
                <a:schemeClr val="accent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cxnSp>
        <p:nvCxnSpPr>
          <p:cNvPr id="182" name="Google Shape;182;p30"/>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183" name="Google Shape;183;p30"/>
          <p:cNvSpPr txBox="1"/>
          <p:nvPr>
            <p:ph type="title"/>
          </p:nvPr>
        </p:nvSpPr>
        <p:spPr>
          <a:xfrm>
            <a:off x="0" y="0"/>
            <a:ext cx="8520600" cy="393600"/>
          </a:xfrm>
          <a:prstGeom prst="rect">
            <a:avLst/>
          </a:prstGeom>
          <a:solidFill>
            <a:srgbClr val="000000">
              <a:alpha val="0"/>
            </a:srgbClr>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0" lang="en" sz="1800">
                <a:solidFill>
                  <a:srgbClr val="0B5394"/>
                </a:solidFill>
                <a:latin typeface="Roboto Medium"/>
                <a:ea typeface="Roboto Medium"/>
                <a:cs typeface="Roboto Medium"/>
                <a:sym typeface="Roboto Medium"/>
              </a:rPr>
              <a:t>What is RAG?</a:t>
            </a:r>
            <a:endParaRPr b="0" sz="1800">
              <a:solidFill>
                <a:srgbClr val="0B5394"/>
              </a:solidFill>
              <a:latin typeface="Roboto Medium"/>
              <a:ea typeface="Roboto Medium"/>
              <a:cs typeface="Roboto Medium"/>
              <a:sym typeface="Roboto Medium"/>
            </a:endParaRPr>
          </a:p>
        </p:txBody>
      </p:sp>
      <p:grpSp>
        <p:nvGrpSpPr>
          <p:cNvPr id="184" name="Google Shape;184;p30"/>
          <p:cNvGrpSpPr/>
          <p:nvPr/>
        </p:nvGrpSpPr>
        <p:grpSpPr>
          <a:xfrm>
            <a:off x="428625" y="1143000"/>
            <a:ext cx="8286900" cy="3143250"/>
            <a:chOff x="428625" y="1143000"/>
            <a:chExt cx="8286900" cy="3143250"/>
          </a:xfrm>
        </p:grpSpPr>
        <p:grpSp>
          <p:nvGrpSpPr>
            <p:cNvPr id="185" name="Google Shape;185;p30"/>
            <p:cNvGrpSpPr/>
            <p:nvPr/>
          </p:nvGrpSpPr>
          <p:grpSpPr>
            <a:xfrm>
              <a:off x="428625" y="1143000"/>
              <a:ext cx="2476500" cy="1905000"/>
              <a:chOff x="0" y="0"/>
              <a:chExt cx="2476500" cy="1905000"/>
            </a:xfrm>
          </p:grpSpPr>
          <p:sp>
            <p:nvSpPr>
              <p:cNvPr id="186" name="Google Shape;186;p30"/>
              <p:cNvSpPr/>
              <p:nvPr/>
            </p:nvSpPr>
            <p:spPr>
              <a:xfrm>
                <a:off x="0" y="0"/>
                <a:ext cx="2476500" cy="1905000"/>
              </a:xfrm>
              <a:prstGeom prst="roundRect">
                <a:avLst>
                  <a:gd fmla="val 4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30"/>
              <p:cNvSpPr txBox="1"/>
              <p:nvPr/>
            </p:nvSpPr>
            <p:spPr>
              <a:xfrm>
                <a:off x="142875" y="142875"/>
                <a:ext cx="2190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B5394"/>
                    </a:solidFill>
                    <a:latin typeface="Roboto"/>
                    <a:ea typeface="Roboto"/>
                    <a:cs typeface="Roboto"/>
                    <a:sym typeface="Roboto"/>
                  </a:rPr>
                  <a:t>01 / RETRIEVE</a:t>
                </a:r>
                <a:endParaRPr b="1" sz="1000">
                  <a:solidFill>
                    <a:srgbClr val="0B5394"/>
                  </a:solidFill>
                  <a:latin typeface="Roboto"/>
                  <a:ea typeface="Roboto"/>
                  <a:cs typeface="Roboto"/>
                  <a:sym typeface="Roboto"/>
                </a:endParaRPr>
              </a:p>
              <a:p>
                <a:pPr indent="0" lvl="0" marL="0" rtl="0" algn="l">
                  <a:spcBef>
                    <a:spcPts val="600"/>
                  </a:spcBef>
                  <a:spcAft>
                    <a:spcPts val="0"/>
                  </a:spcAft>
                  <a:buNone/>
                </a:pPr>
                <a:r>
                  <a:rPr b="1" lang="en" sz="1600">
                    <a:solidFill>
                      <a:srgbClr val="1E293B"/>
                    </a:solidFill>
                    <a:latin typeface="Roboto"/>
                    <a:ea typeface="Roboto"/>
                    <a:cs typeface="Roboto"/>
                    <a:sym typeface="Roboto"/>
                  </a:rPr>
                  <a:t>Data Retrieval</a:t>
                </a:r>
                <a:endParaRPr b="1" sz="1600">
                  <a:solidFill>
                    <a:srgbClr val="1E293B"/>
                  </a:solidFill>
                  <a:latin typeface="Roboto"/>
                  <a:ea typeface="Roboto"/>
                  <a:cs typeface="Roboto"/>
                  <a:sym typeface="Roboto"/>
                </a:endParaRPr>
              </a:p>
              <a:p>
                <a:pPr indent="0" lvl="0" marL="0" rtl="0" algn="l">
                  <a:spcBef>
                    <a:spcPts val="600"/>
                  </a:spcBef>
                  <a:spcAft>
                    <a:spcPts val="0"/>
                  </a:spcAft>
                  <a:buNone/>
                </a:pPr>
                <a:r>
                  <a:rPr b="0" lang="en" sz="1100">
                    <a:solidFill>
                      <a:srgbClr val="64748B"/>
                    </a:solidFill>
                    <a:latin typeface="Roboto"/>
                    <a:ea typeface="Roboto"/>
                    <a:cs typeface="Roboto"/>
                    <a:sym typeface="Roboto"/>
                  </a:rPr>
                  <a:t>Query and extract highly relevant context from your external structured or unstructured data sources.</a:t>
                </a:r>
                <a:endParaRPr b="0" sz="1100">
                  <a:solidFill>
                    <a:srgbClr val="64748B"/>
                  </a:solidFill>
                  <a:latin typeface="Roboto"/>
                  <a:ea typeface="Roboto"/>
                  <a:cs typeface="Roboto"/>
                  <a:sym typeface="Roboto"/>
                </a:endParaRPr>
              </a:p>
            </p:txBody>
          </p:sp>
        </p:grpSp>
        <p:grpSp>
          <p:nvGrpSpPr>
            <p:cNvPr id="188" name="Google Shape;188;p30"/>
            <p:cNvGrpSpPr/>
            <p:nvPr/>
          </p:nvGrpSpPr>
          <p:grpSpPr>
            <a:xfrm>
              <a:off x="3333750" y="1143000"/>
              <a:ext cx="2476500" cy="1905000"/>
              <a:chOff x="0" y="0"/>
              <a:chExt cx="2476500" cy="1905000"/>
            </a:xfrm>
          </p:grpSpPr>
          <p:sp>
            <p:nvSpPr>
              <p:cNvPr id="189" name="Google Shape;189;p30"/>
              <p:cNvSpPr/>
              <p:nvPr/>
            </p:nvSpPr>
            <p:spPr>
              <a:xfrm>
                <a:off x="0" y="0"/>
                <a:ext cx="2476500" cy="1905000"/>
              </a:xfrm>
              <a:prstGeom prst="roundRect">
                <a:avLst>
                  <a:gd fmla="val 4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30"/>
              <p:cNvSpPr txBox="1"/>
              <p:nvPr/>
            </p:nvSpPr>
            <p:spPr>
              <a:xfrm>
                <a:off x="142875" y="142875"/>
                <a:ext cx="2190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B5394"/>
                    </a:solidFill>
                    <a:latin typeface="Roboto"/>
                    <a:ea typeface="Roboto"/>
                    <a:cs typeface="Roboto"/>
                    <a:sym typeface="Roboto"/>
                  </a:rPr>
                  <a:t>02 / AUGMENT</a:t>
                </a:r>
                <a:endParaRPr b="1" sz="1000">
                  <a:solidFill>
                    <a:srgbClr val="0B5394"/>
                  </a:solidFill>
                  <a:latin typeface="Roboto"/>
                  <a:ea typeface="Roboto"/>
                  <a:cs typeface="Roboto"/>
                  <a:sym typeface="Roboto"/>
                </a:endParaRPr>
              </a:p>
              <a:p>
                <a:pPr indent="0" lvl="0" marL="0" rtl="0" algn="l">
                  <a:spcBef>
                    <a:spcPts val="600"/>
                  </a:spcBef>
                  <a:spcAft>
                    <a:spcPts val="0"/>
                  </a:spcAft>
                  <a:buNone/>
                </a:pPr>
                <a:r>
                  <a:rPr b="1" lang="en" sz="1600">
                    <a:solidFill>
                      <a:srgbClr val="1E293B"/>
                    </a:solidFill>
                    <a:latin typeface="Roboto"/>
                    <a:ea typeface="Roboto"/>
                    <a:cs typeface="Roboto"/>
                    <a:sym typeface="Roboto"/>
                  </a:rPr>
                  <a:t>Prompt Context</a:t>
                </a:r>
                <a:endParaRPr b="1" sz="1600">
                  <a:solidFill>
                    <a:srgbClr val="1E293B"/>
                  </a:solidFill>
                  <a:latin typeface="Roboto"/>
                  <a:ea typeface="Roboto"/>
                  <a:cs typeface="Roboto"/>
                  <a:sym typeface="Roboto"/>
                </a:endParaRPr>
              </a:p>
              <a:p>
                <a:pPr indent="0" lvl="0" marL="0" rtl="0" algn="l">
                  <a:spcBef>
                    <a:spcPts val="600"/>
                  </a:spcBef>
                  <a:spcAft>
                    <a:spcPts val="0"/>
                  </a:spcAft>
                  <a:buNone/>
                </a:pPr>
                <a:r>
                  <a:rPr b="0" lang="en" sz="1100">
                    <a:solidFill>
                      <a:srgbClr val="64748B"/>
                    </a:solidFill>
                    <a:latin typeface="Roboto"/>
                    <a:ea typeface="Roboto"/>
                    <a:cs typeface="Roboto"/>
                    <a:sym typeface="Roboto"/>
                  </a:rPr>
                  <a:t>Dynamically enrich the user query by appending the retrieved data context directly into the AI prompt.</a:t>
                </a:r>
                <a:endParaRPr b="0" sz="1100">
                  <a:solidFill>
                    <a:srgbClr val="64748B"/>
                  </a:solidFill>
                  <a:latin typeface="Roboto"/>
                  <a:ea typeface="Roboto"/>
                  <a:cs typeface="Roboto"/>
                  <a:sym typeface="Roboto"/>
                </a:endParaRPr>
              </a:p>
            </p:txBody>
          </p:sp>
        </p:grpSp>
        <p:grpSp>
          <p:nvGrpSpPr>
            <p:cNvPr id="191" name="Google Shape;191;p30"/>
            <p:cNvGrpSpPr/>
            <p:nvPr/>
          </p:nvGrpSpPr>
          <p:grpSpPr>
            <a:xfrm>
              <a:off x="6238875" y="1143000"/>
              <a:ext cx="2476500" cy="1905000"/>
              <a:chOff x="0" y="0"/>
              <a:chExt cx="2476500" cy="1905000"/>
            </a:xfrm>
          </p:grpSpPr>
          <p:sp>
            <p:nvSpPr>
              <p:cNvPr id="192" name="Google Shape;192;p30"/>
              <p:cNvSpPr/>
              <p:nvPr/>
            </p:nvSpPr>
            <p:spPr>
              <a:xfrm>
                <a:off x="0" y="0"/>
                <a:ext cx="2476500" cy="1905000"/>
              </a:xfrm>
              <a:prstGeom prst="roundRect">
                <a:avLst>
                  <a:gd fmla="val 4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30"/>
              <p:cNvSpPr txBox="1"/>
              <p:nvPr/>
            </p:nvSpPr>
            <p:spPr>
              <a:xfrm>
                <a:off x="142875" y="142875"/>
                <a:ext cx="2190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B5394"/>
                    </a:solidFill>
                    <a:latin typeface="Roboto"/>
                    <a:ea typeface="Roboto"/>
                    <a:cs typeface="Roboto"/>
                    <a:sym typeface="Roboto"/>
                  </a:rPr>
                  <a:t>03 / GENERATE</a:t>
                </a:r>
                <a:endParaRPr b="1" sz="1000">
                  <a:solidFill>
                    <a:srgbClr val="0B5394"/>
                  </a:solidFill>
                  <a:latin typeface="Roboto"/>
                  <a:ea typeface="Roboto"/>
                  <a:cs typeface="Roboto"/>
                  <a:sym typeface="Roboto"/>
                </a:endParaRPr>
              </a:p>
              <a:p>
                <a:pPr indent="0" lvl="0" marL="0" rtl="0" algn="l">
                  <a:spcBef>
                    <a:spcPts val="600"/>
                  </a:spcBef>
                  <a:spcAft>
                    <a:spcPts val="0"/>
                  </a:spcAft>
                  <a:buNone/>
                </a:pPr>
                <a:r>
                  <a:rPr b="1" lang="en" sz="1600">
                    <a:solidFill>
                      <a:srgbClr val="1E293B"/>
                    </a:solidFill>
                    <a:latin typeface="Roboto"/>
                    <a:ea typeface="Roboto"/>
                    <a:cs typeface="Roboto"/>
                    <a:sym typeface="Roboto"/>
                  </a:rPr>
                  <a:t>Grounded Output</a:t>
                </a:r>
                <a:endParaRPr b="1" sz="1600">
                  <a:solidFill>
                    <a:srgbClr val="1E293B"/>
                  </a:solidFill>
                  <a:latin typeface="Roboto"/>
                  <a:ea typeface="Roboto"/>
                  <a:cs typeface="Roboto"/>
                  <a:sym typeface="Roboto"/>
                </a:endParaRPr>
              </a:p>
              <a:p>
                <a:pPr indent="0" lvl="0" marL="0" rtl="0" algn="l">
                  <a:spcBef>
                    <a:spcPts val="600"/>
                  </a:spcBef>
                  <a:spcAft>
                    <a:spcPts val="0"/>
                  </a:spcAft>
                  <a:buNone/>
                </a:pPr>
                <a:r>
                  <a:rPr b="0" lang="en" sz="1100">
                    <a:solidFill>
                      <a:srgbClr val="64748B"/>
                    </a:solidFill>
                    <a:latin typeface="Roboto"/>
                    <a:ea typeface="Roboto"/>
                    <a:cs typeface="Roboto"/>
                    <a:sym typeface="Roboto"/>
                  </a:rPr>
                  <a:t>Generate a precise response utilizing the LLM, guaranteed to be grounded in real-time, verified data.</a:t>
                </a:r>
                <a:endParaRPr b="0" sz="1100">
                  <a:solidFill>
                    <a:srgbClr val="64748B"/>
                  </a:solidFill>
                  <a:latin typeface="Roboto"/>
                  <a:ea typeface="Roboto"/>
                  <a:cs typeface="Roboto"/>
                  <a:sym typeface="Roboto"/>
                </a:endParaRPr>
              </a:p>
            </p:txBody>
          </p:sp>
        </p:grpSp>
        <p:grpSp>
          <p:nvGrpSpPr>
            <p:cNvPr id="194" name="Google Shape;194;p30"/>
            <p:cNvGrpSpPr/>
            <p:nvPr/>
          </p:nvGrpSpPr>
          <p:grpSpPr>
            <a:xfrm>
              <a:off x="428625" y="3333750"/>
              <a:ext cx="8286900" cy="952500"/>
              <a:chOff x="0" y="0"/>
              <a:chExt cx="8286900" cy="952500"/>
            </a:xfrm>
          </p:grpSpPr>
          <p:sp>
            <p:nvSpPr>
              <p:cNvPr id="195" name="Google Shape;195;p30"/>
              <p:cNvSpPr/>
              <p:nvPr/>
            </p:nvSpPr>
            <p:spPr>
              <a:xfrm>
                <a:off x="0" y="0"/>
                <a:ext cx="8286900" cy="952500"/>
              </a:xfrm>
              <a:prstGeom prst="roundRect">
                <a:avLst>
                  <a:gd fmla="val 8000"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30"/>
              <p:cNvSpPr/>
              <p:nvPr/>
            </p:nvSpPr>
            <p:spPr>
              <a:xfrm>
                <a:off x="0" y="0"/>
                <a:ext cx="57300" cy="952500"/>
              </a:xfrm>
              <a:prstGeom prst="roundRect">
                <a:avLst>
                  <a:gd fmla="val 50000" name="adj"/>
                </a:avLst>
              </a:prstGeom>
              <a:solidFill>
                <a:srgbClr val="0B539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30"/>
              <p:cNvSpPr txBox="1"/>
              <p:nvPr/>
            </p:nvSpPr>
            <p:spPr>
              <a:xfrm>
                <a:off x="238125" y="142875"/>
                <a:ext cx="78105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1E3A8A"/>
                    </a:solidFill>
                    <a:latin typeface="Roboto"/>
                    <a:ea typeface="Roboto"/>
                    <a:cs typeface="Roboto"/>
                    <a:sym typeface="Roboto"/>
                  </a:rPr>
                  <a:t>Key Solution: Eliminating Hallucinations</a:t>
                </a:r>
                <a:endParaRPr b="1" sz="1200">
                  <a:solidFill>
                    <a:srgbClr val="1E3A8A"/>
                  </a:solidFill>
                  <a:latin typeface="Roboto"/>
                  <a:ea typeface="Roboto"/>
                  <a:cs typeface="Roboto"/>
                  <a:sym typeface="Roboto"/>
                </a:endParaRPr>
              </a:p>
              <a:p>
                <a:pPr indent="0" lvl="0" marL="0" rtl="0" algn="l">
                  <a:spcBef>
                    <a:spcPts val="300"/>
                  </a:spcBef>
                  <a:spcAft>
                    <a:spcPts val="0"/>
                  </a:spcAft>
                  <a:buNone/>
                </a:pPr>
                <a:r>
                  <a:rPr b="0" lang="en" sz="1100">
                    <a:solidFill>
                      <a:srgbClr val="1E40AF"/>
                    </a:solidFill>
                    <a:latin typeface="Roboto"/>
                    <a:ea typeface="Roboto"/>
                    <a:cs typeface="Roboto"/>
                    <a:sym typeface="Roboto"/>
                  </a:rPr>
                  <a:t>RAG ensures the AI has access to current, accurate information at query time, preventing factual errors by basing responses strictly on your business data.</a:t>
                </a:r>
                <a:endParaRPr b="0" sz="1100">
                  <a:solidFill>
                    <a:srgbClr val="1E40AF"/>
                  </a:solidFill>
                  <a:latin typeface="Roboto"/>
                  <a:ea typeface="Roboto"/>
                  <a:cs typeface="Roboto"/>
                  <a:sym typeface="Roboto"/>
                </a:endParaRPr>
              </a:p>
            </p:txBody>
          </p:sp>
        </p:grpSp>
      </p:grpSp>
      <p:sp>
        <p:nvSpPr>
          <p:cNvPr id="198" name="Google Shape;198;p3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How RAG Works in Kestra</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Example: Kestra Release Features</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204" name="Google Shape;20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How RAG Works in Kestra</a:t>
            </a:r>
            <a:endParaRPr>
              <a:solidFill>
                <a:schemeClr val="accent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cxnSp>
        <p:nvCxnSpPr>
          <p:cNvPr id="210" name="Google Shape;210;p3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11" name="Google Shape;211;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How RAG Works in Kestra</a:t>
            </a:r>
            <a:endParaRPr sz="1800"/>
          </a:p>
        </p:txBody>
      </p:sp>
      <p:sp>
        <p:nvSpPr>
          <p:cNvPr id="212" name="Google Shape;212;p32"/>
          <p:cNvSpPr txBox="1"/>
          <p:nvPr/>
        </p:nvSpPr>
        <p:spPr>
          <a:xfrm>
            <a:off x="571500" y="714375"/>
            <a:ext cx="800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800">
                <a:solidFill>
                  <a:schemeClr val="dk1"/>
                </a:solidFill>
                <a:latin typeface="Roboto"/>
                <a:ea typeface="Roboto"/>
                <a:cs typeface="Roboto"/>
                <a:sym typeface="Roboto"/>
              </a:rPr>
              <a:t>RAG has two phases. In the demo flows below they run back-to-back, but in production you'd typically schedule them separately — ingest on a cadence, query on demand.</a:t>
            </a:r>
            <a:endParaRPr b="0" sz="1800">
              <a:solidFill>
                <a:schemeClr val="dk1"/>
              </a:solidFill>
              <a:latin typeface="Roboto"/>
              <a:ea typeface="Roboto"/>
              <a:cs typeface="Roboto"/>
              <a:sym typeface="Roboto"/>
            </a:endParaRPr>
          </a:p>
        </p:txBody>
      </p:sp>
      <p:sp>
        <p:nvSpPr>
          <p:cNvPr id="213" name="Google Shape;213;p3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grpSp>
        <p:nvGrpSpPr>
          <p:cNvPr id="214" name="Google Shape;214;p32"/>
          <p:cNvGrpSpPr/>
          <p:nvPr/>
        </p:nvGrpSpPr>
        <p:grpSpPr>
          <a:xfrm>
            <a:off x="571500" y="1666875"/>
            <a:ext cx="8001150" cy="2571900"/>
            <a:chOff x="571500" y="1666875"/>
            <a:chExt cx="8001150" cy="2571900"/>
          </a:xfrm>
        </p:grpSpPr>
        <p:grpSp>
          <p:nvGrpSpPr>
            <p:cNvPr id="215" name="Google Shape;215;p32"/>
            <p:cNvGrpSpPr/>
            <p:nvPr/>
          </p:nvGrpSpPr>
          <p:grpSpPr>
            <a:xfrm>
              <a:off x="571500" y="1666875"/>
              <a:ext cx="3905400" cy="2571900"/>
              <a:chOff x="0" y="0"/>
              <a:chExt cx="3905400" cy="2571900"/>
            </a:xfrm>
          </p:grpSpPr>
          <p:sp>
            <p:nvSpPr>
              <p:cNvPr id="216" name="Google Shape;216;p32"/>
              <p:cNvSpPr/>
              <p:nvPr/>
            </p:nvSpPr>
            <p:spPr>
              <a:xfrm>
                <a:off x="0" y="0"/>
                <a:ext cx="3905400" cy="2571900"/>
              </a:xfrm>
              <a:prstGeom prst="roundRect">
                <a:avLst>
                  <a:gd fmla="val 29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32"/>
              <p:cNvSpPr txBox="1"/>
              <p:nvPr/>
            </p:nvSpPr>
            <p:spPr>
              <a:xfrm>
                <a:off x="228600" y="228600"/>
                <a:ext cx="3448200" cy="211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B5394"/>
                    </a:solidFill>
                    <a:latin typeface="Roboto"/>
                    <a:ea typeface="Roboto"/>
                    <a:cs typeface="Roboto"/>
                    <a:sym typeface="Roboto"/>
                  </a:rPr>
                  <a:t>01 / INGEST</a:t>
                </a:r>
                <a:endParaRPr b="1" sz="1000">
                  <a:solidFill>
                    <a:srgbClr val="0B5394"/>
                  </a:solidFill>
                  <a:latin typeface="Roboto"/>
                  <a:ea typeface="Roboto"/>
                  <a:cs typeface="Roboto"/>
                  <a:sym typeface="Roboto"/>
                </a:endParaRPr>
              </a:p>
              <a:p>
                <a:pPr indent="0" lvl="0" marL="0" rtl="0" algn="l">
                  <a:spcBef>
                    <a:spcPts val="750"/>
                  </a:spcBef>
                  <a:spcAft>
                    <a:spcPts val="0"/>
                  </a:spcAft>
                  <a:buNone/>
                </a:pPr>
                <a:r>
                  <a:rPr b="1" lang="en" sz="2000">
                    <a:solidFill>
                      <a:srgbClr val="1E293B"/>
                    </a:solidFill>
                    <a:latin typeface="Roboto"/>
                    <a:ea typeface="Roboto"/>
                    <a:cs typeface="Roboto"/>
                    <a:sym typeface="Roboto"/>
                  </a:rPr>
                  <a:t>Ingest Phase</a:t>
                </a:r>
                <a:endParaRPr b="1" sz="2000">
                  <a:solidFill>
                    <a:srgbClr val="1E293B"/>
                  </a:solidFill>
                  <a:latin typeface="Roboto"/>
                  <a:ea typeface="Roboto"/>
                  <a:cs typeface="Roboto"/>
                  <a:sym typeface="Roboto"/>
                </a:endParaRPr>
              </a:p>
              <a:p>
                <a:pPr indent="0" lvl="0" marL="0" rtl="0" algn="l">
                  <a:spcBef>
                    <a:spcPts val="375"/>
                  </a:spcBef>
                  <a:spcAft>
                    <a:spcPts val="0"/>
                  </a:spcAft>
                  <a:buNone/>
                </a:pPr>
                <a:r>
                  <a:rPr b="0" lang="en" sz="1200">
                    <a:solidFill>
                      <a:srgbClr val="0B5394"/>
                    </a:solidFill>
                    <a:latin typeface="Roboto Medium"/>
                    <a:ea typeface="Roboto Medium"/>
                    <a:cs typeface="Roboto Medium"/>
                    <a:sym typeface="Roboto Medium"/>
                  </a:rPr>
                  <a:t>Ingest on a cadence</a:t>
                </a:r>
                <a:endParaRPr b="0" sz="1200">
                  <a:solidFill>
                    <a:srgbClr val="0B5394"/>
                  </a:solidFill>
                  <a:latin typeface="Roboto Medium"/>
                  <a:ea typeface="Roboto Medium"/>
                  <a:cs typeface="Roboto Medium"/>
                  <a:sym typeface="Roboto Medium"/>
                </a:endParaRPr>
              </a:p>
              <a:p>
                <a:pPr indent="0" lvl="0" marL="0" rtl="0" algn="l">
                  <a:spcBef>
                    <a:spcPts val="1125"/>
                  </a:spcBef>
                  <a:spcAft>
                    <a:spcPts val="0"/>
                  </a:spcAft>
                  <a:buNone/>
                </a:pPr>
                <a:r>
                  <a:rPr b="0" lang="en" sz="1200">
                    <a:solidFill>
                      <a:schemeClr val="dk1"/>
                    </a:solidFill>
                    <a:latin typeface="Roboto"/>
                    <a:ea typeface="Roboto"/>
                    <a:cs typeface="Roboto"/>
                    <a:sym typeface="Roboto"/>
                  </a:rPr>
                  <a:t>Extract data from your sources, generate vector embeddings, and store them to build a highly optimized context library.</a:t>
                </a:r>
                <a:endParaRPr b="0" sz="1200">
                  <a:solidFill>
                    <a:schemeClr val="dk1"/>
                  </a:solidFill>
                  <a:latin typeface="Roboto"/>
                  <a:ea typeface="Roboto"/>
                  <a:cs typeface="Roboto"/>
                  <a:sym typeface="Roboto"/>
                </a:endParaRPr>
              </a:p>
            </p:txBody>
          </p:sp>
        </p:grpSp>
        <p:grpSp>
          <p:nvGrpSpPr>
            <p:cNvPr id="218" name="Google Shape;218;p32"/>
            <p:cNvGrpSpPr/>
            <p:nvPr/>
          </p:nvGrpSpPr>
          <p:grpSpPr>
            <a:xfrm>
              <a:off x="4667250" y="1666875"/>
              <a:ext cx="3905400" cy="2571900"/>
              <a:chOff x="0" y="0"/>
              <a:chExt cx="3905400" cy="2571900"/>
            </a:xfrm>
          </p:grpSpPr>
          <p:sp>
            <p:nvSpPr>
              <p:cNvPr id="219" name="Google Shape;219;p32"/>
              <p:cNvSpPr/>
              <p:nvPr/>
            </p:nvSpPr>
            <p:spPr>
              <a:xfrm>
                <a:off x="0" y="0"/>
                <a:ext cx="3905400" cy="2571900"/>
              </a:xfrm>
              <a:prstGeom prst="roundRect">
                <a:avLst>
                  <a:gd fmla="val 2962"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32"/>
              <p:cNvSpPr txBox="1"/>
              <p:nvPr/>
            </p:nvSpPr>
            <p:spPr>
              <a:xfrm>
                <a:off x="228600" y="228600"/>
                <a:ext cx="3448200" cy="211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B5394"/>
                    </a:solidFill>
                    <a:latin typeface="Roboto"/>
                    <a:ea typeface="Roboto"/>
                    <a:cs typeface="Roboto"/>
                    <a:sym typeface="Roboto"/>
                  </a:rPr>
                  <a:t>02 / QUERY</a:t>
                </a:r>
                <a:endParaRPr b="1" sz="1000">
                  <a:solidFill>
                    <a:srgbClr val="0B5394"/>
                  </a:solidFill>
                  <a:latin typeface="Roboto"/>
                  <a:ea typeface="Roboto"/>
                  <a:cs typeface="Roboto"/>
                  <a:sym typeface="Roboto"/>
                </a:endParaRPr>
              </a:p>
              <a:p>
                <a:pPr indent="0" lvl="0" marL="0" rtl="0" algn="l">
                  <a:spcBef>
                    <a:spcPts val="750"/>
                  </a:spcBef>
                  <a:spcAft>
                    <a:spcPts val="0"/>
                  </a:spcAft>
                  <a:buNone/>
                </a:pPr>
                <a:r>
                  <a:rPr b="1" lang="en" sz="2000">
                    <a:solidFill>
                      <a:srgbClr val="1E293B"/>
                    </a:solidFill>
                    <a:latin typeface="Roboto"/>
                    <a:ea typeface="Roboto"/>
                    <a:cs typeface="Roboto"/>
                    <a:sym typeface="Roboto"/>
                  </a:rPr>
                  <a:t>Query Phase</a:t>
                </a:r>
                <a:endParaRPr b="1" sz="2000">
                  <a:solidFill>
                    <a:srgbClr val="1E293B"/>
                  </a:solidFill>
                  <a:latin typeface="Roboto"/>
                  <a:ea typeface="Roboto"/>
                  <a:cs typeface="Roboto"/>
                  <a:sym typeface="Roboto"/>
                </a:endParaRPr>
              </a:p>
              <a:p>
                <a:pPr indent="0" lvl="0" marL="0" rtl="0" algn="l">
                  <a:spcBef>
                    <a:spcPts val="375"/>
                  </a:spcBef>
                  <a:spcAft>
                    <a:spcPts val="0"/>
                  </a:spcAft>
                  <a:buNone/>
                </a:pPr>
                <a:r>
                  <a:rPr b="0" lang="en" sz="1200">
                    <a:solidFill>
                      <a:srgbClr val="0B5394"/>
                    </a:solidFill>
                    <a:latin typeface="Roboto Medium"/>
                    <a:ea typeface="Roboto Medium"/>
                    <a:cs typeface="Roboto Medium"/>
                    <a:sym typeface="Roboto Medium"/>
                  </a:rPr>
                  <a:t>Query on demand</a:t>
                </a:r>
                <a:endParaRPr b="0" sz="1200">
                  <a:solidFill>
                    <a:srgbClr val="0B5394"/>
                  </a:solidFill>
                  <a:latin typeface="Roboto Medium"/>
                  <a:ea typeface="Roboto Medium"/>
                  <a:cs typeface="Roboto Medium"/>
                  <a:sym typeface="Roboto Medium"/>
                </a:endParaRPr>
              </a:p>
              <a:p>
                <a:pPr indent="0" lvl="0" marL="0" rtl="0" algn="l">
                  <a:spcBef>
                    <a:spcPts val="1125"/>
                  </a:spcBef>
                  <a:spcAft>
                    <a:spcPts val="0"/>
                  </a:spcAft>
                  <a:buNone/>
                </a:pPr>
                <a:r>
                  <a:rPr b="0" lang="en" sz="1200">
                    <a:solidFill>
                      <a:schemeClr val="dk1"/>
                    </a:solidFill>
                    <a:latin typeface="Roboto"/>
                    <a:ea typeface="Roboto"/>
                    <a:cs typeface="Roboto"/>
                    <a:sym typeface="Roboto"/>
                  </a:rPr>
                  <a:t>Retrieve relevant context instantly when a user asks a question, enriching the AI prompt to generate verified, hallucination-free answers.</a:t>
                </a:r>
                <a:endParaRPr b="0" sz="1200">
                  <a:solidFill>
                    <a:schemeClr val="dk1"/>
                  </a:solidFill>
                  <a:latin typeface="Roboto"/>
                  <a:ea typeface="Roboto"/>
                  <a:cs typeface="Roboto"/>
                  <a:sym typeface="Roboto"/>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cxnSp>
        <p:nvCxnSpPr>
          <p:cNvPr id="225" name="Google Shape;225;p33"/>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26" name="Google Shape;226;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RAG Works in Kestra</a:t>
            </a:r>
            <a:endParaRPr/>
          </a:p>
        </p:txBody>
      </p:sp>
      <p:sp>
        <p:nvSpPr>
          <p:cNvPr id="227" name="Google Shape;227;p3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pic>
        <p:nvPicPr>
          <p:cNvPr id="228" name="Google Shape;228;p33"/>
          <p:cNvPicPr preferRelativeResize="0"/>
          <p:nvPr/>
        </p:nvPicPr>
        <p:blipFill>
          <a:blip r:embed="rId3">
            <a:alphaModFix/>
          </a:blip>
          <a:stretch>
            <a:fillRect/>
          </a:stretch>
        </p:blipFill>
        <p:spPr>
          <a:xfrm>
            <a:off x="152400" y="1231800"/>
            <a:ext cx="8839204" cy="30471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cxnSp>
        <p:nvCxnSpPr>
          <p:cNvPr id="233" name="Google Shape;233;p3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34" name="Google Shape;234;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How RAG Works in Kestra</a:t>
            </a:r>
            <a:endParaRPr sz="1800"/>
          </a:p>
        </p:txBody>
      </p:sp>
      <p:sp>
        <p:nvSpPr>
          <p:cNvPr id="235" name="Google Shape;235;p34"/>
          <p:cNvSpPr txBox="1"/>
          <p:nvPr/>
        </p:nvSpPr>
        <p:spPr>
          <a:xfrm>
            <a:off x="428625" y="714375"/>
            <a:ext cx="8286900" cy="389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700">
                <a:solidFill>
                  <a:schemeClr val="dk1"/>
                </a:solidFill>
                <a:latin typeface="Roboto"/>
                <a:ea typeface="Roboto"/>
                <a:cs typeface="Roboto"/>
                <a:sym typeface="Roboto"/>
              </a:rPr>
              <a:t>Ingest phase (run once, or on a schedule when your data changes):</a:t>
            </a:r>
            <a:endParaRPr b="1" sz="1700">
              <a:solidFill>
                <a:schemeClr val="dk1"/>
              </a:solidFill>
              <a:latin typeface="Roboto"/>
              <a:ea typeface="Roboto"/>
              <a:cs typeface="Roboto"/>
              <a:sym typeface="Roboto"/>
            </a:endParaRPr>
          </a:p>
          <a:p>
            <a:pPr indent="-336550" lvl="0" marL="457200" rtl="0" algn="l">
              <a:lnSpc>
                <a:spcPct val="115000"/>
              </a:lnSpc>
              <a:spcBef>
                <a:spcPts val="120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Fetch documents: load documentation, release notes, or other data sources</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Create embeddings: convert text into vectors using an embedding model</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Store embeddings: save vectors in Kestra's KV Store</a:t>
            </a:r>
            <a:endParaRPr sz="1700">
              <a:solidFill>
                <a:schemeClr val="dk1"/>
              </a:solidFill>
              <a:latin typeface="Roboto"/>
              <a:ea typeface="Roboto"/>
              <a:cs typeface="Roboto"/>
              <a:sym typeface="Roboto"/>
            </a:endParaRPr>
          </a:p>
          <a:p>
            <a:pPr indent="0" lvl="0" marL="101600" marR="152400" rtl="0" algn="l">
              <a:lnSpc>
                <a:spcPct val="115000"/>
              </a:lnSpc>
              <a:spcBef>
                <a:spcPts val="800"/>
              </a:spcBef>
              <a:spcAft>
                <a:spcPts val="0"/>
              </a:spcAft>
              <a:buNone/>
            </a:pPr>
            <a:r>
              <a:rPr lang="en" sz="1700">
                <a:solidFill>
                  <a:schemeClr val="accent3"/>
                </a:solidFill>
                <a:highlight>
                  <a:srgbClr val="F2F2F2"/>
                </a:highlight>
                <a:latin typeface="Roboto"/>
                <a:ea typeface="Roboto"/>
                <a:cs typeface="Roboto"/>
                <a:sym typeface="Roboto"/>
              </a:rPr>
              <a:t>Note</a:t>
            </a:r>
            <a:r>
              <a:rPr lang="en" sz="1700">
                <a:solidFill>
                  <a:schemeClr val="dk1"/>
                </a:solidFill>
                <a:highlight>
                  <a:srgbClr val="F2F2F2"/>
                </a:highlight>
                <a:latin typeface="Roboto"/>
                <a:ea typeface="Roboto"/>
                <a:cs typeface="Roboto"/>
                <a:sym typeface="Roboto"/>
              </a:rPr>
              <a:t>: The flows store embeddings in Kestra's KV Store for simplicity. This is convenient for learning and small-scale demos, but it is not a replacement for a proper vector database. For any serious workload, e.g. larger document sets, low-latency retrieval, or production use, you should use a dedicated vector store.</a:t>
            </a:r>
            <a:endParaRPr sz="1700">
              <a:solidFill>
                <a:schemeClr val="dk1"/>
              </a:solidFill>
              <a:highlight>
                <a:srgbClr val="F2F2F2"/>
              </a:highlight>
              <a:latin typeface="Roboto"/>
              <a:ea typeface="Roboto"/>
              <a:cs typeface="Roboto"/>
              <a:sym typeface="Roboto"/>
            </a:endParaRPr>
          </a:p>
          <a:p>
            <a:pPr indent="0" lvl="0" marL="0" rtl="0" algn="l">
              <a:lnSpc>
                <a:spcPct val="115000"/>
              </a:lnSpc>
              <a:spcBef>
                <a:spcPts val="1200"/>
              </a:spcBef>
              <a:spcAft>
                <a:spcPts val="1200"/>
              </a:spcAft>
              <a:buNone/>
            </a:pPr>
            <a:r>
              <a:t/>
            </a:r>
            <a:endParaRPr sz="1700">
              <a:solidFill>
                <a:schemeClr val="dk1"/>
              </a:solidFill>
              <a:highlight>
                <a:srgbClr val="F2F2F2"/>
              </a:highlight>
              <a:latin typeface="Roboto"/>
              <a:ea typeface="Roboto"/>
              <a:cs typeface="Roboto"/>
              <a:sym typeface="Roboto"/>
            </a:endParaRPr>
          </a:p>
        </p:txBody>
      </p:sp>
      <p:sp>
        <p:nvSpPr>
          <p:cNvPr id="236" name="Google Shape;236;p34"/>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35"/>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42" name="Google Shape;242;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How RAG Works in Kestra</a:t>
            </a:r>
            <a:endParaRPr sz="1800"/>
          </a:p>
        </p:txBody>
      </p:sp>
      <p:sp>
        <p:nvSpPr>
          <p:cNvPr id="243" name="Google Shape;243;p35"/>
          <p:cNvSpPr txBox="1"/>
          <p:nvPr/>
        </p:nvSpPr>
        <p:spPr>
          <a:xfrm>
            <a:off x="428625" y="714375"/>
            <a:ext cx="8286900" cy="389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700">
                <a:solidFill>
                  <a:schemeClr val="dk1"/>
                </a:solidFill>
                <a:latin typeface="Roboto"/>
                <a:ea typeface="Roboto"/>
                <a:cs typeface="Roboto"/>
                <a:sym typeface="Roboto"/>
              </a:rPr>
              <a:t>Query phase (runs every time a question is asked):</a:t>
            </a:r>
            <a:endParaRPr b="1" sz="1700">
              <a:solidFill>
                <a:schemeClr val="dk1"/>
              </a:solidFill>
              <a:latin typeface="Roboto"/>
              <a:ea typeface="Roboto"/>
              <a:cs typeface="Roboto"/>
              <a:sym typeface="Roboto"/>
            </a:endParaRPr>
          </a:p>
          <a:p>
            <a:pPr indent="-336550" lvl="0" marL="457200" rtl="0" algn="l">
              <a:lnSpc>
                <a:spcPct val="115000"/>
              </a:lnSpc>
              <a:spcBef>
                <a:spcPts val="1200"/>
              </a:spcBef>
              <a:spcAft>
                <a:spcPts val="0"/>
              </a:spcAft>
              <a:buClr>
                <a:schemeClr val="dk1"/>
              </a:buClr>
              <a:buSzPts val="1700"/>
              <a:buFont typeface="Roboto"/>
              <a:buAutoNum type="arabicPeriod" startAt="4"/>
            </a:pPr>
            <a:r>
              <a:rPr lang="en" sz="1700">
                <a:solidFill>
                  <a:schemeClr val="dk1"/>
                </a:solidFill>
                <a:latin typeface="Roboto"/>
                <a:ea typeface="Roboto"/>
                <a:cs typeface="Roboto"/>
                <a:sym typeface="Roboto"/>
              </a:rPr>
              <a:t>Retrieve context: find the embeddings most similar to the user's question</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startAt="4"/>
            </a:pPr>
            <a:r>
              <a:rPr lang="en" sz="1700">
                <a:solidFill>
                  <a:schemeClr val="dk1"/>
                </a:solidFill>
                <a:latin typeface="Roboto"/>
                <a:ea typeface="Roboto"/>
                <a:cs typeface="Roboto"/>
                <a:sym typeface="Roboto"/>
              </a:rPr>
              <a:t>Augment the prompt: add the retrieved content to the LLM prompt</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startAt="4"/>
            </a:pPr>
            <a:r>
              <a:rPr lang="en" sz="1700">
                <a:solidFill>
                  <a:schemeClr val="dk1"/>
                </a:solidFill>
                <a:latin typeface="Roboto"/>
                <a:ea typeface="Roboto"/>
                <a:cs typeface="Roboto"/>
                <a:sym typeface="Roboto"/>
              </a:rPr>
              <a:t>Generate response: the LLM answers using real, grounded context</a:t>
            </a:r>
            <a:endParaRPr sz="1700">
              <a:solidFill>
                <a:schemeClr val="dk1"/>
              </a:solidFill>
              <a:latin typeface="Roboto"/>
              <a:ea typeface="Roboto"/>
              <a:cs typeface="Roboto"/>
              <a:sym typeface="Roboto"/>
            </a:endParaRPr>
          </a:p>
          <a:p>
            <a:pPr indent="0" lvl="0" marL="101600" marR="152400" rtl="0" algn="l">
              <a:lnSpc>
                <a:spcPct val="115000"/>
              </a:lnSpc>
              <a:spcBef>
                <a:spcPts val="800"/>
              </a:spcBef>
              <a:spcAft>
                <a:spcPts val="1200"/>
              </a:spcAft>
              <a:buNone/>
            </a:pPr>
            <a:r>
              <a:t/>
            </a:r>
            <a:endParaRPr sz="1700">
              <a:solidFill>
                <a:schemeClr val="dk1"/>
              </a:solidFill>
              <a:highlight>
                <a:srgbClr val="F2F2F2"/>
              </a:highlight>
              <a:latin typeface="Roboto"/>
              <a:ea typeface="Roboto"/>
              <a:cs typeface="Roboto"/>
              <a:sym typeface="Roboto"/>
            </a:endParaRPr>
          </a:p>
        </p:txBody>
      </p:sp>
      <p:sp>
        <p:nvSpPr>
          <p:cNvPr id="244" name="Google Shape;244;p3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Example: Kestra Release Features</a:t>
            </a:r>
            <a:endParaRPr b="1">
              <a:solidFill>
                <a:schemeClr val="accent3"/>
              </a:solidFill>
              <a:latin typeface="Roboto"/>
              <a:ea typeface="Roboto"/>
              <a:cs typeface="Roboto"/>
              <a:sym typeface="Roboto"/>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250" name="Google Shape;250;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6"/>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Kestra Release Features</a:t>
            </a:r>
            <a:endParaRPr>
              <a:solidFill>
                <a:schemeClr val="accent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Example: Kestra Release Features</a:t>
            </a:r>
            <a:endParaRPr b="1">
              <a:solidFill>
                <a:schemeClr val="accent3"/>
              </a:solidFill>
              <a:latin typeface="Roboto"/>
              <a:ea typeface="Roboto"/>
              <a:cs typeface="Roboto"/>
              <a:sym typeface="Roboto"/>
            </a:endParaRPr>
          </a:p>
          <a:p>
            <a:pPr indent="-330200" lvl="1" marL="9144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Step 1: Without RAG</a:t>
            </a:r>
            <a:endParaRPr b="1">
              <a:solidFill>
                <a:schemeClr val="accent3"/>
              </a:solidFill>
              <a:latin typeface="Roboto"/>
              <a:ea typeface="Roboto"/>
              <a:cs typeface="Roboto"/>
              <a:sym typeface="Roboto"/>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257" name="Google Shape;257;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3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Step 1: Without RAG</a:t>
            </a:r>
            <a:endParaRPr>
              <a:solidFill>
                <a:schemeClr val="accent3"/>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cxnSp>
        <p:nvCxnSpPr>
          <p:cNvPr id="263" name="Google Shape;263;p38"/>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64" name="Google Shape;264;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Step 1: Without RAG</a:t>
            </a:r>
            <a:endParaRPr sz="1800"/>
          </a:p>
        </p:txBody>
      </p:sp>
      <p:sp>
        <p:nvSpPr>
          <p:cNvPr id="265" name="Google Shape;265;p38"/>
          <p:cNvSpPr txBox="1"/>
          <p:nvPr/>
        </p:nvSpPr>
        <p:spPr>
          <a:xfrm>
            <a:off x="428625" y="714375"/>
            <a:ext cx="8286900" cy="389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Flow: </a:t>
            </a:r>
            <a:r>
              <a:rPr lang="en" sz="1800">
                <a:solidFill>
                  <a:srgbClr val="006AB1"/>
                </a:solidFill>
                <a:uFill>
                  <a:noFill/>
                </a:uFill>
                <a:latin typeface="Roboto"/>
                <a:ea typeface="Roboto"/>
                <a:cs typeface="Roboto"/>
                <a:sym typeface="Roboto"/>
                <a:hlinkClick r:id="rId3">
                  <a:extLst>
                    <a:ext uri="{A12FA001-AC4F-418D-AE19-62706E023703}">
                      <ahyp:hlinkClr val="tx"/>
                    </a:ext>
                  </a:extLst>
                </a:hlinkClick>
              </a:rPr>
              <a:t>1_chat_without_rag.yaml</a:t>
            </a:r>
            <a:endParaRPr sz="1800">
              <a:solidFill>
                <a:srgbClr val="006AB1"/>
              </a:solidFill>
              <a:latin typeface="Roboto"/>
              <a:ea typeface="Roboto"/>
              <a:cs typeface="Roboto"/>
              <a:sym typeface="Roboto"/>
            </a:endParaRPr>
          </a:p>
          <a:p>
            <a:pPr indent="0" lvl="0" marL="0" rtl="0" algn="l">
              <a:lnSpc>
                <a:spcPct val="115000"/>
              </a:lnSpc>
              <a:spcBef>
                <a:spcPts val="1200"/>
              </a:spcBef>
              <a:spcAft>
                <a:spcPts val="0"/>
              </a:spcAft>
              <a:buNone/>
            </a:pPr>
            <a:r>
              <a:rPr lang="en" sz="1800">
                <a:solidFill>
                  <a:schemeClr val="dk1"/>
                </a:solidFill>
                <a:latin typeface="Roboto"/>
                <a:ea typeface="Roboto"/>
                <a:cs typeface="Roboto"/>
                <a:sym typeface="Roboto"/>
              </a:rPr>
              <a:t>This flow asks Gemini: "Which features were released in Kestra 1.1?"</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800">
                <a:solidFill>
                  <a:schemeClr val="dk1"/>
                </a:solidFill>
                <a:latin typeface="Roboto"/>
                <a:ea typeface="Roboto"/>
                <a:cs typeface="Roboto"/>
                <a:sym typeface="Roboto"/>
              </a:rPr>
              <a:t>Without RAG, the model might hallucinate features that don't exist, provide outdated information, or give vague generic answers.</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800">
                <a:solidFill>
                  <a:schemeClr val="dk1"/>
                </a:solidFill>
                <a:latin typeface="Roboto"/>
                <a:ea typeface="Roboto"/>
                <a:cs typeface="Roboto"/>
                <a:sym typeface="Roboto"/>
              </a:rPr>
              <a:t>Import and run this flow, then check the output — the response won't be accurate.</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t/>
            </a:r>
            <a:endParaRPr b="1" sz="1800">
              <a:solidFill>
                <a:schemeClr val="dk1"/>
              </a:solidFill>
              <a:latin typeface="Roboto"/>
              <a:ea typeface="Roboto"/>
              <a:cs typeface="Roboto"/>
              <a:sym typeface="Roboto"/>
            </a:endParaRPr>
          </a:p>
        </p:txBody>
      </p:sp>
      <p:sp>
        <p:nvSpPr>
          <p:cNvPr id="266" name="Google Shape;266;p3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9"/>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Example: Kestra Release Features</a:t>
            </a:r>
            <a:endParaRPr b="1">
              <a:solidFill>
                <a:schemeClr val="accent3"/>
              </a:solidFill>
              <a:latin typeface="Roboto"/>
              <a:ea typeface="Roboto"/>
              <a:cs typeface="Roboto"/>
              <a:sym typeface="Roboto"/>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Step 2: With RAG</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272" name="Google Shape;272;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39"/>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Step 2: With RAG</a:t>
            </a:r>
            <a:endParaRPr>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cxnSp>
        <p:nvCxnSpPr>
          <p:cNvPr id="278" name="Google Shape;278;p40"/>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79" name="Google Shape;279;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Step 2: With RAG</a:t>
            </a:r>
            <a:endParaRPr sz="1800"/>
          </a:p>
        </p:txBody>
      </p:sp>
      <p:sp>
        <p:nvSpPr>
          <p:cNvPr id="280" name="Google Shape;280;p40"/>
          <p:cNvSpPr txBox="1"/>
          <p:nvPr/>
        </p:nvSpPr>
        <p:spPr>
          <a:xfrm>
            <a:off x="428625" y="714375"/>
            <a:ext cx="8286900" cy="3890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1800"/>
              </a:spcBef>
              <a:spcAft>
                <a:spcPts val="0"/>
              </a:spcAft>
              <a:buNone/>
            </a:pPr>
            <a:r>
              <a:rPr lang="en" sz="1800">
                <a:solidFill>
                  <a:schemeClr val="dk1"/>
                </a:solidFill>
                <a:latin typeface="Roboto"/>
                <a:ea typeface="Roboto"/>
                <a:cs typeface="Roboto"/>
                <a:sym typeface="Roboto"/>
              </a:rPr>
              <a:t>Flow: </a:t>
            </a:r>
            <a:r>
              <a:rPr lang="en" sz="1800">
                <a:solidFill>
                  <a:srgbClr val="006AB1"/>
                </a:solidFill>
                <a:uFill>
                  <a:noFill/>
                </a:uFill>
                <a:latin typeface="Roboto"/>
                <a:ea typeface="Roboto"/>
                <a:cs typeface="Roboto"/>
                <a:sym typeface="Roboto"/>
                <a:hlinkClick r:id="rId3">
                  <a:extLst>
                    <a:ext uri="{A12FA001-AC4F-418D-AE19-62706E023703}">
                      <ahyp:hlinkClr val="tx"/>
                    </a:ext>
                  </a:extLst>
                </a:hlinkClick>
              </a:rPr>
              <a:t>2_chat_with_rag.yaml</a:t>
            </a:r>
            <a:endParaRPr sz="1800">
              <a:solidFill>
                <a:srgbClr val="006AB1"/>
              </a:solidFill>
              <a:latin typeface="Roboto"/>
              <a:ea typeface="Roboto"/>
              <a:cs typeface="Roboto"/>
              <a:sym typeface="Roboto"/>
            </a:endParaRPr>
          </a:p>
          <a:p>
            <a:pPr indent="0" lvl="0" marL="0" rtl="0" algn="l">
              <a:lnSpc>
                <a:spcPct val="115000"/>
              </a:lnSpc>
              <a:spcBef>
                <a:spcPts val="1200"/>
              </a:spcBef>
              <a:spcAft>
                <a:spcPts val="0"/>
              </a:spcAft>
              <a:buNone/>
            </a:pPr>
            <a:r>
              <a:rPr lang="en" sz="1800">
                <a:solidFill>
                  <a:schemeClr val="dk1"/>
                </a:solidFill>
                <a:latin typeface="Roboto"/>
                <a:ea typeface="Roboto"/>
                <a:cs typeface="Roboto"/>
                <a:sym typeface="Roboto"/>
              </a:rPr>
              <a:t>This flow:</a:t>
            </a:r>
            <a:endParaRPr sz="1800">
              <a:solidFill>
                <a:schemeClr val="dk1"/>
              </a:solidFill>
              <a:latin typeface="Roboto"/>
              <a:ea typeface="Roboto"/>
              <a:cs typeface="Roboto"/>
              <a:sym typeface="Roboto"/>
            </a:endParaRPr>
          </a:p>
          <a:p>
            <a:pPr indent="-342900" lvl="0" marL="457200" rtl="0" algn="l">
              <a:lnSpc>
                <a:spcPct val="115000"/>
              </a:lnSpc>
              <a:spcBef>
                <a:spcPts val="1200"/>
              </a:spcBef>
              <a:spcAft>
                <a:spcPts val="0"/>
              </a:spcAft>
              <a:buClr>
                <a:schemeClr val="dk1"/>
              </a:buClr>
              <a:buSzPts val="1800"/>
              <a:buFont typeface="Roboto"/>
              <a:buAutoNum type="arabicPeriod"/>
            </a:pPr>
            <a:r>
              <a:rPr lang="en" sz="1800">
                <a:solidFill>
                  <a:schemeClr val="dk1"/>
                </a:solidFill>
                <a:latin typeface="Roboto"/>
                <a:ea typeface="Roboto"/>
                <a:cs typeface="Roboto"/>
                <a:sym typeface="Roboto"/>
              </a:rPr>
              <a:t>Ingests the Kestra 1.1 release blog post from GitHub</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rabicPeriod"/>
            </a:pPr>
            <a:r>
              <a:rPr lang="en" sz="1800">
                <a:solidFill>
                  <a:schemeClr val="dk1"/>
                </a:solidFill>
                <a:latin typeface="Roboto"/>
                <a:ea typeface="Roboto"/>
                <a:cs typeface="Roboto"/>
                <a:sym typeface="Roboto"/>
              </a:rPr>
              <a:t>Creates embeddings using Gemini's embedding model</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rabicPeriod"/>
            </a:pPr>
            <a:r>
              <a:rPr lang="en" sz="1800">
                <a:solidFill>
                  <a:schemeClr val="dk1"/>
                </a:solidFill>
                <a:latin typeface="Roboto"/>
                <a:ea typeface="Roboto"/>
                <a:cs typeface="Roboto"/>
                <a:sym typeface="Roboto"/>
              </a:rPr>
              <a:t>Stores embeddings in Kestra's KV Store</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rabicPeriod"/>
            </a:pPr>
            <a:r>
              <a:rPr lang="en" sz="1800">
                <a:solidFill>
                  <a:schemeClr val="dk1"/>
                </a:solidFill>
                <a:latin typeface="Roboto"/>
                <a:ea typeface="Roboto"/>
                <a:cs typeface="Roboto"/>
                <a:sym typeface="Roboto"/>
              </a:rPr>
              <a:t>Asks the LLM the same question with RAG enabled</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AutoNum type="arabicPeriod"/>
            </a:pPr>
            <a:r>
              <a:rPr lang="en" sz="1800">
                <a:solidFill>
                  <a:schemeClr val="dk1"/>
                </a:solidFill>
                <a:latin typeface="Roboto"/>
                <a:ea typeface="Roboto"/>
                <a:cs typeface="Roboto"/>
                <a:sym typeface="Roboto"/>
              </a:rPr>
              <a:t>Returns an accurate response with real features from that release</a:t>
            </a:r>
            <a:endParaRPr sz="1800">
              <a:solidFill>
                <a:schemeClr val="dk1"/>
              </a:solidFill>
              <a:latin typeface="Roboto"/>
              <a:ea typeface="Roboto"/>
              <a:cs typeface="Roboto"/>
              <a:sym typeface="Roboto"/>
            </a:endParaRPr>
          </a:p>
          <a:p>
            <a:pPr indent="0" lvl="0" marL="0" rtl="0" algn="l">
              <a:lnSpc>
                <a:spcPct val="115000"/>
              </a:lnSpc>
              <a:spcBef>
                <a:spcPts val="800"/>
              </a:spcBef>
              <a:spcAft>
                <a:spcPts val="1200"/>
              </a:spcAft>
              <a:buNone/>
            </a:pPr>
            <a:r>
              <a:rPr lang="en" sz="1800">
                <a:solidFill>
                  <a:schemeClr val="dk1"/>
                </a:solidFill>
                <a:latin typeface="Roboto"/>
                <a:ea typeface="Roboto"/>
                <a:cs typeface="Roboto"/>
                <a:sym typeface="Roboto"/>
              </a:rPr>
              <a:t>Import and run </a:t>
            </a:r>
            <a:r>
              <a:rPr lang="en" sz="1800">
                <a:solidFill>
                  <a:schemeClr val="accent3"/>
                </a:solidFill>
                <a:latin typeface="Roboto"/>
                <a:ea typeface="Roboto"/>
                <a:cs typeface="Roboto"/>
                <a:sym typeface="Roboto"/>
              </a:rPr>
              <a:t>2_chat_with_rag.yaml</a:t>
            </a:r>
            <a:r>
              <a:rPr lang="en" sz="1800">
                <a:solidFill>
                  <a:schemeClr val="dk1"/>
                </a:solidFill>
                <a:latin typeface="Roboto"/>
                <a:ea typeface="Roboto"/>
                <a:cs typeface="Roboto"/>
                <a:sym typeface="Roboto"/>
              </a:rPr>
              <a:t> and compare the output quality against the previous flow.</a:t>
            </a:r>
            <a:endParaRPr sz="1800">
              <a:solidFill>
                <a:schemeClr val="dk1"/>
              </a:solidFill>
              <a:latin typeface="Roboto"/>
              <a:ea typeface="Roboto"/>
              <a:cs typeface="Roboto"/>
              <a:sym typeface="Roboto"/>
            </a:endParaRPr>
          </a:p>
        </p:txBody>
      </p:sp>
      <p:sp>
        <p:nvSpPr>
          <p:cNvPr id="281" name="Google Shape;281;p4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1"/>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Kestra Release Features</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Extending RAG with web search</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287" name="Google Shape;287;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41"/>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Extending RAG with web search</a:t>
            </a:r>
            <a:endParaRPr>
              <a:solidFill>
                <a:schemeClr val="accent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cxnSp>
        <p:nvCxnSpPr>
          <p:cNvPr id="293" name="Google Shape;293;p4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294" name="Google Shape;294;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Extending RAG with web search</a:t>
            </a:r>
            <a:endParaRPr sz="1800"/>
          </a:p>
        </p:txBody>
      </p:sp>
      <p:sp>
        <p:nvSpPr>
          <p:cNvPr id="295" name="Google Shape;295;p42"/>
          <p:cNvSpPr txBox="1"/>
          <p:nvPr/>
        </p:nvSpPr>
        <p:spPr>
          <a:xfrm>
            <a:off x="428625" y="714375"/>
            <a:ext cx="8576400" cy="389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500">
                <a:solidFill>
                  <a:schemeClr val="dk1"/>
                </a:solidFill>
                <a:latin typeface="Roboto"/>
                <a:ea typeface="Roboto"/>
                <a:cs typeface="Roboto"/>
                <a:sym typeface="Roboto"/>
              </a:rPr>
              <a:t>The examples above use static RAG — documents are ingested once and stored in the KV Store. Kestra also supports web search as a retriever, which fetches live results at query time and passes them as context to the LLM.</a:t>
            </a:r>
            <a:endParaRPr sz="15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chemeClr val="dk1"/>
                </a:solidFill>
                <a:latin typeface="Roboto"/>
                <a:ea typeface="Roboto"/>
                <a:cs typeface="Roboto"/>
                <a:sym typeface="Roboto"/>
              </a:rPr>
              <a:t>Flow: </a:t>
            </a:r>
            <a:r>
              <a:rPr lang="en" sz="1500">
                <a:solidFill>
                  <a:srgbClr val="006AB1"/>
                </a:solidFill>
                <a:uFill>
                  <a:noFill/>
                </a:uFill>
                <a:latin typeface="Roboto"/>
                <a:ea typeface="Roboto"/>
                <a:cs typeface="Roboto"/>
                <a:sym typeface="Roboto"/>
                <a:hlinkClick r:id="rId3">
                  <a:extLst>
                    <a:ext uri="{A12FA001-AC4F-418D-AE19-62706E023703}">
                      <ahyp:hlinkClr val="tx"/>
                    </a:ext>
                  </a:extLst>
                </a:hlinkClick>
              </a:rPr>
              <a:t>3_rag_with_websearch.yaml</a:t>
            </a:r>
            <a:endParaRPr sz="1500">
              <a:solidFill>
                <a:schemeClr val="dk1"/>
              </a:solidFill>
              <a:highlight>
                <a:srgbClr val="F2F2F2"/>
              </a:highlight>
              <a:latin typeface="Roboto"/>
              <a:ea typeface="Roboto"/>
              <a:cs typeface="Roboto"/>
              <a:sym typeface="Roboto"/>
            </a:endParaRPr>
          </a:p>
          <a:p>
            <a:pPr indent="-323850" lvl="0" marL="558800" marR="152400" rtl="0" algn="l">
              <a:lnSpc>
                <a:spcPct val="115000"/>
              </a:lnSpc>
              <a:spcBef>
                <a:spcPts val="1200"/>
              </a:spcBef>
              <a:spcAft>
                <a:spcPts val="0"/>
              </a:spcAft>
              <a:buClr>
                <a:schemeClr val="dk1"/>
              </a:buClr>
              <a:buSzPts val="1500"/>
              <a:buFont typeface="Roboto"/>
              <a:buAutoNum type="arabicPeriod"/>
            </a:pPr>
            <a:r>
              <a:rPr lang="en" sz="1500">
                <a:solidFill>
                  <a:schemeClr val="dk1"/>
                </a:solidFill>
                <a:highlight>
                  <a:srgbClr val="F2F2F2"/>
                </a:highlight>
                <a:latin typeface="Roboto"/>
                <a:ea typeface="Roboto"/>
                <a:cs typeface="Roboto"/>
                <a:sym typeface="Roboto"/>
              </a:rPr>
              <a:t>Visit Google AI Studio and sign in or create an account</a:t>
            </a:r>
            <a:endParaRPr sz="1500">
              <a:solidFill>
                <a:schemeClr val="dk1"/>
              </a:solidFill>
              <a:highlight>
                <a:srgbClr val="F2F2F2"/>
              </a:highlight>
              <a:latin typeface="Roboto"/>
              <a:ea typeface="Roboto"/>
              <a:cs typeface="Roboto"/>
              <a:sym typeface="Roboto"/>
            </a:endParaRPr>
          </a:p>
          <a:p>
            <a:pPr indent="-323850" lvl="0" marL="558800" marR="152400" rtl="0" algn="l">
              <a:lnSpc>
                <a:spcPct val="115000"/>
              </a:lnSpc>
              <a:spcBef>
                <a:spcPts val="0"/>
              </a:spcBef>
              <a:spcAft>
                <a:spcPts val="0"/>
              </a:spcAft>
              <a:buClr>
                <a:schemeClr val="dk1"/>
              </a:buClr>
              <a:buSzPts val="1500"/>
              <a:buFont typeface="Roboto"/>
              <a:buAutoNum type="arabicPeriod"/>
            </a:pPr>
            <a:r>
              <a:rPr lang="en" sz="1500">
                <a:solidFill>
                  <a:schemeClr val="dk1"/>
                </a:solidFill>
                <a:highlight>
                  <a:srgbClr val="F2F2F2"/>
                </a:highlight>
                <a:latin typeface="Roboto"/>
                <a:ea typeface="Roboto"/>
                <a:cs typeface="Roboto"/>
                <a:sym typeface="Roboto"/>
              </a:rPr>
              <a:t>Go to API keys and create a new key</a:t>
            </a:r>
            <a:endParaRPr sz="1500">
              <a:solidFill>
                <a:schemeClr val="dk1"/>
              </a:solidFill>
              <a:highlight>
                <a:srgbClr val="F2F2F2"/>
              </a:highlight>
              <a:latin typeface="Roboto"/>
              <a:ea typeface="Roboto"/>
              <a:cs typeface="Roboto"/>
              <a:sym typeface="Roboto"/>
            </a:endParaRPr>
          </a:p>
          <a:p>
            <a:pPr indent="-323850" lvl="0" marL="558800" marR="152400" rtl="0" algn="l">
              <a:lnSpc>
                <a:spcPct val="115000"/>
              </a:lnSpc>
              <a:spcBef>
                <a:spcPts val="0"/>
              </a:spcBef>
              <a:spcAft>
                <a:spcPts val="0"/>
              </a:spcAft>
              <a:buClr>
                <a:schemeClr val="dk1"/>
              </a:buClr>
              <a:buSzPts val="1500"/>
              <a:buFont typeface="Roboto"/>
              <a:buAutoNum type="arabicPeriod"/>
            </a:pPr>
            <a:r>
              <a:rPr lang="en" sz="1500">
                <a:solidFill>
                  <a:schemeClr val="dk1"/>
                </a:solidFill>
                <a:highlight>
                  <a:srgbClr val="F2F2F2"/>
                </a:highlight>
                <a:latin typeface="Roboto"/>
                <a:ea typeface="Roboto"/>
                <a:cs typeface="Roboto"/>
                <a:sym typeface="Roboto"/>
              </a:rPr>
              <a:t>Export it as a secret before starting Kestra:</a:t>
            </a:r>
            <a:br>
              <a:rPr lang="en" sz="1500">
                <a:solidFill>
                  <a:schemeClr val="dk1"/>
                </a:solidFill>
                <a:highlight>
                  <a:srgbClr val="F2F2F2"/>
                </a:highlight>
                <a:latin typeface="Roboto"/>
                <a:ea typeface="Roboto"/>
                <a:cs typeface="Roboto"/>
                <a:sym typeface="Roboto"/>
              </a:rPr>
            </a:br>
            <a:r>
              <a:rPr lang="en" sz="1500">
                <a:solidFill>
                  <a:srgbClr val="007ACC"/>
                </a:solidFill>
                <a:highlight>
                  <a:srgbClr val="F2F2F2"/>
                </a:highlight>
                <a:latin typeface="Roboto"/>
                <a:ea typeface="Roboto"/>
                <a:cs typeface="Roboto"/>
                <a:sym typeface="Roboto"/>
              </a:rPr>
              <a:t>export</a:t>
            </a:r>
            <a:r>
              <a:rPr lang="en" sz="1500">
                <a:solidFill>
                  <a:schemeClr val="dk1"/>
                </a:solidFill>
                <a:highlight>
                  <a:srgbClr val="F2F2F2"/>
                </a:highlight>
                <a:latin typeface="Roboto"/>
                <a:ea typeface="Roboto"/>
                <a:cs typeface="Roboto"/>
                <a:sym typeface="Roboto"/>
              </a:rPr>
              <a:t> </a:t>
            </a:r>
            <a:r>
              <a:rPr lang="en" sz="1500">
                <a:solidFill>
                  <a:schemeClr val="accent3"/>
                </a:solidFill>
                <a:highlight>
                  <a:srgbClr val="F2F2F2"/>
                </a:highlight>
                <a:latin typeface="Roboto"/>
                <a:ea typeface="Roboto"/>
                <a:cs typeface="Roboto"/>
                <a:sym typeface="Roboto"/>
              </a:rPr>
              <a:t>SECRET_GEMINI_API_KEY</a:t>
            </a:r>
            <a:r>
              <a:rPr lang="en" sz="1500">
                <a:solidFill>
                  <a:schemeClr val="dk1"/>
                </a:solidFill>
                <a:highlight>
                  <a:srgbClr val="F2F2F2"/>
                </a:highlight>
                <a:latin typeface="Roboto"/>
                <a:ea typeface="Roboto"/>
                <a:cs typeface="Roboto"/>
                <a:sym typeface="Roboto"/>
              </a:rPr>
              <a:t>=$(</a:t>
            </a:r>
            <a:r>
              <a:rPr lang="en" sz="1500">
                <a:solidFill>
                  <a:srgbClr val="007ACC"/>
                </a:solidFill>
                <a:highlight>
                  <a:srgbClr val="F2F2F2"/>
                </a:highlight>
                <a:latin typeface="Roboto"/>
                <a:ea typeface="Roboto"/>
                <a:cs typeface="Roboto"/>
                <a:sym typeface="Roboto"/>
              </a:rPr>
              <a:t>echo</a:t>
            </a:r>
            <a:r>
              <a:rPr lang="en" sz="1500">
                <a:solidFill>
                  <a:schemeClr val="dk1"/>
                </a:solidFill>
                <a:highlight>
                  <a:srgbClr val="F2F2F2"/>
                </a:highlight>
                <a:latin typeface="Roboto"/>
                <a:ea typeface="Roboto"/>
                <a:cs typeface="Roboto"/>
                <a:sym typeface="Roboto"/>
              </a:rPr>
              <a:t> -n </a:t>
            </a:r>
            <a:r>
              <a:rPr lang="en" sz="1500">
                <a:solidFill>
                  <a:srgbClr val="A31515"/>
                </a:solidFill>
                <a:highlight>
                  <a:srgbClr val="F2F2F2"/>
                </a:highlight>
                <a:latin typeface="Roboto"/>
                <a:ea typeface="Roboto"/>
                <a:cs typeface="Roboto"/>
                <a:sym typeface="Roboto"/>
              </a:rPr>
              <a:t>"your-api-key-here"</a:t>
            </a:r>
            <a:r>
              <a:rPr lang="en" sz="1500">
                <a:solidFill>
                  <a:schemeClr val="dk1"/>
                </a:solidFill>
                <a:highlight>
                  <a:srgbClr val="F2F2F2"/>
                </a:highlight>
                <a:latin typeface="Roboto"/>
                <a:ea typeface="Roboto"/>
                <a:cs typeface="Roboto"/>
                <a:sym typeface="Roboto"/>
              </a:rPr>
              <a:t> | </a:t>
            </a:r>
            <a:r>
              <a:rPr lang="en" sz="1500">
                <a:solidFill>
                  <a:srgbClr val="007ACC"/>
                </a:solidFill>
                <a:highlight>
                  <a:srgbClr val="F2F2F2"/>
                </a:highlight>
                <a:latin typeface="Roboto"/>
                <a:ea typeface="Roboto"/>
                <a:cs typeface="Roboto"/>
                <a:sym typeface="Roboto"/>
              </a:rPr>
              <a:t>base64</a:t>
            </a:r>
            <a:r>
              <a:rPr lang="en" sz="1500">
                <a:solidFill>
                  <a:schemeClr val="dk1"/>
                </a:solidFill>
                <a:highlight>
                  <a:srgbClr val="F2F2F2"/>
                </a:highlight>
                <a:latin typeface="Roboto"/>
                <a:ea typeface="Roboto"/>
                <a:cs typeface="Roboto"/>
                <a:sym typeface="Roboto"/>
              </a:rPr>
              <a:t>)</a:t>
            </a:r>
            <a:br>
              <a:rPr lang="en" sz="1500">
                <a:solidFill>
                  <a:schemeClr val="dk1"/>
                </a:solidFill>
                <a:highlight>
                  <a:srgbClr val="F2F2F2"/>
                </a:highlight>
                <a:latin typeface="Roboto"/>
                <a:ea typeface="Roboto"/>
                <a:cs typeface="Roboto"/>
                <a:sym typeface="Roboto"/>
              </a:rPr>
            </a:br>
            <a:r>
              <a:rPr lang="en" sz="1500">
                <a:solidFill>
                  <a:srgbClr val="007ACC"/>
                </a:solidFill>
                <a:highlight>
                  <a:srgbClr val="F2F2F2"/>
                </a:highlight>
                <a:latin typeface="Roboto"/>
                <a:ea typeface="Roboto"/>
                <a:cs typeface="Roboto"/>
                <a:sym typeface="Roboto"/>
              </a:rPr>
              <a:t>docker</a:t>
            </a:r>
            <a:r>
              <a:rPr lang="en" sz="1500">
                <a:solidFill>
                  <a:schemeClr val="dk1"/>
                </a:solidFill>
                <a:highlight>
                  <a:srgbClr val="F2F2F2"/>
                </a:highlight>
                <a:latin typeface="Roboto"/>
                <a:ea typeface="Roboto"/>
                <a:cs typeface="Roboto"/>
                <a:sym typeface="Roboto"/>
              </a:rPr>
              <a:t> compose up </a:t>
            </a:r>
            <a:r>
              <a:rPr lang="en" sz="1500">
                <a:solidFill>
                  <a:schemeClr val="accent3"/>
                </a:solidFill>
                <a:highlight>
                  <a:srgbClr val="F2F2F2"/>
                </a:highlight>
                <a:latin typeface="Roboto"/>
                <a:ea typeface="Roboto"/>
                <a:cs typeface="Roboto"/>
                <a:sym typeface="Roboto"/>
              </a:rPr>
              <a:t>-d</a:t>
            </a:r>
            <a:endParaRPr sz="1500">
              <a:solidFill>
                <a:schemeClr val="accent3"/>
              </a:solidFill>
              <a:highlight>
                <a:srgbClr val="F2F2F2"/>
              </a:highlight>
              <a:latin typeface="Roboto"/>
              <a:ea typeface="Roboto"/>
              <a:cs typeface="Roboto"/>
              <a:sym typeface="Roboto"/>
            </a:endParaRPr>
          </a:p>
          <a:p>
            <a:pPr indent="-323850" lvl="0" marL="558800" marR="152400" rtl="0" algn="l">
              <a:lnSpc>
                <a:spcPct val="115000"/>
              </a:lnSpc>
              <a:spcBef>
                <a:spcPts val="0"/>
              </a:spcBef>
              <a:spcAft>
                <a:spcPts val="0"/>
              </a:spcAft>
              <a:buClr>
                <a:schemeClr val="dk1"/>
              </a:buClr>
              <a:buSzPts val="1500"/>
              <a:buAutoNum type="arabicPeriod"/>
            </a:pPr>
            <a:r>
              <a:rPr lang="en" sz="1500">
                <a:solidFill>
                  <a:schemeClr val="dk1"/>
                </a:solidFill>
                <a:highlight>
                  <a:srgbClr val="F2F2F2"/>
                </a:highlight>
                <a:latin typeface="Roboto"/>
                <a:ea typeface="Roboto"/>
                <a:cs typeface="Roboto"/>
                <a:sym typeface="Roboto"/>
              </a:rPr>
              <a:t>Reference it in flows with </a:t>
            </a:r>
            <a:r>
              <a:rPr lang="en" sz="1500">
                <a:solidFill>
                  <a:srgbClr val="A31515"/>
                </a:solidFill>
                <a:highlight>
                  <a:srgbClr val="F2F2F2"/>
                </a:highlight>
                <a:latin typeface="Roboto"/>
                <a:ea typeface="Roboto"/>
                <a:cs typeface="Roboto"/>
                <a:sym typeface="Roboto"/>
              </a:rPr>
              <a:t>{{ secret('</a:t>
            </a:r>
            <a:r>
              <a:rPr lang="en" sz="1500">
                <a:solidFill>
                  <a:srgbClr val="A31515"/>
                </a:solidFill>
                <a:highlight>
                  <a:srgbClr val="F2F2F2"/>
                </a:highlight>
                <a:latin typeface="Roboto"/>
                <a:ea typeface="Roboto"/>
                <a:cs typeface="Roboto"/>
                <a:sym typeface="Roboto"/>
              </a:rPr>
              <a:t>GEMINI_API_KEY</a:t>
            </a:r>
            <a:r>
              <a:rPr lang="en" sz="1500">
                <a:solidFill>
                  <a:srgbClr val="A31515"/>
                </a:solidFill>
                <a:highlight>
                  <a:srgbClr val="F2F2F2"/>
                </a:highlight>
                <a:latin typeface="Roboto"/>
                <a:ea typeface="Roboto"/>
                <a:cs typeface="Roboto"/>
                <a:sym typeface="Roboto"/>
              </a:rPr>
              <a:t>') }}</a:t>
            </a:r>
            <a:endParaRPr sz="1500">
              <a:solidFill>
                <a:schemeClr val="dk1"/>
              </a:solidFill>
              <a:highlight>
                <a:srgbClr val="F2F2F2"/>
              </a:highlight>
              <a:latin typeface="Roboto"/>
              <a:ea typeface="Roboto"/>
              <a:cs typeface="Roboto"/>
              <a:sym typeface="Roboto"/>
            </a:endParaRPr>
          </a:p>
          <a:p>
            <a:pPr indent="0" lvl="0" marL="0" rtl="0" algn="l">
              <a:lnSpc>
                <a:spcPct val="115000"/>
              </a:lnSpc>
              <a:spcBef>
                <a:spcPts val="800"/>
              </a:spcBef>
              <a:spcAft>
                <a:spcPts val="1200"/>
              </a:spcAft>
              <a:buNone/>
            </a:pPr>
            <a:r>
              <a:t/>
            </a:r>
            <a:endParaRPr b="1" sz="1500">
              <a:solidFill>
                <a:schemeClr val="dk1"/>
              </a:solidFill>
              <a:latin typeface="Roboto"/>
              <a:ea typeface="Roboto"/>
              <a:cs typeface="Roboto"/>
              <a:sym typeface="Roboto"/>
            </a:endParaRPr>
          </a:p>
        </p:txBody>
      </p:sp>
      <p:sp>
        <p:nvSpPr>
          <p:cNvPr id="296" name="Google Shape;296;p4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cxnSp>
        <p:nvCxnSpPr>
          <p:cNvPr id="301" name="Google Shape;301;p43"/>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02" name="Google Shape;302;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Extending RAG with web search</a:t>
            </a:r>
            <a:endParaRPr sz="1800"/>
          </a:p>
        </p:txBody>
      </p:sp>
      <p:sp>
        <p:nvSpPr>
          <p:cNvPr id="303" name="Google Shape;303;p43"/>
          <p:cNvSpPr txBox="1"/>
          <p:nvPr/>
        </p:nvSpPr>
        <p:spPr>
          <a:xfrm>
            <a:off x="428625" y="714375"/>
            <a:ext cx="8576400" cy="200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The </a:t>
            </a:r>
            <a:r>
              <a:rPr lang="en" sz="1800">
                <a:solidFill>
                  <a:srgbClr val="A31515"/>
                </a:solidFill>
                <a:latin typeface="Roboto"/>
                <a:ea typeface="Roboto"/>
                <a:cs typeface="Roboto"/>
                <a:sym typeface="Roboto"/>
              </a:rPr>
              <a:t>TavilyWebSearch</a:t>
            </a:r>
            <a:r>
              <a:rPr lang="en" sz="1800">
                <a:solidFill>
                  <a:schemeClr val="dk1"/>
                </a:solidFill>
                <a:latin typeface="Roboto"/>
                <a:ea typeface="Roboto"/>
                <a:cs typeface="Roboto"/>
                <a:sym typeface="Roboto"/>
              </a:rPr>
              <a:t> retriever queries </a:t>
            </a:r>
            <a:r>
              <a:rPr lang="en" sz="1800">
                <a:solidFill>
                  <a:srgbClr val="006AB1"/>
                </a:solidFill>
                <a:uFill>
                  <a:noFill/>
                </a:uFill>
                <a:latin typeface="Roboto"/>
                <a:ea typeface="Roboto"/>
                <a:cs typeface="Roboto"/>
                <a:sym typeface="Roboto"/>
                <a:hlinkClick r:id="rId3">
                  <a:extLst>
                    <a:ext uri="{A12FA001-AC4F-418D-AE19-62706E023703}">
                      <ahyp:hlinkClr val="tx"/>
                    </a:ext>
                  </a:extLst>
                </a:hlinkClick>
              </a:rPr>
              <a:t>Tavily</a:t>
            </a:r>
            <a:r>
              <a:rPr lang="en" sz="1800">
                <a:solidFill>
                  <a:schemeClr val="dk1"/>
                </a:solidFill>
                <a:latin typeface="Roboto"/>
                <a:ea typeface="Roboto"/>
                <a:cs typeface="Roboto"/>
                <a:sym typeface="Roboto"/>
              </a:rPr>
              <a:t> and injects the results as context before the LLM generates a response — no ingestion step required. However, the results are only as good as the search engine, and may not be relevant or accurate. Always test the quality of retrieved context when using web search RAG.</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1200"/>
              </a:spcAft>
              <a:buNone/>
            </a:pPr>
            <a:r>
              <a:t/>
            </a:r>
            <a:endParaRPr sz="1800">
              <a:solidFill>
                <a:schemeClr val="dk1"/>
              </a:solidFill>
              <a:latin typeface="Roboto"/>
              <a:ea typeface="Roboto"/>
              <a:cs typeface="Roboto"/>
              <a:sym typeface="Roboto"/>
            </a:endParaRPr>
          </a:p>
        </p:txBody>
      </p:sp>
      <p:sp>
        <p:nvSpPr>
          <p:cNvPr id="304" name="Google Shape;304;p4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4"/>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Kestra Release Features</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Static RAG vs. web search RAG</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Best Practices</a:t>
            </a:r>
            <a:endParaRPr>
              <a:solidFill>
                <a:schemeClr val="dk2"/>
              </a:solidFill>
            </a:endParaRPr>
          </a:p>
        </p:txBody>
      </p:sp>
      <p:sp>
        <p:nvSpPr>
          <p:cNvPr id="310" name="Google Shape;310;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1" name="Google Shape;311;p44"/>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Static RAG vs. web search RAG</a:t>
            </a:r>
            <a:endParaRPr>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cxnSp>
        <p:nvCxnSpPr>
          <p:cNvPr id="316" name="Google Shape;316;p45"/>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17" name="Google Shape;317;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Static RAG vs. web search RAG</a:t>
            </a:r>
            <a:endParaRPr sz="1800"/>
          </a:p>
        </p:txBody>
      </p:sp>
      <p:sp>
        <p:nvSpPr>
          <p:cNvPr id="318" name="Google Shape;318;p4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
        <p:nvSpPr>
          <p:cNvPr id="319" name="Google Shape;319;p45"/>
          <p:cNvSpPr/>
          <p:nvPr/>
        </p:nvSpPr>
        <p:spPr>
          <a:xfrm>
            <a:off x="381000" y="666750"/>
            <a:ext cx="8382000" cy="3238500"/>
          </a:xfrm>
          <a:prstGeom prst="roundRect">
            <a:avLst>
              <a:gd fmla="val 2352" name="adj"/>
            </a:avLst>
          </a:prstGeom>
          <a:solidFill>
            <a:srgbClr val="FFFFFF"/>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aphicFrame>
        <p:nvGraphicFramePr>
          <p:cNvPr id="320" name="Google Shape;320;p45"/>
          <p:cNvGraphicFramePr/>
          <p:nvPr/>
        </p:nvGraphicFramePr>
        <p:xfrm>
          <a:off x="571500" y="809625"/>
          <a:ext cx="3000000" cy="3000000"/>
        </p:xfrm>
        <a:graphic>
          <a:graphicData uri="http://schemas.openxmlformats.org/drawingml/2006/table">
            <a:tbl>
              <a:tblPr>
                <a:noFill/>
                <a:tableStyleId>{A25FA9E1-AA20-4A59-B25F-7AF3B479B6FD}</a:tableStyleId>
              </a:tblPr>
              <a:tblGrid>
                <a:gridCol w="1524000"/>
                <a:gridCol w="3238500"/>
                <a:gridCol w="3238500"/>
              </a:tblGrid>
              <a:tr h="466225">
                <a:tc>
                  <a:txBody>
                    <a:bodyPr/>
                    <a:lstStyle/>
                    <a:p>
                      <a:pPr indent="0" lvl="0" marL="0" rtl="0" algn="l">
                        <a:spcBef>
                          <a:spcPts val="0"/>
                        </a:spcBef>
                        <a:spcAft>
                          <a:spcPts val="0"/>
                        </a:spcAft>
                        <a:buNone/>
                      </a:pPr>
                      <a:r>
                        <a:rPr b="1" lang="en" sz="1600">
                          <a:solidFill>
                            <a:schemeClr val="accent3"/>
                          </a:solidFill>
                          <a:latin typeface="Roboto"/>
                          <a:ea typeface="Roboto"/>
                          <a:cs typeface="Roboto"/>
                          <a:sym typeface="Roboto"/>
                        </a:rPr>
                        <a:t>Criteria</a:t>
                      </a:r>
                      <a:endParaRPr b="1" sz="1600">
                        <a:solidFill>
                          <a:schemeClr val="accent3"/>
                        </a:solidFill>
                        <a:latin typeface="Roboto"/>
                        <a:ea typeface="Roboto"/>
                        <a:cs typeface="Roboto"/>
                        <a:sym typeface="Roboto"/>
                      </a:endParaRPr>
                    </a:p>
                  </a:txBody>
                  <a:tcPr marT="0" marB="95250" marR="0" marL="0"/>
                </a:tc>
                <a:tc>
                  <a:txBody>
                    <a:bodyPr/>
                    <a:lstStyle/>
                    <a:p>
                      <a:pPr indent="0" lvl="0" marL="0" rtl="0" algn="l">
                        <a:spcBef>
                          <a:spcPts val="0"/>
                        </a:spcBef>
                        <a:spcAft>
                          <a:spcPts val="0"/>
                        </a:spcAft>
                        <a:buNone/>
                      </a:pPr>
                      <a:r>
                        <a:rPr b="1" lang="en" sz="1700">
                          <a:solidFill>
                            <a:schemeClr val="accent3"/>
                          </a:solidFill>
                          <a:latin typeface="Roboto"/>
                          <a:ea typeface="Roboto"/>
                          <a:cs typeface="Roboto"/>
                          <a:sym typeface="Roboto"/>
                        </a:rPr>
                        <a:t>Static RAG</a:t>
                      </a:r>
                      <a:endParaRPr b="1" sz="1700">
                        <a:solidFill>
                          <a:schemeClr val="accent3"/>
                        </a:solidFill>
                        <a:latin typeface="Roboto"/>
                        <a:ea typeface="Roboto"/>
                        <a:cs typeface="Roboto"/>
                        <a:sym typeface="Roboto"/>
                      </a:endParaRPr>
                    </a:p>
                  </a:txBody>
                  <a:tcPr marT="0" marB="95250" marR="0" marL="0"/>
                </a:tc>
                <a:tc>
                  <a:txBody>
                    <a:bodyPr/>
                    <a:lstStyle/>
                    <a:p>
                      <a:pPr indent="0" lvl="0" marL="0" rtl="0" algn="l">
                        <a:spcBef>
                          <a:spcPts val="0"/>
                        </a:spcBef>
                        <a:spcAft>
                          <a:spcPts val="0"/>
                        </a:spcAft>
                        <a:buNone/>
                      </a:pPr>
                      <a:r>
                        <a:rPr b="1" lang="en" sz="1700">
                          <a:solidFill>
                            <a:schemeClr val="accent3"/>
                          </a:solidFill>
                          <a:latin typeface="Roboto"/>
                          <a:ea typeface="Roboto"/>
                          <a:cs typeface="Roboto"/>
                          <a:sym typeface="Roboto"/>
                        </a:rPr>
                        <a:t>Web Search RAG</a:t>
                      </a:r>
                      <a:endParaRPr b="1" sz="1700">
                        <a:solidFill>
                          <a:schemeClr val="accent3"/>
                        </a:solidFill>
                        <a:latin typeface="Roboto"/>
                        <a:ea typeface="Roboto"/>
                        <a:cs typeface="Roboto"/>
                        <a:sym typeface="Roboto"/>
                      </a:endParaRPr>
                    </a:p>
                  </a:txBody>
                  <a:tcPr marT="0" marB="95250" marR="0" marL="0"/>
                </a:tc>
              </a:tr>
              <a:tr h="621625">
                <a:tc>
                  <a:txBody>
                    <a:bodyPr/>
                    <a:lstStyle/>
                    <a:p>
                      <a:pPr indent="0" lvl="0" marL="0" rtl="0" algn="l">
                        <a:spcBef>
                          <a:spcPts val="0"/>
                        </a:spcBef>
                        <a:spcAft>
                          <a:spcPts val="0"/>
                        </a:spcAft>
                        <a:buNone/>
                      </a:pPr>
                      <a:r>
                        <a:rPr b="1" lang="en">
                          <a:solidFill>
                            <a:schemeClr val="dk1"/>
                          </a:solidFill>
                          <a:latin typeface="Roboto"/>
                          <a:ea typeface="Roboto"/>
                          <a:cs typeface="Roboto"/>
                          <a:sym typeface="Roboto"/>
                        </a:rPr>
                        <a:t>Data source</a:t>
                      </a:r>
                      <a:endParaRPr b="1">
                        <a:solidFill>
                          <a:schemeClr val="dk1"/>
                        </a:solidFill>
                        <a:latin typeface="Roboto"/>
                        <a:ea typeface="Roboto"/>
                        <a:cs typeface="Roboto"/>
                        <a:sym typeface="Roboto"/>
                      </a:endParaRPr>
                    </a:p>
                  </a:txBody>
                  <a:tcPr marT="114300" marB="114300" marR="0" marL="0">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Roboto"/>
                          <a:ea typeface="Roboto"/>
                          <a:cs typeface="Roboto"/>
                          <a:sym typeface="Roboto"/>
                        </a:rPr>
                        <a:t>Documents you ingested</a:t>
                      </a:r>
                      <a:endParaRPr>
                        <a:solidFill>
                          <a:schemeClr val="dk1"/>
                        </a:solidFill>
                        <a:latin typeface="Roboto"/>
                        <a:ea typeface="Roboto"/>
                        <a:cs typeface="Roboto"/>
                        <a:sym typeface="Roboto"/>
                      </a:endParaRPr>
                    </a:p>
                  </a:txBody>
                  <a:tcPr marT="114300" marB="114300" marR="95250" marL="95250">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Roboto"/>
                          <a:ea typeface="Roboto"/>
                          <a:cs typeface="Roboto"/>
                          <a:sym typeface="Roboto"/>
                        </a:rPr>
                        <a:t>Live web results</a:t>
                      </a:r>
                      <a:endParaRPr>
                        <a:solidFill>
                          <a:schemeClr val="dk1"/>
                        </a:solidFill>
                        <a:latin typeface="Roboto"/>
                        <a:ea typeface="Roboto"/>
                        <a:cs typeface="Roboto"/>
                        <a:sym typeface="Roboto"/>
                      </a:endParaRPr>
                    </a:p>
                  </a:txBody>
                  <a:tcPr marT="114300" marB="114300" marR="95250" marL="95250">
                    <a:lnB cap="flat" cmpd="sng" w="9525">
                      <a:solidFill>
                        <a:srgbClr val="E2E8F0"/>
                      </a:solidFill>
                      <a:prstDash val="solid"/>
                      <a:round/>
                      <a:headEnd len="sm" w="sm" type="none"/>
                      <a:tailEnd len="sm" w="sm" type="none"/>
                    </a:lnB>
                  </a:tcPr>
                </a:tc>
              </a:tr>
              <a:tr h="621625">
                <a:tc>
                  <a:txBody>
                    <a:bodyPr/>
                    <a:lstStyle/>
                    <a:p>
                      <a:pPr indent="0" lvl="0" marL="0" rtl="0" algn="l">
                        <a:spcBef>
                          <a:spcPts val="0"/>
                        </a:spcBef>
                        <a:spcAft>
                          <a:spcPts val="0"/>
                        </a:spcAft>
                        <a:buNone/>
                      </a:pPr>
                      <a:r>
                        <a:rPr b="1" lang="en">
                          <a:solidFill>
                            <a:schemeClr val="dk1"/>
                          </a:solidFill>
                          <a:latin typeface="Roboto"/>
                          <a:ea typeface="Roboto"/>
                          <a:cs typeface="Roboto"/>
                          <a:sym typeface="Roboto"/>
                        </a:rPr>
                        <a:t>Best for</a:t>
                      </a:r>
                      <a:endParaRPr b="1">
                        <a:solidFill>
                          <a:schemeClr val="dk1"/>
                        </a:solidFill>
                        <a:latin typeface="Roboto"/>
                        <a:ea typeface="Roboto"/>
                        <a:cs typeface="Roboto"/>
                        <a:sym typeface="Roboto"/>
                      </a:endParaRPr>
                    </a:p>
                  </a:txBody>
                  <a:tcPr marT="114300" marB="11430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Roboto"/>
                          <a:ea typeface="Roboto"/>
                          <a:cs typeface="Roboto"/>
                          <a:sym typeface="Roboto"/>
                        </a:rPr>
                        <a:t>Internal docs, policies, fixed knowledge bases</a:t>
                      </a:r>
                      <a:endParaRPr>
                        <a:solidFill>
                          <a:schemeClr val="dk1"/>
                        </a:solidFill>
                        <a:latin typeface="Roboto"/>
                        <a:ea typeface="Roboto"/>
                        <a:cs typeface="Roboto"/>
                        <a:sym typeface="Roboto"/>
                      </a:endParaRPr>
                    </a:p>
                  </a:txBody>
                  <a:tcPr marT="114300" marB="114300" marR="95250" marL="952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Roboto"/>
                          <a:ea typeface="Roboto"/>
                          <a:cs typeface="Roboto"/>
                          <a:sym typeface="Roboto"/>
                        </a:rPr>
                        <a:t>Time-sensitive or frequently changing information</a:t>
                      </a:r>
                      <a:endParaRPr>
                        <a:solidFill>
                          <a:schemeClr val="dk1"/>
                        </a:solidFill>
                        <a:latin typeface="Roboto"/>
                        <a:ea typeface="Roboto"/>
                        <a:cs typeface="Roboto"/>
                        <a:sym typeface="Roboto"/>
                      </a:endParaRPr>
                    </a:p>
                  </a:txBody>
                  <a:tcPr marT="114300" marB="114300" marR="95250" marL="952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621625">
                <a:tc>
                  <a:txBody>
                    <a:bodyPr/>
                    <a:lstStyle/>
                    <a:p>
                      <a:pPr indent="0" lvl="0" marL="0" rtl="0" algn="l">
                        <a:spcBef>
                          <a:spcPts val="0"/>
                        </a:spcBef>
                        <a:spcAft>
                          <a:spcPts val="0"/>
                        </a:spcAft>
                        <a:buNone/>
                      </a:pPr>
                      <a:r>
                        <a:rPr b="1" lang="en">
                          <a:solidFill>
                            <a:schemeClr val="dk1"/>
                          </a:solidFill>
                          <a:latin typeface="Roboto"/>
                          <a:ea typeface="Roboto"/>
                          <a:cs typeface="Roboto"/>
                          <a:sym typeface="Roboto"/>
                        </a:rPr>
                        <a:t>Ingestion step</a:t>
                      </a:r>
                      <a:endParaRPr b="1">
                        <a:solidFill>
                          <a:schemeClr val="dk1"/>
                        </a:solidFill>
                        <a:latin typeface="Roboto"/>
                        <a:ea typeface="Roboto"/>
                        <a:cs typeface="Roboto"/>
                        <a:sym typeface="Roboto"/>
                      </a:endParaRPr>
                    </a:p>
                  </a:txBody>
                  <a:tcPr marT="114300" marB="114300" marR="0" marL="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b="1" lang="en">
                          <a:solidFill>
                            <a:schemeClr val="accent2"/>
                          </a:solidFill>
                          <a:latin typeface="Roboto"/>
                          <a:ea typeface="Roboto"/>
                          <a:cs typeface="Roboto"/>
                          <a:sym typeface="Roboto"/>
                        </a:rPr>
                        <a:t>Required</a:t>
                      </a:r>
                      <a:endParaRPr b="1">
                        <a:solidFill>
                          <a:schemeClr val="accent2"/>
                        </a:solidFill>
                        <a:latin typeface="Roboto"/>
                        <a:ea typeface="Roboto"/>
                        <a:cs typeface="Roboto"/>
                        <a:sym typeface="Roboto"/>
                      </a:endParaRPr>
                    </a:p>
                  </a:txBody>
                  <a:tcPr marT="114300" marB="114300" marR="95250" marL="952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Roboto"/>
                          <a:ea typeface="Roboto"/>
                          <a:cs typeface="Roboto"/>
                          <a:sym typeface="Roboto"/>
                        </a:rPr>
                        <a:t>Not required</a:t>
                      </a:r>
                      <a:endParaRPr>
                        <a:solidFill>
                          <a:schemeClr val="dk1"/>
                        </a:solidFill>
                        <a:latin typeface="Roboto"/>
                        <a:ea typeface="Roboto"/>
                        <a:cs typeface="Roboto"/>
                        <a:sym typeface="Roboto"/>
                      </a:endParaRPr>
                    </a:p>
                  </a:txBody>
                  <a:tcPr marT="114300" marB="114300" marR="95250" marL="95250">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621650">
                <a:tc>
                  <a:txBody>
                    <a:bodyPr/>
                    <a:lstStyle/>
                    <a:p>
                      <a:pPr indent="0" lvl="0" marL="0" rtl="0" algn="l">
                        <a:spcBef>
                          <a:spcPts val="0"/>
                        </a:spcBef>
                        <a:spcAft>
                          <a:spcPts val="0"/>
                        </a:spcAft>
                        <a:buNone/>
                      </a:pPr>
                      <a:r>
                        <a:rPr b="1" lang="en">
                          <a:solidFill>
                            <a:schemeClr val="dk1"/>
                          </a:solidFill>
                          <a:latin typeface="Roboto"/>
                          <a:ea typeface="Roboto"/>
                          <a:cs typeface="Roboto"/>
                          <a:sym typeface="Roboto"/>
                        </a:rPr>
                        <a:t>Example question</a:t>
                      </a:r>
                      <a:endParaRPr b="1">
                        <a:solidFill>
                          <a:schemeClr val="dk1"/>
                        </a:solidFill>
                        <a:latin typeface="Roboto"/>
                        <a:ea typeface="Roboto"/>
                        <a:cs typeface="Roboto"/>
                        <a:sym typeface="Roboto"/>
                      </a:endParaRPr>
                    </a:p>
                  </a:txBody>
                  <a:tcPr marT="114300" marB="114300" marR="0" marL="0">
                    <a:lnT cap="flat" cmpd="sng" w="9525">
                      <a:solidFill>
                        <a:srgbClr val="E2E8F0"/>
                      </a:solidFill>
                      <a:prstDash val="solid"/>
                      <a:round/>
                      <a:headEnd len="sm" w="sm" type="none"/>
                      <a:tailEnd len="sm" w="sm" type="none"/>
                    </a:lnT>
                  </a:tcPr>
                </a:tc>
                <a:tc>
                  <a:txBody>
                    <a:bodyPr/>
                    <a:lstStyle/>
                    <a:p>
                      <a:pPr indent="0" lvl="0" marL="0" rtl="0" algn="l">
                        <a:spcBef>
                          <a:spcPts val="0"/>
                        </a:spcBef>
                        <a:spcAft>
                          <a:spcPts val="0"/>
                        </a:spcAft>
                        <a:buNone/>
                      </a:pPr>
                      <a:r>
                        <a:rPr i="1" lang="en">
                          <a:solidFill>
                            <a:schemeClr val="dk1"/>
                          </a:solidFill>
                          <a:latin typeface="Roboto"/>
                          <a:ea typeface="Roboto"/>
                          <a:cs typeface="Roboto"/>
                          <a:sym typeface="Roboto"/>
                        </a:rPr>
                        <a:t>"What does our refund policy say?"</a:t>
                      </a:r>
                      <a:endParaRPr i="1">
                        <a:solidFill>
                          <a:schemeClr val="dk1"/>
                        </a:solidFill>
                        <a:latin typeface="Roboto"/>
                        <a:ea typeface="Roboto"/>
                        <a:cs typeface="Roboto"/>
                        <a:sym typeface="Roboto"/>
                      </a:endParaRPr>
                    </a:p>
                  </a:txBody>
                  <a:tcPr marT="114300" marB="114300" marR="95250" marL="95250">
                    <a:lnT cap="flat" cmpd="sng" w="9525">
                      <a:solidFill>
                        <a:srgbClr val="E2E8F0"/>
                      </a:solidFill>
                      <a:prstDash val="solid"/>
                      <a:round/>
                      <a:headEnd len="sm" w="sm" type="none"/>
                      <a:tailEnd len="sm" w="sm" type="none"/>
                    </a:lnT>
                  </a:tcPr>
                </a:tc>
                <a:tc>
                  <a:txBody>
                    <a:bodyPr/>
                    <a:lstStyle/>
                    <a:p>
                      <a:pPr indent="0" lvl="0" marL="0" rtl="0" algn="l">
                        <a:spcBef>
                          <a:spcPts val="0"/>
                        </a:spcBef>
                        <a:spcAft>
                          <a:spcPts val="0"/>
                        </a:spcAft>
                        <a:buNone/>
                      </a:pPr>
                      <a:r>
                        <a:rPr i="1" lang="en">
                          <a:solidFill>
                            <a:schemeClr val="dk1"/>
                          </a:solidFill>
                          <a:latin typeface="Roboto"/>
                          <a:ea typeface="Roboto"/>
                          <a:cs typeface="Roboto"/>
                          <a:sym typeface="Roboto"/>
                        </a:rPr>
                        <a:t>"What is the latest release of Kestra?"</a:t>
                      </a:r>
                      <a:endParaRPr i="1">
                        <a:solidFill>
                          <a:schemeClr val="dk1"/>
                        </a:solidFill>
                        <a:latin typeface="Roboto"/>
                        <a:ea typeface="Roboto"/>
                        <a:cs typeface="Roboto"/>
                        <a:sym typeface="Roboto"/>
                      </a:endParaRPr>
                    </a:p>
                  </a:txBody>
                  <a:tcPr marT="114300" marB="114300" marR="95250" marL="95250">
                    <a:lnT cap="flat" cmpd="sng" w="9525">
                      <a:solidFill>
                        <a:srgbClr val="E2E8F0"/>
                      </a:solidFill>
                      <a:prstDash val="solid"/>
                      <a:round/>
                      <a:headEnd len="sm" w="sm" type="none"/>
                      <a:tailEnd len="sm" w="sm" type="none"/>
                    </a:lnT>
                  </a:tcPr>
                </a:tc>
              </a:tr>
            </a:tbl>
          </a:graphicData>
        </a:graphic>
      </p:graphicFrame>
      <p:sp>
        <p:nvSpPr>
          <p:cNvPr id="321" name="Google Shape;321;p45"/>
          <p:cNvSpPr txBox="1"/>
          <p:nvPr/>
        </p:nvSpPr>
        <p:spPr>
          <a:xfrm>
            <a:off x="304800" y="4038600"/>
            <a:ext cx="90051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Roboto"/>
                <a:ea typeface="Roboto"/>
                <a:cs typeface="Roboto"/>
                <a:sym typeface="Roboto"/>
              </a:rPr>
              <a:t>Use static RAG when you control the source material. Use web search RAG when the answer depends on information that changes faster than you can re-ingest.</a:t>
            </a:r>
            <a:endParaRPr sz="1600">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6"/>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Retrieval Augmented Generation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What is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How RAG Works in Kestra</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Kestra Release Features</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1: Without RAG</a:t>
            </a:r>
            <a:endParaRPr>
              <a:solidFill>
                <a:schemeClr val="dk2"/>
              </a:solidFill>
            </a:endParaRPr>
          </a:p>
          <a:p>
            <a:pPr indent="-330200" lvl="1" marL="914400" rtl="0" algn="l">
              <a:spcBef>
                <a:spcPts val="0"/>
              </a:spcBef>
              <a:spcAft>
                <a:spcPts val="0"/>
              </a:spcAft>
              <a:buClr>
                <a:schemeClr val="dk2"/>
              </a:buClr>
              <a:buSzPts val="1600"/>
              <a:buChar char="•"/>
            </a:pPr>
            <a:r>
              <a:rPr lang="en">
                <a:solidFill>
                  <a:schemeClr val="dk2"/>
                </a:solidFill>
              </a:rPr>
              <a:t>Step 2: With RAG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Extending RAG with web search</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Static RAG vs. web search RAG</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Best Practices</a:t>
            </a:r>
            <a:endParaRPr b="1">
              <a:solidFill>
                <a:schemeClr val="accent3"/>
              </a:solidFill>
              <a:latin typeface="Roboto"/>
              <a:ea typeface="Roboto"/>
              <a:cs typeface="Roboto"/>
              <a:sym typeface="Roboto"/>
            </a:endParaRPr>
          </a:p>
        </p:txBody>
      </p:sp>
      <p:sp>
        <p:nvSpPr>
          <p:cNvPr id="327" name="Google Shape;327;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8" name="Google Shape;328;p46"/>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Best Practices</a:t>
            </a:r>
            <a:endParaRPr>
              <a:solidFill>
                <a:schemeClr val="accent3"/>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cxnSp>
        <p:nvCxnSpPr>
          <p:cNvPr id="333" name="Google Shape;333;p47"/>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334" name="Google Shape;334;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Best Practice</a:t>
            </a:r>
            <a:endParaRPr sz="1800"/>
          </a:p>
        </p:txBody>
      </p:sp>
      <p:sp>
        <p:nvSpPr>
          <p:cNvPr id="335" name="Google Shape;335;p47"/>
          <p:cNvSpPr txBox="1"/>
          <p:nvPr/>
        </p:nvSpPr>
        <p:spPr>
          <a:xfrm>
            <a:off x="428625" y="714375"/>
            <a:ext cx="8576400" cy="2716500"/>
          </a:xfrm>
          <a:prstGeom prst="rect">
            <a:avLst/>
          </a:prstGeom>
          <a:noFill/>
          <a:ln>
            <a:noFill/>
          </a:ln>
        </p:spPr>
        <p:txBody>
          <a:bodyPr anchorCtr="0" anchor="t" bIns="0" lIns="0" spcFirstLastPara="1" rIns="0" wrap="square" tIns="0">
            <a:noAutofit/>
          </a:bodyPr>
          <a:lstStyle/>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Keep documents updated: re-ingest regularly so your KV Store reflects current information</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Chunk appropriately: break large documents into meaningful sections before ingesting</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Test retrieval quality: verify the right documents are being retrieved for your queries</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Choose the right retriever: static RAG for controlled knowledge bases, web search for live data</a:t>
            </a:r>
            <a:endParaRPr sz="1700">
              <a:solidFill>
                <a:schemeClr val="dk1"/>
              </a:solidFill>
              <a:latin typeface="Roboto"/>
              <a:ea typeface="Roboto"/>
              <a:cs typeface="Roboto"/>
              <a:sym typeface="Roboto"/>
            </a:endParaRPr>
          </a:p>
          <a:p>
            <a:pPr indent="0" lvl="0" marL="0" rtl="0" algn="l">
              <a:lnSpc>
                <a:spcPct val="115000"/>
              </a:lnSpc>
              <a:spcBef>
                <a:spcPts val="800"/>
              </a:spcBef>
              <a:spcAft>
                <a:spcPts val="1200"/>
              </a:spcAft>
              <a:buNone/>
            </a:pPr>
            <a:r>
              <a:t/>
            </a:r>
            <a:endParaRPr sz="1700">
              <a:solidFill>
                <a:schemeClr val="dk1"/>
              </a:solidFill>
              <a:latin typeface="Roboto"/>
              <a:ea typeface="Roboto"/>
              <a:cs typeface="Roboto"/>
              <a:sym typeface="Roboto"/>
            </a:endParaRPr>
          </a:p>
        </p:txBody>
      </p:sp>
      <p:sp>
        <p:nvSpPr>
          <p:cNvPr id="336" name="Google Shape;336;p47"/>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