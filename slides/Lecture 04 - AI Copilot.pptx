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Roboto Medium"/>
      <p:regular r:id="rId22"/>
      <p:bold r:id="rId23"/>
      <p:italic r:id="rId24"/>
      <p:boldItalic r:id="rId25"/>
    </p:embeddedFont>
    <p:embeddedFont>
      <p:font typeface="Roboto"/>
      <p:regular r:id="rId26"/>
      <p:bold r:id="rId27"/>
      <p:italic r:id="rId28"/>
      <p:boldItalic r:id="rId29"/>
    </p:embeddedFont>
    <p:embeddedFont>
      <p:font typeface="Roboto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Medium-regular.fntdata"/><Relationship Id="rId21" Type="http://schemas.openxmlformats.org/officeDocument/2006/relationships/slide" Target="slides/slide17.xml"/><Relationship Id="rId24" Type="http://schemas.openxmlformats.org/officeDocument/2006/relationships/font" Target="fonts/RobotoMedium-italic.fntdata"/><Relationship Id="rId23" Type="http://schemas.openxmlformats.org/officeDocument/2006/relationships/font" Target="fonts/Roboto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font" Target="fonts/RobotoMedium-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Light-bold.fntdata"/><Relationship Id="rId30" Type="http://schemas.openxmlformats.org/officeDocument/2006/relationships/font" Target="fonts/RobotoLight-regular.fntdata"/><Relationship Id="rId11" Type="http://schemas.openxmlformats.org/officeDocument/2006/relationships/slide" Target="slides/slide7.xml"/><Relationship Id="rId33" Type="http://schemas.openxmlformats.org/officeDocument/2006/relationships/font" Target="fonts/RobotoLight-boldItalic.fntdata"/><Relationship Id="rId10" Type="http://schemas.openxmlformats.org/officeDocument/2006/relationships/slide" Target="slides/slide6.xml"/><Relationship Id="rId32" Type="http://schemas.openxmlformats.org/officeDocument/2006/relationships/font" Target="fonts/RobotoLight-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9143fda57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9143fda57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9143fda576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9143fda576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989d0e4ec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989d0e4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af1f99f4d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af1f99f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5bca549b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5bca549b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989d0e4ec_0_1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989d0e4ec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5bca549b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5bca549b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989d0e4ec_0_16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989d0e4e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5bca549b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5bca549b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f989d0e4ec_0_1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f989d0e4e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5bca549b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f5bca549b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989d0e4ec_0_17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989d0e4ec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b26a9dab6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b26a9da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5bca549b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5bca549b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989d0e4ec_0_1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989d0e4e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5bca549b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5bca549b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989d0e4ec_0_19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989d0e4e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6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Font typeface="Roboto Light"/>
              <a:buChar char="•"/>
              <a:defRPr>
                <a:latin typeface="Roboto Light"/>
                <a:ea typeface="Roboto Light"/>
                <a:cs typeface="Roboto Light"/>
                <a:sym typeface="Roboto Light"/>
              </a:defRPr>
            </a:lvl1pPr>
            <a:lvl2pPr indent="-330200" lvl="1" marL="914400" rtl="0">
              <a:spcBef>
                <a:spcPts val="600"/>
              </a:spcBef>
              <a:spcAft>
                <a:spcPts val="0"/>
              </a:spcAft>
              <a:buSzPts val="1600"/>
              <a:buFont typeface="Roboto Light"/>
              <a:buChar char="•"/>
              <a:defRPr>
                <a:latin typeface="Roboto Light"/>
                <a:ea typeface="Roboto Light"/>
                <a:cs typeface="Roboto Light"/>
                <a:sym typeface="Roboto Light"/>
              </a:defRPr>
            </a:lvl2pPr>
            <a:lvl3pPr indent="-330200" lvl="2" marL="1371600" rtl="0">
              <a:spcBef>
                <a:spcPts val="600"/>
              </a:spcBef>
              <a:spcAft>
                <a:spcPts val="0"/>
              </a:spcAft>
              <a:buSzPts val="1600"/>
              <a:buFont typeface="Roboto Light"/>
              <a:buChar char="•"/>
              <a:defRPr>
                <a:latin typeface="Roboto Light"/>
                <a:ea typeface="Roboto Light"/>
                <a:cs typeface="Roboto Light"/>
                <a:sym typeface="Roboto Light"/>
              </a:defRPr>
            </a:lvl3pPr>
            <a:lvl4pPr indent="-330200" lvl="3" marL="1828800" rtl="0">
              <a:spcBef>
                <a:spcPts val="600"/>
              </a:spcBef>
              <a:spcAft>
                <a:spcPts val="0"/>
              </a:spcAft>
              <a:buSzPts val="1600"/>
              <a:buFont typeface="Roboto Light"/>
              <a:buChar char="•"/>
              <a:defRPr>
                <a:latin typeface="Roboto Light"/>
                <a:ea typeface="Roboto Light"/>
                <a:cs typeface="Roboto Light"/>
                <a:sym typeface="Roboto Light"/>
              </a:defRPr>
            </a:lvl4pPr>
            <a:lvl5pPr indent="-330200" lvl="4" marL="2286000" rtl="0">
              <a:spcBef>
                <a:spcPts val="600"/>
              </a:spcBef>
              <a:spcAft>
                <a:spcPts val="0"/>
              </a:spcAft>
              <a:buSzPts val="1600"/>
              <a:buFont typeface="Roboto Light"/>
              <a:buChar char="•"/>
              <a:defRPr>
                <a:latin typeface="Roboto Light"/>
                <a:ea typeface="Roboto Light"/>
                <a:cs typeface="Roboto Light"/>
                <a:sym typeface="Roboto Light"/>
              </a:defRPr>
            </a:lvl5pPr>
            <a:lvl6pPr indent="-330200" lvl="5" marL="2743200" rtl="0">
              <a:spcBef>
                <a:spcPts val="600"/>
              </a:spcBef>
              <a:spcAft>
                <a:spcPts val="0"/>
              </a:spcAft>
              <a:buSzPts val="1600"/>
              <a:buFont typeface="Roboto Light"/>
              <a:buChar char="•"/>
              <a:defRPr>
                <a:latin typeface="Roboto Light"/>
                <a:ea typeface="Roboto Light"/>
                <a:cs typeface="Roboto Light"/>
                <a:sym typeface="Roboto Light"/>
              </a:defRPr>
            </a:lvl6pPr>
            <a:lvl7pPr indent="-330200" lvl="6" marL="3200400" rtl="0">
              <a:spcBef>
                <a:spcPts val="600"/>
              </a:spcBef>
              <a:spcAft>
                <a:spcPts val="0"/>
              </a:spcAft>
              <a:buSzPts val="1600"/>
              <a:buFont typeface="Roboto Light"/>
              <a:buChar char="•"/>
              <a:defRPr>
                <a:latin typeface="Roboto Light"/>
                <a:ea typeface="Roboto Light"/>
                <a:cs typeface="Roboto Light"/>
                <a:sym typeface="Roboto Light"/>
              </a:defRPr>
            </a:lvl7pPr>
            <a:lvl8pPr indent="-330200" lvl="7" marL="3657600" rtl="0">
              <a:spcBef>
                <a:spcPts val="600"/>
              </a:spcBef>
              <a:spcAft>
                <a:spcPts val="0"/>
              </a:spcAft>
              <a:buSzPts val="1600"/>
              <a:buFont typeface="Roboto Light"/>
              <a:buChar char="•"/>
              <a:defRPr>
                <a:latin typeface="Roboto Light"/>
                <a:ea typeface="Roboto Light"/>
                <a:cs typeface="Roboto Light"/>
                <a:sym typeface="Roboto Light"/>
              </a:defRPr>
            </a:lvl8pPr>
            <a:lvl9pPr indent="-330200" lvl="8" marL="4114800" rtl="0">
              <a:spcBef>
                <a:spcPts val="600"/>
              </a:spcBef>
              <a:spcAft>
                <a:spcPts val="0"/>
              </a:spcAft>
              <a:buSzPts val="16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6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6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a:lvl1pPr>
            <a:lvl2pPr indent="-330200" lvl="1" marL="914400" rtl="0">
              <a:spcBef>
                <a:spcPts val="600"/>
              </a:spcBef>
              <a:spcAft>
                <a:spcPts val="0"/>
              </a:spcAft>
              <a:buSzPts val="1600"/>
              <a:buChar char="•"/>
              <a:defRPr/>
            </a:lvl2pPr>
            <a:lvl3pPr indent="-330200" lvl="2" marL="1371600" rtl="0">
              <a:spcBef>
                <a:spcPts val="600"/>
              </a:spcBef>
              <a:spcAft>
                <a:spcPts val="0"/>
              </a:spcAft>
              <a:buSzPts val="1600"/>
              <a:buChar char="•"/>
              <a:defRPr/>
            </a:lvl3pPr>
            <a:lvl4pPr indent="-330200" lvl="3" marL="1828800" rtl="0">
              <a:spcBef>
                <a:spcPts val="600"/>
              </a:spcBef>
              <a:spcAft>
                <a:spcPts val="0"/>
              </a:spcAft>
              <a:buSzPts val="1600"/>
              <a:buChar char="•"/>
              <a:defRPr/>
            </a:lvl4pPr>
            <a:lvl5pPr indent="-330200" lvl="4" marL="2286000" rtl="0">
              <a:spcBef>
                <a:spcPts val="600"/>
              </a:spcBef>
              <a:spcAft>
                <a:spcPts val="0"/>
              </a:spcAft>
              <a:buSzPts val="1600"/>
              <a:buChar char="•"/>
              <a:defRPr/>
            </a:lvl5pPr>
            <a:lvl6pPr indent="-330200" lvl="5" marL="2743200" rtl="0">
              <a:spcBef>
                <a:spcPts val="600"/>
              </a:spcBef>
              <a:spcAft>
                <a:spcPts val="0"/>
              </a:spcAft>
              <a:buSzPts val="1600"/>
              <a:buChar char="•"/>
              <a:defRPr/>
            </a:lvl6pPr>
            <a:lvl7pPr indent="-330200" lvl="6" marL="3200400" rtl="0">
              <a:spcBef>
                <a:spcPts val="600"/>
              </a:spcBef>
              <a:spcAft>
                <a:spcPts val="0"/>
              </a:spcAft>
              <a:buSzPts val="1600"/>
              <a:buChar char="•"/>
              <a:defRPr/>
            </a:lvl7pPr>
            <a:lvl8pPr indent="-330200" lvl="7" marL="3657600" rtl="0">
              <a:spcBef>
                <a:spcPts val="600"/>
              </a:spcBef>
              <a:spcAft>
                <a:spcPts val="0"/>
              </a:spcAft>
              <a:buSzPts val="1600"/>
              <a:buChar char="•"/>
              <a:defRPr/>
            </a:lvl8pPr>
            <a:lvl9pPr indent="-330200" lvl="8" marL="4114800" rtl="0">
              <a:spcBef>
                <a:spcPts val="600"/>
              </a:spcBef>
              <a:spcAft>
                <a:spcPts val="0"/>
              </a:spcAft>
              <a:buSzPts val="16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7_0)">
  <p:cSld name="Title and body (g3f06253986f_7_0)">
    <p:spTree>
      <p:nvGrpSpPr>
        <p:cNvPr id="140" name="Shape 140"/>
        <p:cNvGrpSpPr/>
        <p:nvPr/>
      </p:nvGrpSpPr>
      <p:grpSpPr>
        <a:xfrm>
          <a:off x="0" y="0"/>
          <a:ext cx="0" cy="0"/>
          <a:chOff x="0" y="0"/>
          <a:chExt cx="0" cy="0"/>
        </a:xfrm>
      </p:grpSpPr>
      <p:sp>
        <p:nvSpPr>
          <p:cNvPr id="141" name="Google Shape;141;p2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2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f06253986f_14_0)">
  <p:cSld name="Title and body (g3f06253986f_14_0)">
    <p:spTree>
      <p:nvGrpSpPr>
        <p:cNvPr id="144" name="Shape 144"/>
        <p:cNvGrpSpPr/>
        <p:nvPr/>
      </p:nvGrpSpPr>
      <p:grpSpPr>
        <a:xfrm>
          <a:off x="0" y="0"/>
          <a:ext cx="0" cy="0"/>
          <a:chOff x="0" y="0"/>
          <a:chExt cx="0" cy="0"/>
        </a:xfrm>
      </p:grpSpPr>
      <p:sp>
        <p:nvSpPr>
          <p:cNvPr id="145" name="Google Shape;145;p2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b="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6" name="Google Shape;146;p2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30200" lvl="0" marL="457200">
              <a:spcBef>
                <a:spcPts val="600"/>
              </a:spcBef>
              <a:spcAft>
                <a:spcPts val="0"/>
              </a:spcAft>
              <a:buSzPts val="1600"/>
              <a:buChar char="●"/>
              <a:defRPr/>
            </a:lvl1pPr>
            <a:lvl2pPr indent="-330200" lvl="1" marL="914400">
              <a:spcBef>
                <a:spcPts val="600"/>
              </a:spcBef>
              <a:spcAft>
                <a:spcPts val="0"/>
              </a:spcAft>
              <a:buSzPts val="1600"/>
              <a:buChar char="○"/>
              <a:defRPr/>
            </a:lvl2pPr>
            <a:lvl3pPr indent="-330200" lvl="2" marL="1371600">
              <a:spcBef>
                <a:spcPts val="600"/>
              </a:spcBef>
              <a:spcAft>
                <a:spcPts val="0"/>
              </a:spcAft>
              <a:buSzPts val="1600"/>
              <a:buChar char="■"/>
              <a:defRPr/>
            </a:lvl3pPr>
            <a:lvl4pPr indent="-330200" lvl="3" marL="1828800">
              <a:spcBef>
                <a:spcPts val="600"/>
              </a:spcBef>
              <a:spcAft>
                <a:spcPts val="0"/>
              </a:spcAft>
              <a:buSzPts val="1600"/>
              <a:buChar char="●"/>
              <a:defRPr/>
            </a:lvl4pPr>
            <a:lvl5pPr indent="-330200" lvl="4" marL="2286000">
              <a:spcBef>
                <a:spcPts val="600"/>
              </a:spcBef>
              <a:spcAft>
                <a:spcPts val="0"/>
              </a:spcAft>
              <a:buSzPts val="1600"/>
              <a:buChar char="○"/>
              <a:defRPr/>
            </a:lvl5pPr>
            <a:lvl6pPr indent="-330200" lvl="5" marL="2743200">
              <a:spcBef>
                <a:spcPts val="600"/>
              </a:spcBef>
              <a:spcAft>
                <a:spcPts val="0"/>
              </a:spcAft>
              <a:buSzPts val="1600"/>
              <a:buChar char="■"/>
              <a:defRPr/>
            </a:lvl6pPr>
            <a:lvl7pPr indent="-330200" lvl="6" marL="3200400">
              <a:spcBef>
                <a:spcPts val="600"/>
              </a:spcBef>
              <a:spcAft>
                <a:spcPts val="0"/>
              </a:spcAft>
              <a:buSzPts val="1600"/>
              <a:buChar char="●"/>
              <a:defRPr/>
            </a:lvl7pPr>
            <a:lvl8pPr indent="-330200" lvl="7" marL="3657600">
              <a:spcBef>
                <a:spcPts val="600"/>
              </a:spcBef>
              <a:spcAft>
                <a:spcPts val="0"/>
              </a:spcAft>
              <a:buSzPts val="1600"/>
              <a:buChar char="○"/>
              <a:defRPr/>
            </a:lvl8pPr>
            <a:lvl9pPr indent="-330200" lvl="8" marL="4114800">
              <a:spcBef>
                <a:spcPts val="600"/>
              </a:spcBef>
              <a:spcAft>
                <a:spcPts val="0"/>
              </a:spcAft>
              <a:buSzPts val="1600"/>
              <a:buChar char="■"/>
              <a:defRPr/>
            </a:lvl9pPr>
          </a:lstStyle>
          <a:p/>
        </p:txBody>
      </p:sp>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theme" Target="../theme/theme1.xml"/><Relationship Id="rId25" Type="http://schemas.openxmlformats.org/officeDocument/2006/relationships/slideLayout" Target="../slideLayouts/slideLayout24.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30200" lvl="0" marL="457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indent="-330200" lvl="1" marL="914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indent="-330200" lvl="2" marL="1371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indent="-330200" lvl="3" marL="1828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indent="-330200" lvl="4" marL="22860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indent="-330200" lvl="5" marL="27432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indent="-330200" lvl="6" marL="32004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indent="-330200" lvl="7" marL="36576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indent="-330200" lvl="8" marL="4114800" rtl="0">
              <a:lnSpc>
                <a:spcPct val="100000"/>
              </a:lnSpc>
              <a:spcBef>
                <a:spcPts val="600"/>
              </a:spcBef>
              <a:spcAft>
                <a:spcPts val="0"/>
              </a:spcAft>
              <a:buClr>
                <a:schemeClr val="dk1"/>
              </a:buClr>
              <a:buSzPts val="1600"/>
              <a:buFont typeface="Roboto"/>
              <a:buChar char="•"/>
              <a:defRPr sz="16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hyperlink" Target="about:blank" TargetMode="External"/><Relationship Id="rId4" Type="http://schemas.openxmlformats.org/officeDocument/2006/relationships/hyperlink" Target="http://localhost:808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hyperlink" Target="https://github.com/kestra-io/agent-skill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311700" y="18113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solidFill>
                  <a:schemeClr val="accent3"/>
                </a:solidFill>
              </a:rPr>
              <a:t>AI Copilot</a:t>
            </a:r>
            <a:endParaRPr sz="4200"/>
          </a:p>
        </p:txBody>
      </p:sp>
      <p:sp>
        <p:nvSpPr>
          <p:cNvPr id="153" name="Google Shape;153;p26"/>
          <p:cNvSpPr txBox="1"/>
          <p:nvPr/>
        </p:nvSpPr>
        <p:spPr>
          <a:xfrm>
            <a:off x="345775" y="28927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04 | July, 2026</a:t>
            </a:r>
            <a:endParaRPr sz="1200">
              <a:solidFill>
                <a:srgbClr val="BF9000"/>
              </a:solidFill>
              <a:latin typeface="Roboto Medium"/>
              <a:ea typeface="Roboto Medium"/>
              <a:cs typeface="Roboto Medium"/>
              <a:sym typeface="Roboto Medium"/>
            </a:endParaRPr>
          </a:p>
        </p:txBody>
      </p:sp>
      <p:sp>
        <p:nvSpPr>
          <p:cNvPr id="154" name="Google Shape;15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nvSpPr>
        <p:spPr>
          <a:xfrm>
            <a:off x="311700" y="3769550"/>
            <a:ext cx="8520600" cy="1167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Light"/>
                <a:ea typeface="Roboto Light"/>
                <a:cs typeface="Roboto Light"/>
                <a:sym typeface="Roboto Light"/>
              </a:rPr>
              <a:t>Instructor</a:t>
            </a:r>
            <a:r>
              <a:rPr lang="en" sz="1600">
                <a:latin typeface="Roboto Light"/>
                <a:ea typeface="Roboto Light"/>
                <a:cs typeface="Roboto Light"/>
                <a:sym typeface="Roboto Light"/>
              </a:rPr>
              <a:t>: Sithvothy Kiv </a:t>
            </a:r>
            <a:endParaRPr sz="1600">
              <a:latin typeface="Roboto Light"/>
              <a:ea typeface="Roboto Light"/>
              <a:cs typeface="Roboto Light"/>
              <a:sym typeface="Roboto Light"/>
            </a:endParaRPr>
          </a:p>
          <a:p>
            <a:pPr indent="0" lvl="0" marL="0" rtl="0" algn="l">
              <a:spcBef>
                <a:spcPts val="600"/>
              </a:spcBef>
              <a:spcAft>
                <a:spcPts val="0"/>
              </a:spcAft>
              <a:buNone/>
            </a:pPr>
            <a:r>
              <a:rPr lang="en" sz="1600">
                <a:latin typeface="Roboto Light"/>
                <a:ea typeface="Roboto Light"/>
                <a:cs typeface="Roboto Light"/>
                <a:sym typeface="Roboto Light"/>
              </a:rPr>
              <a:t>Slides Credit: Josh Hug</a:t>
            </a:r>
            <a:endParaRPr sz="1600">
              <a:latin typeface="Roboto Light"/>
              <a:ea typeface="Roboto Light"/>
              <a:cs typeface="Roboto Light"/>
              <a:sym typeface="Robo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AI Copilot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161" name="Google Shape;161;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AI Copilot</a:t>
            </a:r>
            <a:endParaRPr>
              <a:solidFill>
                <a:schemeClr val="accent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cxnSp>
        <p:nvCxnSpPr>
          <p:cNvPr id="167" name="Google Shape;167;p2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68" name="Google Shape;168;p2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AI Copilot</a:t>
            </a:r>
            <a:endParaRPr b="0" sz="1800">
              <a:solidFill>
                <a:srgbClr val="0B5394"/>
              </a:solidFill>
              <a:latin typeface="Roboto Medium"/>
              <a:ea typeface="Roboto Medium"/>
              <a:cs typeface="Roboto Medium"/>
              <a:sym typeface="Roboto Medium"/>
            </a:endParaRPr>
          </a:p>
        </p:txBody>
      </p:sp>
      <p:sp>
        <p:nvSpPr>
          <p:cNvPr id="169" name="Google Shape;169;p28"/>
          <p:cNvSpPr txBox="1"/>
          <p:nvPr/>
        </p:nvSpPr>
        <p:spPr>
          <a:xfrm>
            <a:off x="428625" y="952500"/>
            <a:ext cx="8286900" cy="3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1"/>
                </a:solidFill>
                <a:latin typeface="Roboto"/>
                <a:ea typeface="Roboto"/>
                <a:cs typeface="Roboto"/>
                <a:sym typeface="Roboto"/>
              </a:rPr>
              <a:t>Building workflows manually can be slow. You need to know which plugin to use, look up the exact property names, remember the right syntax, and connect each task together in the correct order. For a non-trivial flow, this can take a long time before you even run it once. While Kestra's autocomplete helps, you still have to build each task one at a time.</a:t>
            </a:r>
            <a:endParaRPr sz="17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700">
                <a:solidFill>
                  <a:schemeClr val="dk1"/>
                </a:solidFill>
                <a:latin typeface="Roboto"/>
                <a:ea typeface="Roboto"/>
                <a:cs typeface="Roboto"/>
                <a:sym typeface="Roboto"/>
              </a:rPr>
              <a:t>AI Copilot changes the approach. Instead of building each step manually, you describe your inputs and your goal — and the AI Copilot generates the flow structure for you. You then tweak the last 5% to get the exact behaviour you want. The AI Copilot handles the boilerplate; you focus on the logic that's specific to your use case.</a:t>
            </a:r>
            <a:endParaRPr sz="17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sz="1700">
              <a:solidFill>
                <a:srgbClr val="1F2328"/>
              </a:solidFill>
              <a:latin typeface="Roboto"/>
              <a:ea typeface="Roboto"/>
              <a:cs typeface="Roboto"/>
              <a:sym typeface="Roboto"/>
            </a:endParaRPr>
          </a:p>
        </p:txBody>
      </p:sp>
      <p:sp>
        <p:nvSpPr>
          <p:cNvPr id="170" name="Google Shape;170;p2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cxnSp>
        <p:nvCxnSpPr>
          <p:cNvPr id="175" name="Google Shape;175;p29"/>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76" name="Google Shape;176;p29"/>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AI Copilot</a:t>
            </a:r>
            <a:endParaRPr b="0" sz="1800">
              <a:solidFill>
                <a:srgbClr val="0B5394"/>
              </a:solidFill>
              <a:latin typeface="Roboto Medium"/>
              <a:ea typeface="Roboto Medium"/>
              <a:cs typeface="Roboto Medium"/>
              <a:sym typeface="Roboto Medium"/>
            </a:endParaRPr>
          </a:p>
        </p:txBody>
      </p:sp>
      <p:sp>
        <p:nvSpPr>
          <p:cNvPr id="177" name="Google Shape;177;p29"/>
          <p:cNvSpPr txBox="1"/>
          <p:nvPr/>
        </p:nvSpPr>
        <p:spPr>
          <a:xfrm>
            <a:off x="428625" y="952500"/>
            <a:ext cx="8286900" cy="359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None/>
            </a:pPr>
            <a:r>
              <a:rPr lang="en" sz="1700">
                <a:solidFill>
                  <a:schemeClr val="dk1"/>
                </a:solidFill>
                <a:latin typeface="Roboto"/>
                <a:ea typeface="Roboto"/>
                <a:cs typeface="Roboto"/>
                <a:sym typeface="Roboto"/>
              </a:rPr>
              <a:t>This works reliably because Kestra's AI Copilot is grounded in the current plugin documentation, valid property names, and best practices for your running version of Kestra — unlike a generic AI assistant, which guesses.</a:t>
            </a:r>
            <a:endParaRPr sz="1700">
              <a:solidFill>
                <a:srgbClr val="1F2328"/>
              </a:solidFill>
              <a:latin typeface="Roboto"/>
              <a:ea typeface="Roboto"/>
              <a:cs typeface="Roboto"/>
              <a:sym typeface="Roboto"/>
            </a:endParaRPr>
          </a:p>
        </p:txBody>
      </p:sp>
      <p:sp>
        <p:nvSpPr>
          <p:cNvPr id="178" name="Google Shape;178;p29"/>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0"/>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Setup</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184" name="Google Shape;18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0"/>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Setup</a:t>
            </a:r>
            <a:endParaRPr>
              <a:solidFill>
                <a:schemeClr val="accent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cxnSp>
        <p:nvCxnSpPr>
          <p:cNvPr id="190" name="Google Shape;190;p31"/>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191" name="Google Shape;191;p31"/>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Setup</a:t>
            </a:r>
            <a:endParaRPr b="0" sz="1800">
              <a:solidFill>
                <a:srgbClr val="0B5394"/>
              </a:solidFill>
              <a:latin typeface="Roboto Medium"/>
              <a:ea typeface="Roboto Medium"/>
              <a:cs typeface="Roboto Medium"/>
              <a:sym typeface="Roboto Medium"/>
            </a:endParaRPr>
          </a:p>
        </p:txBody>
      </p:sp>
      <p:sp>
        <p:nvSpPr>
          <p:cNvPr id="192" name="Google Shape;192;p31"/>
          <p:cNvSpPr txBox="1"/>
          <p:nvPr/>
        </p:nvSpPr>
        <p:spPr>
          <a:xfrm>
            <a:off x="428625" y="952500"/>
            <a:ext cx="8286900" cy="237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chemeClr val="dk1"/>
                </a:solidFill>
                <a:latin typeface="Roboto"/>
                <a:ea typeface="Roboto"/>
                <a:cs typeface="Roboto"/>
                <a:sym typeface="Roboto"/>
              </a:rPr>
              <a:t>Before using AI Copilot, you need to configure Gemini API access in your Kestra instance. If you haven't done this yet, follow the </a:t>
            </a:r>
            <a:r>
              <a:rPr lang="en" sz="1700">
                <a:solidFill>
                  <a:srgbClr val="006AB1"/>
                </a:solidFill>
                <a:uFill>
                  <a:noFill/>
                </a:uFill>
                <a:latin typeface="Roboto"/>
                <a:ea typeface="Roboto"/>
                <a:cs typeface="Roboto"/>
                <a:sym typeface="Roboto"/>
                <a:hlinkClick r:id="rId3">
                  <a:extLst>
                    <a:ext uri="{A12FA001-AC4F-418D-AE19-62706E023703}">
                      <ahyp:hlinkClr val="tx"/>
                    </a:ext>
                  </a:extLst>
                </a:hlinkClick>
              </a:rPr>
              <a:t>setup instructions</a:t>
            </a:r>
            <a:r>
              <a:rPr lang="en" sz="1700">
                <a:solidFill>
                  <a:schemeClr val="dk1"/>
                </a:solidFill>
                <a:latin typeface="Roboto"/>
                <a:ea typeface="Roboto"/>
                <a:cs typeface="Roboto"/>
                <a:sym typeface="Roboto"/>
              </a:rPr>
              <a:t> to obtain your Gemini API key and configure it as a secret.</a:t>
            </a:r>
            <a:endParaRPr sz="17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700">
                <a:solidFill>
                  <a:schemeClr val="dk1"/>
                </a:solidFill>
                <a:latin typeface="Roboto"/>
                <a:ea typeface="Roboto"/>
                <a:cs typeface="Roboto"/>
                <a:sym typeface="Roboto"/>
              </a:rPr>
              <a:t>Access AI Copilot:</a:t>
            </a:r>
            <a:endParaRPr sz="1700">
              <a:solidFill>
                <a:schemeClr val="dk1"/>
              </a:solidFill>
              <a:latin typeface="Roboto"/>
              <a:ea typeface="Roboto"/>
              <a:cs typeface="Roboto"/>
              <a:sym typeface="Roboto"/>
            </a:endParaRPr>
          </a:p>
          <a:p>
            <a:pPr indent="-336550" lvl="0" marL="457200" rtl="0" algn="l">
              <a:lnSpc>
                <a:spcPct val="115000"/>
              </a:lnSpc>
              <a:spcBef>
                <a:spcPts val="120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Open Kestra UI at </a:t>
            </a:r>
            <a:r>
              <a:rPr lang="en" sz="1700">
                <a:solidFill>
                  <a:srgbClr val="006AB1"/>
                </a:solidFill>
                <a:uFill>
                  <a:noFill/>
                </a:uFill>
                <a:latin typeface="Roboto"/>
                <a:ea typeface="Roboto"/>
                <a:cs typeface="Roboto"/>
                <a:sym typeface="Roboto"/>
                <a:hlinkClick r:id="rId4">
                  <a:extLst>
                    <a:ext uri="{A12FA001-AC4F-418D-AE19-62706E023703}">
                      <ahyp:hlinkClr val="tx"/>
                    </a:ext>
                  </a:extLst>
                </a:hlinkClick>
              </a:rPr>
              <a:t>http://localhost:8080</a:t>
            </a:r>
            <a:endParaRPr sz="1700">
              <a:solidFill>
                <a:srgbClr val="006AB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Create a new flow or open an existing one</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Click the AI Copilot button (sparkle icon ✨) in the top-right corner of the Flow Editor</a:t>
            </a:r>
            <a:endParaRPr sz="17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t/>
            </a:r>
            <a:endParaRPr sz="1700">
              <a:solidFill>
                <a:schemeClr val="dk1"/>
              </a:solidFill>
              <a:latin typeface="Roboto"/>
              <a:ea typeface="Roboto"/>
              <a:cs typeface="Roboto"/>
              <a:sym typeface="Roboto"/>
            </a:endParaRPr>
          </a:p>
        </p:txBody>
      </p:sp>
      <p:sp>
        <p:nvSpPr>
          <p:cNvPr id="193" name="Google Shape;193;p31"/>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Hands-On: Compare Copilot vs. Raw ChatGPT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199" name="Google Shape;199;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32"/>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Hands-On: Compare Copilot vs Raw ChatGPT</a:t>
            </a:r>
            <a:endParaRPr>
              <a:solidFill>
                <a:schemeClr val="accent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cxnSp>
        <p:nvCxnSpPr>
          <p:cNvPr id="205" name="Google Shape;205;p33"/>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06" name="Google Shape;206;p33"/>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Hands-On: Compare Copilot vs. Raw ChatGPT</a:t>
            </a:r>
            <a:endParaRPr b="0" sz="1800">
              <a:solidFill>
                <a:srgbClr val="0B5394"/>
              </a:solidFill>
              <a:latin typeface="Roboto Medium"/>
              <a:ea typeface="Roboto Medium"/>
              <a:cs typeface="Roboto Medium"/>
              <a:sym typeface="Roboto Medium"/>
            </a:endParaRPr>
          </a:p>
        </p:txBody>
      </p:sp>
      <p:sp>
        <p:nvSpPr>
          <p:cNvPr id="207" name="Google Shape;207;p33"/>
          <p:cNvSpPr txBox="1"/>
          <p:nvPr/>
        </p:nvSpPr>
        <p:spPr>
          <a:xfrm>
            <a:off x="428625" y="952500"/>
            <a:ext cx="8286900" cy="237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chemeClr val="dk1"/>
                </a:solidFill>
                <a:latin typeface="Roboto"/>
                <a:ea typeface="Roboto"/>
                <a:cs typeface="Roboto"/>
                <a:sym typeface="Roboto"/>
              </a:rPr>
              <a:t>Use the same prompt from the previous lesson, but this time with AI Copilot:</a:t>
            </a:r>
            <a:endParaRPr sz="1700">
              <a:solidFill>
                <a:schemeClr val="dk1"/>
              </a:solidFill>
              <a:latin typeface="Roboto"/>
              <a:ea typeface="Roboto"/>
              <a:cs typeface="Roboto"/>
              <a:sym typeface="Roboto"/>
            </a:endParaRPr>
          </a:p>
          <a:p>
            <a:pPr indent="-336550" lvl="0" marL="457200" rtl="0" algn="l">
              <a:lnSpc>
                <a:spcPct val="115000"/>
              </a:lnSpc>
              <a:spcBef>
                <a:spcPts val="120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Click the AI Copilot button in Kestra's Flow Editor</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Enter:</a:t>
            </a:r>
            <a:br>
              <a:rPr lang="en" sz="1700">
                <a:solidFill>
                  <a:schemeClr val="dk1"/>
                </a:solidFill>
                <a:latin typeface="Roboto"/>
                <a:ea typeface="Roboto"/>
                <a:cs typeface="Roboto"/>
                <a:sym typeface="Roboto"/>
              </a:rPr>
            </a:br>
            <a:r>
              <a:rPr lang="en" sz="1700">
                <a:solidFill>
                  <a:schemeClr val="accent3"/>
                </a:solidFill>
                <a:latin typeface="Roboto"/>
                <a:ea typeface="Roboto"/>
                <a:cs typeface="Roboto"/>
                <a:sym typeface="Roboto"/>
              </a:rPr>
              <a:t>“Create a Kestra flow that loads NYC taxi data from a CSV file to BigQuery. The flow should extract data, upload to GCS, and load to BigQuery”</a:t>
            </a:r>
            <a:r>
              <a:rPr lang="en" sz="1700">
                <a:solidFill>
                  <a:schemeClr val="dk1"/>
                </a:solidFill>
                <a:latin typeface="Roboto"/>
                <a:ea typeface="Roboto"/>
                <a:cs typeface="Roboto"/>
                <a:sym typeface="Roboto"/>
              </a:rPr>
              <a:t>.</a:t>
            </a: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Font typeface="Roboto"/>
              <a:buAutoNum type="arabicPeriod"/>
            </a:pPr>
            <a:r>
              <a:rPr lang="en" sz="1700">
                <a:solidFill>
                  <a:schemeClr val="dk1"/>
                </a:solidFill>
                <a:latin typeface="Roboto"/>
                <a:ea typeface="Roboto"/>
                <a:cs typeface="Roboto"/>
                <a:sym typeface="Roboto"/>
              </a:rPr>
              <a:t>Observe the results — correct, up-to-date plugin types, valid property names, and working executable YAML.</a:t>
            </a:r>
            <a:endParaRPr sz="17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t/>
            </a:r>
            <a:endParaRPr sz="1700">
              <a:solidFill>
                <a:schemeClr val="dk1"/>
              </a:solidFill>
              <a:latin typeface="Roboto"/>
              <a:ea typeface="Roboto"/>
              <a:cs typeface="Roboto"/>
              <a:sym typeface="Roboto"/>
            </a:endParaRPr>
          </a:p>
        </p:txBody>
      </p:sp>
      <p:sp>
        <p:nvSpPr>
          <p:cNvPr id="208" name="Google Shape;208;p33"/>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4"/>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The 5% Rule</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214" name="Google Shape;214;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34"/>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The 5% Rule</a:t>
            </a:r>
            <a:endParaRPr>
              <a:solidFill>
                <a:schemeClr val="accent3"/>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cxnSp>
        <p:nvCxnSpPr>
          <p:cNvPr id="220" name="Google Shape;220;p35"/>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21" name="Google Shape;221;p35"/>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The 5% Rule</a:t>
            </a:r>
            <a:endParaRPr b="0" sz="1800">
              <a:solidFill>
                <a:srgbClr val="0B5394"/>
              </a:solidFill>
              <a:latin typeface="Roboto Medium"/>
              <a:ea typeface="Roboto Medium"/>
              <a:cs typeface="Roboto Medium"/>
              <a:sym typeface="Roboto Medium"/>
            </a:endParaRPr>
          </a:p>
        </p:txBody>
      </p:sp>
      <p:sp>
        <p:nvSpPr>
          <p:cNvPr id="222" name="Google Shape;222;p35"/>
          <p:cNvSpPr txBox="1"/>
          <p:nvPr/>
        </p:nvSpPr>
        <p:spPr>
          <a:xfrm>
            <a:off x="428625" y="952500"/>
            <a:ext cx="8286900" cy="237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700">
                <a:solidFill>
                  <a:schemeClr val="dk1"/>
                </a:solidFill>
                <a:latin typeface="Roboto"/>
                <a:ea typeface="Roboto"/>
                <a:cs typeface="Roboto"/>
                <a:sym typeface="Roboto"/>
              </a:rPr>
              <a:t>Copilot gets you to a working flow quickly, but it won't know everything about your environment. After generation, review the output and make the small adjustments that are specific to your setup - your environment variables, your secrets, your error handling preferences, or a task that needs a slightly different configuration than the default. </a:t>
            </a:r>
            <a:endParaRPr sz="17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lang="en" sz="1700">
                <a:solidFill>
                  <a:schemeClr val="dk1"/>
                </a:solidFill>
                <a:latin typeface="Roboto"/>
                <a:ea typeface="Roboto"/>
                <a:cs typeface="Roboto"/>
                <a:sym typeface="Roboto"/>
              </a:rPr>
              <a:t>The bulk of the structure is done. You're just closing the gap between a general solution and your exact requirements.</a:t>
            </a:r>
            <a:endParaRPr sz="1700">
              <a:solidFill>
                <a:schemeClr val="dk1"/>
              </a:solidFill>
              <a:latin typeface="Roboto"/>
              <a:ea typeface="Roboto"/>
              <a:cs typeface="Roboto"/>
              <a:sym typeface="Roboto"/>
            </a:endParaRPr>
          </a:p>
        </p:txBody>
      </p:sp>
      <p:sp>
        <p:nvSpPr>
          <p:cNvPr id="223" name="Google Shape;223;p35"/>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Iterative Refinement</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229" name="Google Shape;229;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0" name="Google Shape;230;p36"/>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Iterative Refinement</a:t>
            </a:r>
            <a:endParaRPr>
              <a:solidFill>
                <a:schemeClr val="accent3"/>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cxnSp>
        <p:nvCxnSpPr>
          <p:cNvPr id="235" name="Google Shape;235;p37"/>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36" name="Google Shape;236;p37"/>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Iterative Refinement</a:t>
            </a:r>
            <a:endParaRPr b="0" sz="1800">
              <a:solidFill>
                <a:srgbClr val="0B5394"/>
              </a:solidFill>
              <a:latin typeface="Roboto Medium"/>
              <a:ea typeface="Roboto Medium"/>
              <a:cs typeface="Roboto Medium"/>
              <a:sym typeface="Roboto Medium"/>
            </a:endParaRPr>
          </a:p>
        </p:txBody>
      </p:sp>
      <p:sp>
        <p:nvSpPr>
          <p:cNvPr id="237" name="Google Shape;237;p37"/>
          <p:cNvSpPr txBox="1"/>
          <p:nvPr/>
        </p:nvSpPr>
        <p:spPr>
          <a:xfrm>
            <a:off x="428625" y="952500"/>
            <a:ext cx="8286900" cy="325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AI Copilot helps with both creating new flows and refining existing ones. The conversation is cumulative — each follow-up preserves the existing flow structure and only modifies what's needed.</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600">
                <a:solidFill>
                  <a:schemeClr val="dk1"/>
                </a:solidFill>
                <a:latin typeface="Roboto"/>
                <a:ea typeface="Roboto"/>
                <a:cs typeface="Roboto"/>
                <a:sym typeface="Roboto"/>
              </a:rPr>
              <a:t>Example conversation:</a:t>
            </a:r>
            <a:endParaRPr sz="1600">
              <a:solidFill>
                <a:schemeClr val="dk1"/>
              </a:solidFill>
              <a:latin typeface="Roboto"/>
              <a:ea typeface="Roboto"/>
              <a:cs typeface="Roboto"/>
              <a:sym typeface="Roboto"/>
            </a:endParaRPr>
          </a:p>
          <a:p>
            <a:pPr indent="-330200" lvl="0" marL="457200" rtl="0" algn="l">
              <a:lnSpc>
                <a:spcPct val="115000"/>
              </a:lnSpc>
              <a:spcBef>
                <a:spcPts val="1200"/>
              </a:spcBef>
              <a:spcAft>
                <a:spcPts val="0"/>
              </a:spcAft>
              <a:buClr>
                <a:schemeClr val="dk1"/>
              </a:buClr>
              <a:buSzPts val="1600"/>
              <a:buFont typeface="Roboto"/>
              <a:buAutoNum type="arabicPeriod"/>
            </a:pPr>
            <a:r>
              <a:rPr lang="en" sz="1600">
                <a:solidFill>
                  <a:schemeClr val="dk1"/>
                </a:solidFill>
                <a:latin typeface="Roboto"/>
                <a:ea typeface="Roboto"/>
                <a:cs typeface="Roboto"/>
                <a:sym typeface="Roboto"/>
              </a:rPr>
              <a:t>"Create a flow that downloads a CSV file and loads it to BigQuery" → Copilot generates a basic flow</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Font typeface="Roboto"/>
              <a:buAutoNum type="arabicPeriod"/>
            </a:pPr>
            <a:r>
              <a:rPr lang="en" sz="1600">
                <a:solidFill>
                  <a:schemeClr val="dk1"/>
                </a:solidFill>
                <a:latin typeface="Roboto"/>
                <a:ea typeface="Roboto"/>
                <a:cs typeface="Roboto"/>
                <a:sym typeface="Roboto"/>
              </a:rPr>
              <a:t>"Add a task that checks data quality in BigQuery" → Copilot adds SQL validation tasks</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lang="en" sz="1600">
                <a:solidFill>
                  <a:schemeClr val="dk1"/>
                </a:solidFill>
                <a:latin typeface="Roboto"/>
                <a:ea typeface="Roboto"/>
                <a:cs typeface="Roboto"/>
                <a:sym typeface="Roboto"/>
              </a:rPr>
              <a:t>"Schedule the flow to run daily at 9 AM UTC" → Copilot adds a </a:t>
            </a:r>
            <a:r>
              <a:rPr lang="en" sz="1600">
                <a:solidFill>
                  <a:srgbClr val="A31515"/>
                </a:solidFill>
                <a:latin typeface="Roboto"/>
                <a:ea typeface="Roboto"/>
                <a:cs typeface="Roboto"/>
                <a:sym typeface="Roboto"/>
              </a:rPr>
              <a:t>Schedule</a:t>
            </a:r>
            <a:r>
              <a:rPr lang="en" sz="1600">
                <a:solidFill>
                  <a:schemeClr val="dk1"/>
                </a:solidFill>
                <a:latin typeface="Roboto"/>
                <a:ea typeface="Roboto"/>
                <a:cs typeface="Roboto"/>
                <a:sym typeface="Roboto"/>
              </a:rPr>
              <a:t> trigger</a:t>
            </a:r>
            <a:endParaRPr sz="1600">
              <a:solidFill>
                <a:schemeClr val="dk1"/>
              </a:solidFill>
              <a:latin typeface="Roboto"/>
              <a:ea typeface="Roboto"/>
              <a:cs typeface="Roboto"/>
              <a:sym typeface="Roboto"/>
            </a:endParaRPr>
          </a:p>
          <a:p>
            <a:pPr indent="-330200" lvl="0" marL="457200" rtl="0" algn="l">
              <a:lnSpc>
                <a:spcPct val="115000"/>
              </a:lnSpc>
              <a:spcBef>
                <a:spcPts val="0"/>
              </a:spcBef>
              <a:spcAft>
                <a:spcPts val="0"/>
              </a:spcAft>
              <a:buClr>
                <a:schemeClr val="dk1"/>
              </a:buClr>
              <a:buSzPts val="1600"/>
              <a:buAutoNum type="arabicPeriod"/>
            </a:pPr>
            <a:r>
              <a:rPr lang="en" sz="1600">
                <a:solidFill>
                  <a:schemeClr val="dk1"/>
                </a:solidFill>
                <a:latin typeface="Roboto"/>
                <a:ea typeface="Roboto"/>
                <a:cs typeface="Roboto"/>
                <a:sym typeface="Roboto"/>
              </a:rPr>
              <a:t>"Send a Slack notification if it fails" → Copilot adds a </a:t>
            </a:r>
            <a:r>
              <a:rPr lang="en" sz="1600">
                <a:solidFill>
                  <a:srgbClr val="A31515"/>
                </a:solidFill>
                <a:latin typeface="Roboto"/>
                <a:ea typeface="Roboto"/>
                <a:cs typeface="Roboto"/>
                <a:sym typeface="Roboto"/>
              </a:rPr>
              <a:t>SlackIncomingWebhook</a:t>
            </a:r>
            <a:r>
              <a:rPr lang="en" sz="1600">
                <a:solidFill>
                  <a:schemeClr val="dk1"/>
                </a:solidFill>
                <a:latin typeface="Roboto"/>
                <a:ea typeface="Roboto"/>
                <a:cs typeface="Roboto"/>
                <a:sym typeface="Roboto"/>
              </a:rPr>
              <a:t> task in an </a:t>
            </a:r>
            <a:r>
              <a:rPr lang="en" sz="1600">
                <a:solidFill>
                  <a:srgbClr val="A31515"/>
                </a:solidFill>
                <a:latin typeface="Roboto"/>
                <a:ea typeface="Roboto"/>
                <a:cs typeface="Roboto"/>
                <a:sym typeface="Roboto"/>
              </a:rPr>
              <a:t>errors</a:t>
            </a:r>
            <a:r>
              <a:rPr lang="en" sz="1600">
                <a:solidFill>
                  <a:schemeClr val="dk1"/>
                </a:solidFill>
                <a:latin typeface="Roboto"/>
                <a:ea typeface="Roboto"/>
                <a:cs typeface="Roboto"/>
                <a:sym typeface="Roboto"/>
              </a:rPr>
              <a:t> branch</a:t>
            </a:r>
            <a:endParaRPr sz="1600">
              <a:solidFill>
                <a:schemeClr val="dk1"/>
              </a:solidFill>
              <a:latin typeface="Roboto"/>
              <a:ea typeface="Roboto"/>
              <a:cs typeface="Roboto"/>
              <a:sym typeface="Roboto"/>
            </a:endParaRPr>
          </a:p>
          <a:p>
            <a:pPr indent="0" lvl="0" marL="0" rtl="0" algn="l">
              <a:lnSpc>
                <a:spcPct val="115000"/>
              </a:lnSpc>
              <a:spcBef>
                <a:spcPts val="700"/>
              </a:spcBef>
              <a:spcAft>
                <a:spcPts val="0"/>
              </a:spcAft>
              <a:buNone/>
            </a:pPr>
            <a:r>
              <a:t/>
            </a:r>
            <a:endParaRPr sz="1600">
              <a:solidFill>
                <a:schemeClr val="dk1"/>
              </a:solidFill>
              <a:latin typeface="Roboto"/>
              <a:ea typeface="Roboto"/>
              <a:cs typeface="Roboto"/>
              <a:sym typeface="Roboto"/>
            </a:endParaRPr>
          </a:p>
          <a:p>
            <a:pPr indent="0" lvl="0" marL="0" rtl="0" algn="l">
              <a:lnSpc>
                <a:spcPct val="115000"/>
              </a:lnSpc>
              <a:spcBef>
                <a:spcPts val="0"/>
              </a:spcBef>
              <a:spcAft>
                <a:spcPts val="1200"/>
              </a:spcAft>
              <a:buNone/>
            </a:pPr>
            <a:r>
              <a:t/>
            </a:r>
            <a:endParaRPr sz="1600">
              <a:solidFill>
                <a:schemeClr val="dk1"/>
              </a:solidFill>
              <a:latin typeface="Roboto"/>
              <a:ea typeface="Roboto"/>
              <a:cs typeface="Roboto"/>
              <a:sym typeface="Roboto"/>
            </a:endParaRPr>
          </a:p>
        </p:txBody>
      </p:sp>
      <p:sp>
        <p:nvSpPr>
          <p:cNvPr id="238" name="Google Shape;238;p37"/>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cxnSp>
        <p:nvCxnSpPr>
          <p:cNvPr id="243" name="Google Shape;243;p38"/>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44" name="Google Shape;244;p38"/>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Iterative Refinement</a:t>
            </a:r>
            <a:endParaRPr b="0" sz="1800">
              <a:solidFill>
                <a:srgbClr val="0B5394"/>
              </a:solidFill>
              <a:latin typeface="Roboto Medium"/>
              <a:ea typeface="Roboto Medium"/>
              <a:cs typeface="Roboto Medium"/>
              <a:sym typeface="Roboto Medium"/>
            </a:endParaRPr>
          </a:p>
        </p:txBody>
      </p:sp>
      <p:sp>
        <p:nvSpPr>
          <p:cNvPr id="245" name="Google Shape;245;p38"/>
          <p:cNvSpPr txBox="1"/>
          <p:nvPr/>
        </p:nvSpPr>
        <p:spPr>
          <a:xfrm>
            <a:off x="428625" y="952500"/>
            <a:ext cx="8286900" cy="325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solidFill>
                  <a:schemeClr val="dk1"/>
                </a:solidFill>
                <a:latin typeface="Roboto"/>
                <a:ea typeface="Roboto"/>
                <a:cs typeface="Roboto"/>
                <a:sym typeface="Roboto"/>
              </a:rPr>
              <a:t>Then you make the final tweaks manually - adjusting the SQL query, setting your specific Slack channel, or adding a retry count that matches your SLA. You're collaborating with AI, not starting from scratch each time.</a:t>
            </a:r>
            <a:endParaRPr sz="16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600">
              <a:solidFill>
                <a:schemeClr val="dk1"/>
              </a:solidFill>
              <a:latin typeface="Roboto"/>
              <a:ea typeface="Roboto"/>
              <a:cs typeface="Roboto"/>
              <a:sym typeface="Roboto"/>
            </a:endParaRPr>
          </a:p>
          <a:p>
            <a:pPr indent="0" lvl="0" marL="0" rtl="0" algn="l">
              <a:lnSpc>
                <a:spcPct val="115000"/>
              </a:lnSpc>
              <a:spcBef>
                <a:spcPts val="0"/>
              </a:spcBef>
              <a:spcAft>
                <a:spcPts val="1200"/>
              </a:spcAft>
              <a:buNone/>
            </a:pPr>
            <a:r>
              <a:t/>
            </a:r>
            <a:endParaRPr sz="1600">
              <a:solidFill>
                <a:schemeClr val="dk1"/>
              </a:solidFill>
              <a:latin typeface="Roboto"/>
              <a:ea typeface="Roboto"/>
              <a:cs typeface="Roboto"/>
              <a:sym typeface="Roboto"/>
            </a:endParaRPr>
          </a:p>
        </p:txBody>
      </p:sp>
      <p:sp>
        <p:nvSpPr>
          <p:cNvPr id="246" name="Google Shape;246;p38"/>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Example Use Cases</a:t>
            </a:r>
            <a:endParaRPr b="1">
              <a:solidFill>
                <a:schemeClr val="accent3"/>
              </a:solidFill>
              <a:latin typeface="Roboto"/>
              <a:ea typeface="Roboto"/>
              <a:cs typeface="Roboto"/>
              <a:sym typeface="Roboto"/>
            </a:endParaRPr>
          </a:p>
          <a:p>
            <a:pPr indent="-330200" lvl="0" marL="457200" rtl="0" algn="l">
              <a:spcBef>
                <a:spcPts val="0"/>
              </a:spcBef>
              <a:spcAft>
                <a:spcPts val="0"/>
              </a:spcAft>
              <a:buClr>
                <a:schemeClr val="dk2"/>
              </a:buClr>
              <a:buSzPts val="1600"/>
              <a:buChar char="•"/>
            </a:pPr>
            <a:r>
              <a:rPr lang="en">
                <a:solidFill>
                  <a:schemeClr val="dk2"/>
                </a:solidFill>
              </a:rPr>
              <a:t>Alternative: Agent Skills</a:t>
            </a:r>
            <a:endParaRPr>
              <a:solidFill>
                <a:schemeClr val="dk2"/>
              </a:solidFill>
            </a:endParaRPr>
          </a:p>
        </p:txBody>
      </p:sp>
      <p:sp>
        <p:nvSpPr>
          <p:cNvPr id="252" name="Google Shape;252;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9"/>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Example Use Cases</a:t>
            </a:r>
            <a:endParaRPr>
              <a:solidFill>
                <a:schemeClr val="accent3"/>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cxnSp>
        <p:nvCxnSpPr>
          <p:cNvPr id="258" name="Google Shape;258;p40"/>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59" name="Google Shape;259;p40"/>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Example Use Cases</a:t>
            </a:r>
            <a:endParaRPr b="0" sz="1800">
              <a:solidFill>
                <a:srgbClr val="0B5394"/>
              </a:solidFill>
              <a:latin typeface="Roboto Medium"/>
              <a:ea typeface="Roboto Medium"/>
              <a:cs typeface="Roboto Medium"/>
              <a:sym typeface="Roboto Medium"/>
            </a:endParaRPr>
          </a:p>
        </p:txBody>
      </p:sp>
      <p:sp>
        <p:nvSpPr>
          <p:cNvPr id="260" name="Google Shape;260;p40"/>
          <p:cNvSpPr txBox="1"/>
          <p:nvPr/>
        </p:nvSpPr>
        <p:spPr>
          <a:xfrm>
            <a:off x="428625" y="952500"/>
            <a:ext cx="8286900" cy="16425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Generate new flows: "Create a flow that syncs data from Postgres to GCS"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Add tasks: "Add an If-task performing conditional branching"</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Configure triggers: "Add a webhook trigger"</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Add error handling: "Add retry logic with exponential backoff"</a:t>
            </a:r>
            <a:endParaRPr sz="1800">
              <a:solidFill>
                <a:schemeClr val="dk1"/>
              </a:solidFill>
              <a:latin typeface="Roboto"/>
              <a:ea typeface="Roboto"/>
              <a:cs typeface="Roboto"/>
              <a:sym typeface="Roboto"/>
            </a:endParaRPr>
          </a:p>
          <a:p>
            <a:pPr indent="0" lvl="0" marL="0" rtl="0" algn="l">
              <a:lnSpc>
                <a:spcPct val="115000"/>
              </a:lnSpc>
              <a:spcBef>
                <a:spcPts val="700"/>
              </a:spcBef>
              <a:spcAft>
                <a:spcPts val="1200"/>
              </a:spcAft>
              <a:buNone/>
            </a:pPr>
            <a:r>
              <a:t/>
            </a:r>
            <a:endParaRPr sz="1800">
              <a:solidFill>
                <a:schemeClr val="dk1"/>
              </a:solidFill>
              <a:latin typeface="Roboto"/>
              <a:ea typeface="Roboto"/>
              <a:cs typeface="Roboto"/>
              <a:sym typeface="Roboto"/>
            </a:endParaRPr>
          </a:p>
        </p:txBody>
      </p:sp>
      <p:sp>
        <p:nvSpPr>
          <p:cNvPr id="261" name="Google Shape;261;p40"/>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1"/>
          <p:cNvSpPr txBox="1"/>
          <p:nvPr>
            <p:ph idx="1" type="body"/>
          </p:nvPr>
        </p:nvSpPr>
        <p:spPr>
          <a:xfrm>
            <a:off x="4812375" y="402200"/>
            <a:ext cx="42753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t/>
            </a:r>
            <a:endParaRPr>
              <a:solidFill>
                <a:schemeClr val="dk2"/>
              </a:solidFill>
            </a:endParaRPr>
          </a:p>
          <a:p>
            <a:pPr indent="-330200" lvl="0" marL="457200" rtl="0" algn="l">
              <a:spcBef>
                <a:spcPts val="600"/>
              </a:spcBef>
              <a:spcAft>
                <a:spcPts val="0"/>
              </a:spcAft>
              <a:buClr>
                <a:schemeClr val="dk2"/>
              </a:buClr>
              <a:buSzPts val="1600"/>
              <a:buChar char="•"/>
            </a:pPr>
            <a:r>
              <a:rPr lang="en">
                <a:solidFill>
                  <a:schemeClr val="dk2"/>
                </a:solidFill>
              </a:rPr>
              <a:t>AI Copilot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Setup</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Hands-On: Compare Copilot vs. Raw ChatGPT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The 5% Rule</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Iterative Refinement</a:t>
            </a:r>
            <a:endParaRPr>
              <a:solidFill>
                <a:schemeClr val="dk2"/>
              </a:solidFill>
            </a:endParaRPr>
          </a:p>
          <a:p>
            <a:pPr indent="-330200" lvl="0" marL="457200" rtl="0" algn="l">
              <a:spcBef>
                <a:spcPts val="0"/>
              </a:spcBef>
              <a:spcAft>
                <a:spcPts val="0"/>
              </a:spcAft>
              <a:buClr>
                <a:schemeClr val="dk2"/>
              </a:buClr>
              <a:buSzPts val="1600"/>
              <a:buChar char="•"/>
            </a:pPr>
            <a:r>
              <a:rPr lang="en">
                <a:solidFill>
                  <a:schemeClr val="dk2"/>
                </a:solidFill>
              </a:rPr>
              <a:t>Example Use Cases</a:t>
            </a:r>
            <a:endParaRPr>
              <a:solidFill>
                <a:schemeClr val="dk2"/>
              </a:solidFill>
            </a:endParaRPr>
          </a:p>
          <a:p>
            <a:pPr indent="-330200" lvl="0" marL="457200" rtl="0" algn="l">
              <a:spcBef>
                <a:spcPts val="0"/>
              </a:spcBef>
              <a:spcAft>
                <a:spcPts val="0"/>
              </a:spcAft>
              <a:buClr>
                <a:schemeClr val="accent3"/>
              </a:buClr>
              <a:buSzPts val="1600"/>
              <a:buFont typeface="Roboto"/>
              <a:buChar char="•"/>
            </a:pPr>
            <a:r>
              <a:rPr b="1" lang="en">
                <a:solidFill>
                  <a:schemeClr val="accent3"/>
                </a:solidFill>
                <a:latin typeface="Roboto"/>
                <a:ea typeface="Roboto"/>
                <a:cs typeface="Roboto"/>
                <a:sym typeface="Roboto"/>
              </a:rPr>
              <a:t>Alternative: Agent Skills</a:t>
            </a:r>
            <a:endParaRPr b="1">
              <a:solidFill>
                <a:schemeClr val="accent3"/>
              </a:solidFill>
              <a:latin typeface="Roboto"/>
              <a:ea typeface="Roboto"/>
              <a:cs typeface="Roboto"/>
              <a:sym typeface="Roboto"/>
            </a:endParaRPr>
          </a:p>
        </p:txBody>
      </p:sp>
      <p:sp>
        <p:nvSpPr>
          <p:cNvPr id="267" name="Google Shape;26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41"/>
          <p:cNvSpPr txBox="1"/>
          <p:nvPr>
            <p:ph type="title"/>
          </p:nvPr>
        </p:nvSpPr>
        <p:spPr>
          <a:xfrm>
            <a:off x="177925" y="2003300"/>
            <a:ext cx="42753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3"/>
                </a:solidFill>
              </a:rPr>
              <a:t>Alternative: Agent Skills</a:t>
            </a:r>
            <a:endParaRPr>
              <a:solidFill>
                <a:schemeClr val="accent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cxnSp>
        <p:nvCxnSpPr>
          <p:cNvPr id="273" name="Google Shape;273;p42"/>
          <p:cNvCxnSpPr/>
          <p:nvPr/>
        </p:nvCxnSpPr>
        <p:spPr>
          <a:xfrm>
            <a:off x="428625" y="762000"/>
            <a:ext cx="8286900" cy="0"/>
          </a:xfrm>
          <a:prstGeom prst="straightConnector1">
            <a:avLst/>
          </a:prstGeom>
          <a:solidFill>
            <a:srgbClr val="FFFFFF"/>
          </a:solidFill>
          <a:ln cap="flat" cmpd="sng" w="19050">
            <a:solidFill>
              <a:srgbClr val="BF9000"/>
            </a:solidFill>
            <a:prstDash val="solid"/>
            <a:round/>
            <a:headEnd len="med" w="med" type="none"/>
            <a:tailEnd len="med" w="med" type="none"/>
          </a:ln>
        </p:spPr>
      </p:cxnSp>
      <p:sp>
        <p:nvSpPr>
          <p:cNvPr id="274" name="Google Shape;274;p42"/>
          <p:cNvSpPr txBox="1"/>
          <p:nvPr>
            <p:ph type="title"/>
          </p:nvPr>
        </p:nvSpPr>
        <p:spPr>
          <a:xfrm>
            <a:off x="333375" y="238125"/>
            <a:ext cx="8520600" cy="476400"/>
          </a:xfrm>
          <a:prstGeom prst="rect">
            <a:avLst/>
          </a:prstGeom>
          <a:solidFill>
            <a:srgbClr val="000000">
              <a:alpha val="0"/>
            </a:srgbClr>
          </a:solidFill>
          <a:ln>
            <a:noFill/>
          </a:ln>
        </p:spPr>
        <p:txBody>
          <a:bodyPr anchorCtr="0" anchor="ctr" bIns="0" lIns="95250" spcFirstLastPara="1" rIns="0" wrap="square" tIns="0">
            <a:noAutofit/>
          </a:bodyPr>
          <a:lstStyle/>
          <a:p>
            <a:pPr indent="0" lvl="0" marL="0" rtl="0" algn="l">
              <a:spcBef>
                <a:spcPts val="0"/>
              </a:spcBef>
              <a:spcAft>
                <a:spcPts val="0"/>
              </a:spcAft>
              <a:buNone/>
            </a:pPr>
            <a:r>
              <a:rPr lang="en" sz="1800"/>
              <a:t>Alternative: Agent Skills</a:t>
            </a:r>
            <a:endParaRPr b="0" sz="1800">
              <a:solidFill>
                <a:srgbClr val="0B5394"/>
              </a:solidFill>
              <a:latin typeface="Roboto Medium"/>
              <a:ea typeface="Roboto Medium"/>
              <a:cs typeface="Roboto Medium"/>
              <a:sym typeface="Roboto Medium"/>
            </a:endParaRPr>
          </a:p>
        </p:txBody>
      </p:sp>
      <p:sp>
        <p:nvSpPr>
          <p:cNvPr id="275" name="Google Shape;275;p42"/>
          <p:cNvSpPr txBox="1"/>
          <p:nvPr/>
        </p:nvSpPr>
        <p:spPr>
          <a:xfrm>
            <a:off x="428625" y="952500"/>
            <a:ext cx="8286900" cy="110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solidFill>
                  <a:schemeClr val="dk1"/>
                </a:solidFill>
                <a:latin typeface="Roboto"/>
                <a:ea typeface="Roboto"/>
                <a:cs typeface="Roboto"/>
                <a:sym typeface="Roboto"/>
              </a:rPr>
              <a:t>If you're using an AI coding assistant (such as Claude or Cursor), Kestra's </a:t>
            </a:r>
            <a:r>
              <a:rPr lang="en" sz="1800">
                <a:solidFill>
                  <a:srgbClr val="006AB1"/>
                </a:solidFill>
                <a:uFill>
                  <a:noFill/>
                </a:uFill>
                <a:latin typeface="Roboto"/>
                <a:ea typeface="Roboto"/>
                <a:cs typeface="Roboto"/>
                <a:sym typeface="Roboto"/>
                <a:hlinkClick r:id="rId3">
                  <a:extLst>
                    <a:ext uri="{A12FA001-AC4F-418D-AE19-62706E023703}">
                      <ahyp:hlinkClr val="tx"/>
                    </a:ext>
                  </a:extLst>
                </a:hlinkClick>
              </a:rPr>
              <a:t>agent-skills</a:t>
            </a:r>
            <a:r>
              <a:rPr lang="en" sz="1800">
                <a:solidFill>
                  <a:schemeClr val="dk1"/>
                </a:solidFill>
                <a:latin typeface="Roboto"/>
                <a:ea typeface="Roboto"/>
                <a:cs typeface="Roboto"/>
                <a:sym typeface="Roboto"/>
              </a:rPr>
              <a:t> repository gives your AI assistant the same grounding that AI Copilot has inside the UI — current plugin documentation, valid property names, and best practices. This means you can generate reliable, correct Kestra flows directly from your editor without switching to the Kestra UI.</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1200"/>
              </a:spcAft>
              <a:buNone/>
            </a:pPr>
            <a:r>
              <a:t/>
            </a:r>
            <a:endParaRPr sz="1800">
              <a:solidFill>
                <a:schemeClr val="dk1"/>
              </a:solidFill>
              <a:latin typeface="Roboto"/>
              <a:ea typeface="Roboto"/>
              <a:cs typeface="Roboto"/>
              <a:sym typeface="Roboto"/>
            </a:endParaRPr>
          </a:p>
        </p:txBody>
      </p:sp>
      <p:sp>
        <p:nvSpPr>
          <p:cNvPr id="276" name="Google Shape;276;p42"/>
          <p:cNvSpPr txBox="1"/>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sz="1000">
                <a:solidFill>
                  <a:srgbClr val="000000"/>
                </a:solidFill>
                <a:latin typeface="Roboto"/>
                <a:ea typeface="Roboto"/>
                <a:cs typeface="Roboto"/>
                <a:sym typeface="Roboto"/>
              </a:rPr>
              <a:t>‹#›</a:t>
            </a:fld>
            <a:endParaRPr sz="1000">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B7B7B7"/>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