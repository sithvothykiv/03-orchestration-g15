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Roboto Medium"/>
      <p:regular r:id="rId16"/>
      <p:bold r:id="rId17"/>
      <p:italic r:id="rId18"/>
      <p:boldItalic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Roboto Ligh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RobotoLight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Light-italic.fntdata"/><Relationship Id="rId25" Type="http://schemas.openxmlformats.org/officeDocument/2006/relationships/font" Target="fonts/RobotoLight-bold.fntdata"/><Relationship Id="rId27" Type="http://schemas.openxmlformats.org/officeDocument/2006/relationships/font" Target="fonts/RobotoLigh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obotoMedium-bold.fntdata"/><Relationship Id="rId16" Type="http://schemas.openxmlformats.org/officeDocument/2006/relationships/font" Target="fonts/RobotoMedium-regular.fntdata"/><Relationship Id="rId19" Type="http://schemas.openxmlformats.org/officeDocument/2006/relationships/font" Target="fonts/RobotoMedium-boldItalic.fntdata"/><Relationship Id="rId18" Type="http://schemas.openxmlformats.org/officeDocument/2006/relationships/font" Target="fonts/Roboto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9143fda576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9143fda576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9143fda576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9143fda576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629e398ab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629e398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5bca5494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5bca5494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629e398ab_0_47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f629e398ab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5bca5494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f5bca5494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629e398ab_0_48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f629e398ab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5bca5494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f5bca5494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629e398ab_0_83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629e398ab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5bca5494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f5bca5494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629e398ab_0_86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f629e398ab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" name="Google Shape;22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27" name="Google Shape;2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9" name="Google Shape;29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8" name="Google Shape;38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5" name="Google Shape;45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" name="Google Shape;4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3" name="Google Shape;53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4" name="Google Shape;5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" name="Google Shape;60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3" name="Google Shape;63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4" name="Google Shape;6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9" name="Google Shape;69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2" name="Google Shape;72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3" name="Google Shape;7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9" name="Google Shape;79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4" name="Google Shape;84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5"/>
          <p:cNvSpPr txBox="1"/>
          <p:nvPr>
            <p:ph type="title"/>
          </p:nvPr>
        </p:nvSpPr>
        <p:spPr>
          <a:xfrm>
            <a:off x="95425" y="4382350"/>
            <a:ext cx="84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97" name="Google Shape;97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6" name="Google Shape;10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8" name="Google Shape;108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" name="Google Shape;114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" name="Google Shape;12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30" name="Google Shape;13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f06253986f_7_0)">
  <p:cSld name="Title and body (g3f06253986f_7_0)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43" name="Google Shape;14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f06253986f_14_0)">
  <p:cSld name="Title and body (g3f06253986f_14_0)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47" name="Google Shape;1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theme" Target="../theme/theme2.xml"/><Relationship Id="rId25" Type="http://schemas.openxmlformats.org/officeDocument/2006/relationships/slideLayout" Target="../slideLayouts/slideLayout24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30200" lvl="2" marL="1371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30200" lvl="3" marL="1828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30200" lvl="4" marL="22860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30200" lvl="5" marL="2743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30200" lvl="6" marL="3200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30200" lvl="7" marL="3657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30200" lvl="8" marL="4114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ctrTitle"/>
          </p:nvPr>
        </p:nvSpPr>
        <p:spPr>
          <a:xfrm>
            <a:off x="311700" y="1811375"/>
            <a:ext cx="8709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</a:rPr>
              <a:t>AI Orchestration</a:t>
            </a:r>
            <a:endParaRPr sz="4200"/>
          </a:p>
        </p:txBody>
      </p:sp>
      <p:sp>
        <p:nvSpPr>
          <p:cNvPr id="153" name="Google Shape;153;p26"/>
          <p:cNvSpPr txBox="1"/>
          <p:nvPr/>
        </p:nvSpPr>
        <p:spPr>
          <a:xfrm>
            <a:off x="345775" y="28927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01 | July, 2026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4" name="Google Shape;15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6"/>
          <p:cNvSpPr txBox="1"/>
          <p:nvPr/>
        </p:nvSpPr>
        <p:spPr>
          <a:xfrm>
            <a:off x="311700" y="3769550"/>
            <a:ext cx="8520600" cy="11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Instructor</a:t>
            </a: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: Sithvothy Kiv 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Josh Hug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4812375" y="402200"/>
            <a:ext cx="42753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Intro to AI Orchestration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Learning Objectives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Prerequisites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Why AI for Workflows?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What Makes This Different from AI Assistants?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1" name="Google Shape;16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7"/>
          <p:cNvSpPr txBox="1"/>
          <p:nvPr>
            <p:ph type="title"/>
          </p:nvPr>
        </p:nvSpPr>
        <p:spPr>
          <a:xfrm>
            <a:off x="177925" y="2003300"/>
            <a:ext cx="42753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Intro</a:t>
            </a:r>
            <a:r>
              <a:rPr lang="en">
                <a:solidFill>
                  <a:schemeClr val="accent3"/>
                </a:solidFill>
              </a:rPr>
              <a:t> </a:t>
            </a:r>
            <a:r>
              <a:rPr lang="en">
                <a:solidFill>
                  <a:schemeClr val="accent3"/>
                </a:solidFill>
              </a:rPr>
              <a:t>AI Orchestration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Google Shape;167;p28"/>
          <p:cNvCxnSpPr/>
          <p:nvPr/>
        </p:nvCxnSpPr>
        <p:spPr>
          <a:xfrm>
            <a:off x="428625" y="762000"/>
            <a:ext cx="82869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p28"/>
          <p:cNvSpPr txBox="1"/>
          <p:nvPr>
            <p:ph type="title"/>
          </p:nvPr>
        </p:nvSpPr>
        <p:spPr>
          <a:xfrm>
            <a:off x="333375" y="238125"/>
            <a:ext cx="85206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Intro AI Orchestration</a:t>
            </a:r>
            <a:endParaRPr b="0" sz="24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169" name="Google Shape;169;p28"/>
          <p:cNvGrpSpPr/>
          <p:nvPr/>
        </p:nvGrpSpPr>
        <p:grpSpPr>
          <a:xfrm>
            <a:off x="428625" y="952500"/>
            <a:ext cx="8286900" cy="571500"/>
            <a:chOff x="0" y="0"/>
            <a:chExt cx="8286900" cy="571500"/>
          </a:xfrm>
        </p:grpSpPr>
        <p:sp>
          <p:nvSpPr>
            <p:cNvPr id="170" name="Google Shape;170;p28"/>
            <p:cNvSpPr/>
            <p:nvPr/>
          </p:nvSpPr>
          <p:spPr>
            <a:xfrm>
              <a:off x="0" y="0"/>
              <a:ext cx="82869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8"/>
            <p:cNvSpPr txBox="1"/>
            <p:nvPr/>
          </p:nvSpPr>
          <p:spPr>
            <a:xfrm>
              <a:off x="0" y="0"/>
              <a:ext cx="8286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This module introduces AI-powered workflow orchestration using Kestra. You'll learn how AI can accelerate workflow development and enable autonomous task automation through three key techniques:</a:t>
              </a:r>
              <a:endParaRPr b="0" sz="13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2" name="Google Shape;172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3" name="Google Shape;173;p28"/>
          <p:cNvGrpSpPr/>
          <p:nvPr/>
        </p:nvGrpSpPr>
        <p:grpSpPr>
          <a:xfrm>
            <a:off x="428625" y="1666875"/>
            <a:ext cx="2571900" cy="2571900"/>
            <a:chOff x="0" y="0"/>
            <a:chExt cx="2571900" cy="2571900"/>
          </a:xfrm>
        </p:grpSpPr>
        <p:sp>
          <p:nvSpPr>
            <p:cNvPr id="174" name="Google Shape;174;p28"/>
            <p:cNvSpPr/>
            <p:nvPr/>
          </p:nvSpPr>
          <p:spPr>
            <a:xfrm>
              <a:off x="0" y="0"/>
              <a:ext cx="2571900" cy="2571900"/>
            </a:xfrm>
            <a:prstGeom prst="roundRect">
              <a:avLst>
                <a:gd fmla="val 296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8"/>
            <p:cNvSpPr txBox="1"/>
            <p:nvPr/>
          </p:nvSpPr>
          <p:spPr>
            <a:xfrm>
              <a:off x="190500" y="190500"/>
              <a:ext cx="2190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0B539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auto_awesome</a:t>
              </a:r>
              <a:endParaRPr sz="3200">
                <a:solidFill>
                  <a:srgbClr val="0B539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B5394"/>
                  </a:solidFill>
                  <a:latin typeface="Roboto"/>
                  <a:ea typeface="Roboto"/>
                  <a:cs typeface="Roboto"/>
                  <a:sym typeface="Roboto"/>
                </a:rPr>
                <a:t>AI Copilot</a:t>
              </a:r>
              <a:endParaRPr b="1" sz="16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BF9000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Generating Flows</a:t>
              </a:r>
              <a:endParaRPr b="0" sz="11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Accelerate development by automatically generating complex workflows and Kestra configurations using natural language prompts.</a:t>
              </a:r>
              <a:endParaRPr b="0" sz="11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6" name="Google Shape;176;p28"/>
          <p:cNvGrpSpPr/>
          <p:nvPr/>
        </p:nvGrpSpPr>
        <p:grpSpPr>
          <a:xfrm>
            <a:off x="3286125" y="1666875"/>
            <a:ext cx="2571900" cy="2571900"/>
            <a:chOff x="0" y="0"/>
            <a:chExt cx="2571900" cy="2571900"/>
          </a:xfrm>
        </p:grpSpPr>
        <p:sp>
          <p:nvSpPr>
            <p:cNvPr id="177" name="Google Shape;177;p28"/>
            <p:cNvSpPr/>
            <p:nvPr/>
          </p:nvSpPr>
          <p:spPr>
            <a:xfrm>
              <a:off x="0" y="0"/>
              <a:ext cx="2571900" cy="2571900"/>
            </a:xfrm>
            <a:prstGeom prst="roundRect">
              <a:avLst>
                <a:gd fmla="val 296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8"/>
            <p:cNvSpPr txBox="1"/>
            <p:nvPr/>
          </p:nvSpPr>
          <p:spPr>
            <a:xfrm>
              <a:off x="190500" y="190500"/>
              <a:ext cx="2190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0B539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3200">
                <a:solidFill>
                  <a:srgbClr val="0B539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B5394"/>
                  </a:solidFill>
                  <a:latin typeface="Roboto"/>
                  <a:ea typeface="Roboto"/>
                  <a:cs typeface="Roboto"/>
                  <a:sym typeface="Roboto"/>
                </a:rPr>
                <a:t>RAG</a:t>
              </a:r>
              <a:endParaRPr b="1" sz="16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BF9000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Grounding Responses</a:t>
              </a:r>
              <a:endParaRPr b="0" sz="11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Ground responses in your business's real-time, authoritative data sources to ensure highly accurate, contextual workflow execution.</a:t>
              </a:r>
              <a:endParaRPr b="0" sz="11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9" name="Google Shape;179;p28"/>
          <p:cNvGrpSpPr/>
          <p:nvPr/>
        </p:nvGrpSpPr>
        <p:grpSpPr>
          <a:xfrm>
            <a:off x="6143625" y="1666875"/>
            <a:ext cx="2571900" cy="2571900"/>
            <a:chOff x="0" y="0"/>
            <a:chExt cx="2571900" cy="2571900"/>
          </a:xfrm>
        </p:grpSpPr>
        <p:sp>
          <p:nvSpPr>
            <p:cNvPr id="180" name="Google Shape;180;p28"/>
            <p:cNvSpPr/>
            <p:nvPr/>
          </p:nvSpPr>
          <p:spPr>
            <a:xfrm>
              <a:off x="0" y="0"/>
              <a:ext cx="2571900" cy="2571900"/>
            </a:xfrm>
            <a:prstGeom prst="roundRect">
              <a:avLst>
                <a:gd fmla="val 296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8"/>
            <p:cNvSpPr txBox="1"/>
            <p:nvPr/>
          </p:nvSpPr>
          <p:spPr>
            <a:xfrm>
              <a:off x="190500" y="190500"/>
              <a:ext cx="2190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0B539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smart_toy</a:t>
              </a:r>
              <a:endParaRPr sz="3200">
                <a:solidFill>
                  <a:srgbClr val="0B539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B5394"/>
                  </a:solidFill>
                  <a:latin typeface="Roboto"/>
                  <a:ea typeface="Roboto"/>
                  <a:cs typeface="Roboto"/>
                  <a:sym typeface="Roboto"/>
                </a:rPr>
                <a:t>AI Agents</a:t>
              </a:r>
              <a:endParaRPr b="1" sz="16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BF9000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Autonomous Execution</a:t>
              </a:r>
              <a:endParaRPr b="0" sz="11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Deploy intelligent agents capable of independent decision-making and executing complex, multi-step tasks across integrated systems.</a:t>
              </a:r>
              <a:endParaRPr b="0" sz="11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>
            <p:ph idx="1" type="body"/>
          </p:nvPr>
        </p:nvSpPr>
        <p:spPr>
          <a:xfrm>
            <a:off x="4812375" y="402200"/>
            <a:ext cx="42753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Intro to AI Orchestration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Prerequisites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Why AI for Workflows?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What Makes This Different from AI Assistants?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7" name="Google Shape;18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29"/>
          <p:cNvSpPr txBox="1"/>
          <p:nvPr>
            <p:ph type="title"/>
          </p:nvPr>
        </p:nvSpPr>
        <p:spPr>
          <a:xfrm>
            <a:off x="177925" y="2003300"/>
            <a:ext cx="42753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Learning objectives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3" name="Google Shape;193;p30"/>
          <p:cNvCxnSpPr/>
          <p:nvPr/>
        </p:nvCxnSpPr>
        <p:spPr>
          <a:xfrm>
            <a:off x="428625" y="762000"/>
            <a:ext cx="82869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" name="Google Shape;194;p30"/>
          <p:cNvSpPr txBox="1"/>
          <p:nvPr>
            <p:ph type="title"/>
          </p:nvPr>
        </p:nvSpPr>
        <p:spPr>
          <a:xfrm>
            <a:off x="333375" y="238125"/>
            <a:ext cx="85206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Intro AI Orchestration</a:t>
            </a:r>
            <a:endParaRPr b="0" sz="24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195" name="Google Shape;195;p30"/>
          <p:cNvGrpSpPr/>
          <p:nvPr/>
        </p:nvGrpSpPr>
        <p:grpSpPr>
          <a:xfrm>
            <a:off x="428625" y="952500"/>
            <a:ext cx="8286900" cy="2041200"/>
            <a:chOff x="0" y="0"/>
            <a:chExt cx="8286900" cy="2041200"/>
          </a:xfrm>
        </p:grpSpPr>
        <p:sp>
          <p:nvSpPr>
            <p:cNvPr id="196" name="Google Shape;196;p30"/>
            <p:cNvSpPr/>
            <p:nvPr/>
          </p:nvSpPr>
          <p:spPr>
            <a:xfrm>
              <a:off x="0" y="0"/>
              <a:ext cx="82869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30"/>
            <p:cNvSpPr txBox="1"/>
            <p:nvPr/>
          </p:nvSpPr>
          <p:spPr>
            <a:xfrm>
              <a:off x="0" y="0"/>
              <a:ext cx="8286900" cy="20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500">
                  <a:solidFill>
                    <a:srgbClr val="1F2328"/>
                  </a:solidFill>
                  <a:latin typeface="Roboto"/>
                  <a:ea typeface="Roboto"/>
                  <a:cs typeface="Roboto"/>
                  <a:sym typeface="Roboto"/>
                </a:rPr>
                <a:t>By the end of this module, you will:</a:t>
              </a:r>
              <a:endParaRPr sz="15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2328"/>
                </a:buClr>
                <a:buSzPts val="1500"/>
                <a:buFont typeface="Roboto"/>
                <a:buChar char="●"/>
              </a:pPr>
              <a:r>
                <a:rPr lang="en" sz="1500">
                  <a:solidFill>
                    <a:srgbClr val="1F2328"/>
                  </a:solidFill>
                  <a:latin typeface="Roboto"/>
                  <a:ea typeface="Roboto"/>
                  <a:cs typeface="Roboto"/>
                  <a:sym typeface="Roboto"/>
                </a:rPr>
                <a:t>Understand the importance of context engineering in AI applications</a:t>
              </a:r>
              <a:endParaRPr sz="15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2328"/>
                </a:buClr>
                <a:buSzPts val="1500"/>
                <a:buFont typeface="Roboto"/>
                <a:buChar char="●"/>
              </a:pPr>
              <a:r>
                <a:rPr lang="en" sz="1500">
                  <a:solidFill>
                    <a:srgbClr val="1F2328"/>
                  </a:solidFill>
                  <a:latin typeface="Roboto"/>
                  <a:ea typeface="Roboto"/>
                  <a:cs typeface="Roboto"/>
                  <a:sym typeface="Roboto"/>
                </a:rPr>
                <a:t>Use AI Copilot to build Kestra flows faster and more accurately</a:t>
              </a:r>
              <a:endParaRPr sz="15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2328"/>
                </a:buClr>
                <a:buSzPts val="1500"/>
                <a:buFont typeface="Roboto"/>
                <a:buChar char="●"/>
              </a:pPr>
              <a:r>
                <a:rPr lang="en" sz="1500">
                  <a:solidFill>
                    <a:srgbClr val="1F2328"/>
                  </a:solidFill>
                  <a:latin typeface="Roboto"/>
                  <a:ea typeface="Roboto"/>
                  <a:cs typeface="Roboto"/>
                  <a:sym typeface="Roboto"/>
                </a:rPr>
                <a:t>Implement Retrieval Augmented Generation (RAG) to ground AI responses in real data</a:t>
              </a:r>
              <a:endParaRPr sz="15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2328"/>
                </a:buClr>
                <a:buSzPts val="1500"/>
                <a:buFont typeface="Roboto"/>
                <a:buChar char="●"/>
              </a:pPr>
              <a:r>
                <a:rPr lang="en" sz="1500">
                  <a:solidFill>
                    <a:srgbClr val="1F2328"/>
                  </a:solidFill>
                  <a:latin typeface="Roboto"/>
                  <a:ea typeface="Roboto"/>
                  <a:cs typeface="Roboto"/>
                  <a:sym typeface="Roboto"/>
                </a:rPr>
                <a:t>Build autonomous AI agents that can make decisions and use tools dynamically</a:t>
              </a:r>
              <a:endParaRPr sz="15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2328"/>
                </a:buClr>
                <a:buSzPts val="1500"/>
                <a:buFont typeface="Roboto"/>
                <a:buChar char="●"/>
              </a:pPr>
              <a:r>
                <a:rPr lang="en" sz="1500">
                  <a:solidFill>
                    <a:srgbClr val="1F2328"/>
                  </a:solidFill>
                  <a:latin typeface="Roboto"/>
                  <a:ea typeface="Roboto"/>
                  <a:cs typeface="Roboto"/>
                  <a:sym typeface="Roboto"/>
                </a:rPr>
                <a:t>Design multi-agent systems where specialized agents collaborate to solve complex tasks</a:t>
              </a:r>
              <a:endParaRPr sz="15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2328"/>
                </a:buClr>
                <a:buSzPts val="1500"/>
                <a:buFont typeface="Roboto"/>
                <a:buChar char="●"/>
              </a:pPr>
              <a:r>
                <a:rPr lang="en" sz="1500">
                  <a:solidFill>
                    <a:srgbClr val="1F2328"/>
                  </a:solidFill>
                  <a:latin typeface="Roboto"/>
                  <a:ea typeface="Roboto"/>
                  <a:cs typeface="Roboto"/>
                  <a:sym typeface="Roboto"/>
                </a:rPr>
                <a:t>Apply best practices for using AI in production data workflows</a:t>
              </a:r>
              <a:endParaRPr sz="15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8" name="Google Shape;198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>
            <p:ph idx="1" type="body"/>
          </p:nvPr>
        </p:nvSpPr>
        <p:spPr>
          <a:xfrm>
            <a:off x="4812375" y="402200"/>
            <a:ext cx="42753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Intro to AI Orchestration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Learning Objectives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Prerequisites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Why AI for Workflows?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What Makes This Different from AI Assistants?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04" name="Google Shape;20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1"/>
          <p:cNvSpPr txBox="1"/>
          <p:nvPr>
            <p:ph type="title"/>
          </p:nvPr>
        </p:nvSpPr>
        <p:spPr>
          <a:xfrm>
            <a:off x="177925" y="2003300"/>
            <a:ext cx="42753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Prerequisites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/>
        </p:nvSpPr>
        <p:spPr>
          <a:xfrm>
            <a:off x="571500" y="2476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Prerequisites</a:t>
            </a:r>
            <a:endParaRPr b="1" sz="280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11" name="Google Shape;211;p32"/>
          <p:cNvGrpSpPr/>
          <p:nvPr/>
        </p:nvGrpSpPr>
        <p:grpSpPr>
          <a:xfrm>
            <a:off x="571500" y="1428750"/>
            <a:ext cx="2476500" cy="2667000"/>
            <a:chOff x="0" y="0"/>
            <a:chExt cx="2476500" cy="2667000"/>
          </a:xfrm>
        </p:grpSpPr>
        <p:sp>
          <p:nvSpPr>
            <p:cNvPr id="212" name="Google Shape;212;p32"/>
            <p:cNvSpPr/>
            <p:nvPr/>
          </p:nvSpPr>
          <p:spPr>
            <a:xfrm>
              <a:off x="0" y="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3" name="Google Shape;213;p32"/>
            <p:cNvGrpSpPr/>
            <p:nvPr/>
          </p:nvGrpSpPr>
          <p:grpSpPr>
            <a:xfrm>
              <a:off x="190500" y="228600"/>
              <a:ext cx="381000" cy="410210"/>
              <a:chOff x="0" y="0"/>
              <a:chExt cx="381000" cy="410210"/>
            </a:xfrm>
          </p:grpSpPr>
          <p:sp>
            <p:nvSpPr>
              <p:cNvPr id="214" name="Google Shape;214;p32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EBF5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32"/>
              <p:cNvSpPr txBox="1"/>
              <p:nvPr/>
            </p:nvSpPr>
            <p:spPr>
              <a:xfrm>
                <a:off x="0" y="2921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0B539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desktop_windows</a:t>
                </a:r>
                <a:endParaRPr sz="2000">
                  <a:solidFill>
                    <a:srgbClr val="0B539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216" name="Google Shape;216;p32"/>
            <p:cNvSpPr txBox="1"/>
            <p:nvPr/>
          </p:nvSpPr>
          <p:spPr>
            <a:xfrm>
              <a:off x="190500" y="762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Local Setup</a:t>
              </a:r>
              <a:endParaRPr b="1" sz="14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7" name="Google Shape;217;p32"/>
            <p:cNvSpPr txBox="1"/>
            <p:nvPr/>
          </p:nvSpPr>
          <p:spPr>
            <a:xfrm>
              <a:off x="190500" y="1190625"/>
              <a:ext cx="2095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75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Ensure you have a local instance of Kestra up and running.</a:t>
              </a:r>
              <a:endParaRPr sz="11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8" name="Google Shape;218;p32"/>
          <p:cNvGrpSpPr/>
          <p:nvPr/>
        </p:nvGrpSpPr>
        <p:grpSpPr>
          <a:xfrm>
            <a:off x="3333750" y="1428750"/>
            <a:ext cx="2476500" cy="2667000"/>
            <a:chOff x="0" y="0"/>
            <a:chExt cx="2476500" cy="2667000"/>
          </a:xfrm>
        </p:grpSpPr>
        <p:sp>
          <p:nvSpPr>
            <p:cNvPr id="219" name="Google Shape;219;p32"/>
            <p:cNvSpPr/>
            <p:nvPr/>
          </p:nvSpPr>
          <p:spPr>
            <a:xfrm>
              <a:off x="0" y="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0" name="Google Shape;220;p32"/>
            <p:cNvGrpSpPr/>
            <p:nvPr/>
          </p:nvGrpSpPr>
          <p:grpSpPr>
            <a:xfrm>
              <a:off x="190500" y="228600"/>
              <a:ext cx="381000" cy="410210"/>
              <a:chOff x="0" y="0"/>
              <a:chExt cx="381000" cy="410210"/>
            </a:xfrm>
          </p:grpSpPr>
          <p:sp>
            <p:nvSpPr>
              <p:cNvPr id="221" name="Google Shape;221;p32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EBF5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32"/>
              <p:cNvSpPr txBox="1"/>
              <p:nvPr/>
            </p:nvSpPr>
            <p:spPr>
              <a:xfrm>
                <a:off x="0" y="2921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0B539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cloud</a:t>
                </a:r>
                <a:endParaRPr sz="2000">
                  <a:solidFill>
                    <a:srgbClr val="0B539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223" name="Google Shape;223;p32"/>
            <p:cNvSpPr txBox="1"/>
            <p:nvPr/>
          </p:nvSpPr>
          <p:spPr>
            <a:xfrm>
              <a:off x="190500" y="762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Cloud &amp; API Access</a:t>
              </a:r>
              <a:endParaRPr b="1" sz="14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4" name="Google Shape;224;p32"/>
            <p:cNvSpPr txBox="1"/>
            <p:nvPr/>
          </p:nvSpPr>
          <p:spPr>
            <a:xfrm>
              <a:off x="190500" y="1190625"/>
              <a:ext cx="2095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Active Google Cloud account with programmatic access enabled for the Gemini API platform.</a:t>
              </a:r>
              <a:endParaRPr sz="11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5" name="Google Shape;225;p32"/>
          <p:cNvGrpSpPr/>
          <p:nvPr/>
        </p:nvGrpSpPr>
        <p:grpSpPr>
          <a:xfrm>
            <a:off x="6096000" y="1428750"/>
            <a:ext cx="2476500" cy="2667000"/>
            <a:chOff x="0" y="0"/>
            <a:chExt cx="2476500" cy="2667000"/>
          </a:xfrm>
        </p:grpSpPr>
        <p:sp>
          <p:nvSpPr>
            <p:cNvPr id="226" name="Google Shape;226;p32"/>
            <p:cNvSpPr/>
            <p:nvPr/>
          </p:nvSpPr>
          <p:spPr>
            <a:xfrm>
              <a:off x="0" y="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7" name="Google Shape;227;p32"/>
            <p:cNvGrpSpPr/>
            <p:nvPr/>
          </p:nvGrpSpPr>
          <p:grpSpPr>
            <a:xfrm>
              <a:off x="190500" y="228600"/>
              <a:ext cx="381000" cy="410210"/>
              <a:chOff x="0" y="0"/>
              <a:chExt cx="381000" cy="410210"/>
            </a:xfrm>
          </p:grpSpPr>
          <p:sp>
            <p:nvSpPr>
              <p:cNvPr id="228" name="Google Shape;228;p32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EBF5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32"/>
              <p:cNvSpPr txBox="1"/>
              <p:nvPr/>
            </p:nvSpPr>
            <p:spPr>
              <a:xfrm>
                <a:off x="0" y="2921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0B539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schema</a:t>
                </a:r>
                <a:endParaRPr sz="2000">
                  <a:solidFill>
                    <a:srgbClr val="0B539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230" name="Google Shape;230;p32"/>
            <p:cNvSpPr txBox="1"/>
            <p:nvPr/>
          </p:nvSpPr>
          <p:spPr>
            <a:xfrm>
              <a:off x="190500" y="762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Core Concepts</a:t>
              </a:r>
              <a:endParaRPr b="1" sz="14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1" name="Google Shape;231;p32"/>
            <p:cNvSpPr txBox="1"/>
            <p:nvPr/>
          </p:nvSpPr>
          <p:spPr>
            <a:xfrm>
              <a:off x="190500" y="1190625"/>
              <a:ext cx="2095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Familiarity with YAML syntax configuration and orchestration principles.</a:t>
              </a:r>
              <a:endParaRPr sz="11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32" name="Google Shape;232;p32"/>
          <p:cNvCxnSpPr/>
          <p:nvPr/>
        </p:nvCxnSpPr>
        <p:spPr>
          <a:xfrm>
            <a:off x="428625" y="762000"/>
            <a:ext cx="82869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/>
          <p:cNvSpPr txBox="1"/>
          <p:nvPr>
            <p:ph idx="1" type="body"/>
          </p:nvPr>
        </p:nvSpPr>
        <p:spPr>
          <a:xfrm>
            <a:off x="4812375" y="402200"/>
            <a:ext cx="42753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Intro to AI Orchestration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Learning Objectives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Prerequisites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Why AI for Workflows?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What Makes This Different from AI Assistants?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38" name="Google Shape;23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3"/>
          <p:cNvSpPr txBox="1"/>
          <p:nvPr>
            <p:ph type="title"/>
          </p:nvPr>
        </p:nvSpPr>
        <p:spPr>
          <a:xfrm>
            <a:off x="177925" y="2003300"/>
            <a:ext cx="42753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Why AI for Workflows?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 txBox="1"/>
          <p:nvPr/>
        </p:nvSpPr>
        <p:spPr>
          <a:xfrm>
            <a:off x="571500" y="3238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Why AI for Workflows?</a:t>
            </a:r>
            <a:endParaRPr b="1" sz="280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4"/>
          <p:cNvSpPr txBox="1"/>
          <p:nvPr/>
        </p:nvSpPr>
        <p:spPr>
          <a:xfrm>
            <a:off x="304800" y="1219200"/>
            <a:ext cx="8720700" cy="28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When building LLM applications and workflows, we often spend significant time writing boilerplate code, searching documentation, and structuring pipelines. AI tools can help us:</a:t>
            </a:r>
            <a:endParaRPr sz="15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Generate workflows faster: describe what you want in natural language instead of writing YAML from scratch</a:t>
            </a:r>
            <a:endParaRPr sz="15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Avoid errors: get syntax-correct, up-to-date code that follows best practices</a:t>
            </a:r>
            <a:endParaRPr sz="15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Automate complex decisions: let AI agents dynamically orchestrate tasks based on changing conditions</a:t>
            </a:r>
            <a:endParaRPr sz="15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Ground responses in data: use RAG to ensure AI provides accurate, contextual information</a:t>
            </a:r>
            <a:endParaRPr sz="15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However, AI is only as good as the context we provide. This module teaches you how to engineer that context for reliable, production-ready workflows.</a:t>
            </a:r>
            <a:endParaRPr sz="15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6" name="Google Shape;246;p34"/>
          <p:cNvCxnSpPr/>
          <p:nvPr/>
        </p:nvCxnSpPr>
        <p:spPr>
          <a:xfrm>
            <a:off x="428625" y="762000"/>
            <a:ext cx="82869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 txBox="1"/>
          <p:nvPr>
            <p:ph idx="1" type="body"/>
          </p:nvPr>
        </p:nvSpPr>
        <p:spPr>
          <a:xfrm>
            <a:off x="4812375" y="402200"/>
            <a:ext cx="42753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Intro to AI Orchestration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Learning Objectives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Prerequisites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Why AI for Workflows?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What Makes This Different from AI Assistants?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35"/>
          <p:cNvSpPr txBox="1"/>
          <p:nvPr>
            <p:ph type="title"/>
          </p:nvPr>
        </p:nvSpPr>
        <p:spPr>
          <a:xfrm>
            <a:off x="177925" y="2003300"/>
            <a:ext cx="42753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What Makes This Different from AI Assistants?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6"/>
          <p:cNvSpPr txBox="1"/>
          <p:nvPr/>
        </p:nvSpPr>
        <p:spPr>
          <a:xfrm>
            <a:off x="571500" y="3238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What Makes This Different from AI Assistants?</a:t>
            </a:r>
            <a:endParaRPr b="1" sz="280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36"/>
          <p:cNvSpPr txBox="1"/>
          <p:nvPr/>
        </p:nvSpPr>
        <p:spPr>
          <a:xfrm>
            <a:off x="304800" y="1219200"/>
            <a:ext cx="8720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Traditional AI assistants (like ChatGPT or Gemini in a browser) don't have context about your codebase and workflow patterns, real-time data from your systems, or the latest documentation and best practices.</a:t>
            </a:r>
            <a:endParaRPr sz="15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By integrating AI directly into Kestra and using techniques like RAG and specialized agents, we can provide this context and get much better results.</a:t>
            </a:r>
            <a:endParaRPr sz="15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0" name="Google Shape;260;p36"/>
          <p:cNvCxnSpPr/>
          <p:nvPr/>
        </p:nvCxnSpPr>
        <p:spPr>
          <a:xfrm>
            <a:off x="428625" y="762000"/>
            <a:ext cx="82869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B7B7B7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