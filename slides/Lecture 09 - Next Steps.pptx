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 Medium"/>
      <p:regular r:id="rId16"/>
      <p:bold r:id="rId17"/>
      <p:italic r:id="rId18"/>
      <p:boldItalic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Roboto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RobotoLight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Light-italic.fntdata"/><Relationship Id="rId25" Type="http://schemas.openxmlformats.org/officeDocument/2006/relationships/font" Target="fonts/RobotoLight-bold.fntdata"/><Relationship Id="rId27" Type="http://schemas.openxmlformats.org/officeDocument/2006/relationships/font" Target="fonts/RobotoLight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Medium-bold.fntdata"/><Relationship Id="rId16" Type="http://schemas.openxmlformats.org/officeDocument/2006/relationships/font" Target="fonts/RobotoMedium-regular.fntdata"/><Relationship Id="rId19" Type="http://schemas.openxmlformats.org/officeDocument/2006/relationships/font" Target="fonts/RobotoMedium-boldItalic.fntdata"/><Relationship Id="rId18" Type="http://schemas.openxmlformats.org/officeDocument/2006/relationships/font" Target="fonts/Roboto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9143fda57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9143fda57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9143fda576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19143fda576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e7b5c0a0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fae7b5c0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98f4048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98f4048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ae7b5c0a0_0_1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fae7b5c0a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98f40486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98f40486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ae7b5c0a0_0_33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ae7b5c0a0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98f40486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98f40486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ae7b5c0a0_0_1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ae7b5c0a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98f40486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98f40486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ae7b5c0a0_0_80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ae7b5c0a0_0_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7_0)">
  <p:cSld name="Title and body (g3f06253986f_7_0)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f06253986f_14_0)">
  <p:cSld name="Title and body (g3f06253986f_14_0)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60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302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302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302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302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302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302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302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302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•"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kestra.io/blueprint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kestra.io/docs/ai-tools" TargetMode="External"/><Relationship Id="rId4" Type="http://schemas.openxmlformats.org/officeDocument/2006/relationships/hyperlink" Target="https://kestra.io/docs/ai-tools/ai-copilot" TargetMode="External"/><Relationship Id="rId9" Type="http://schemas.openxmlformats.org/officeDocument/2006/relationships/hyperlink" Target="https://kestra.io/plugins/plugin-ai/rag" TargetMode="External"/><Relationship Id="rId5" Type="http://schemas.openxmlformats.org/officeDocument/2006/relationships/hyperlink" Target="https://kestra.io/docs/ai-tools/ai-agents" TargetMode="External"/><Relationship Id="rId6" Type="http://schemas.openxmlformats.org/officeDocument/2006/relationships/hyperlink" Target="https://kestra.io/docs/ai-tools/ai-rag-workflows" TargetMode="External"/><Relationship Id="rId7" Type="http://schemas.openxmlformats.org/officeDocument/2006/relationships/hyperlink" Target="https://kestra.io/plugins/plugin-ai" TargetMode="External"/><Relationship Id="rId8" Type="http://schemas.openxmlformats.org/officeDocument/2006/relationships/hyperlink" Target="https://kestra.io/plugins/plugin-ai/agen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i.google.dev/docs" TargetMode="External"/><Relationship Id="rId4" Type="http://schemas.openxmlformats.org/officeDocument/2006/relationships/hyperlink" Target="https://aistudio.google.com/" TargetMode="External"/><Relationship Id="rId5" Type="http://schemas.openxmlformats.org/officeDocument/2006/relationships/hyperlink" Target="about:blank" TargetMode="External"/><Relationship Id="rId6" Type="http://schemas.openxmlformats.org/officeDocument/2006/relationships/hyperlink" Target="https://github.com/kestra-io/kestra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type="ctrTitle"/>
          </p:nvPr>
        </p:nvSpPr>
        <p:spPr>
          <a:xfrm>
            <a:off x="311700" y="18113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</a:rPr>
              <a:t>Next Steps</a:t>
            </a:r>
            <a:endParaRPr sz="4200"/>
          </a:p>
        </p:txBody>
      </p:sp>
      <p:sp>
        <p:nvSpPr>
          <p:cNvPr id="153" name="Google Shape;153;p26"/>
          <p:cNvSpPr txBox="1"/>
          <p:nvPr/>
        </p:nvSpPr>
        <p:spPr>
          <a:xfrm>
            <a:off x="345775" y="28927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09 | July, 2026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54" name="Google Shape;15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311700" y="3769550"/>
            <a:ext cx="85206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Instructor</a:t>
            </a: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: Sithvothy Kiv 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Josh Hug</a:t>
            </a:r>
            <a:endParaRPr sz="1600"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Next Steps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Where to go from here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Kestra documentation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External resources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Homework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1" name="Google Shape;161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7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Next Steps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167;p28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" name="Google Shape;168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Next Steps</a:t>
            </a:r>
            <a:endParaRPr sz="1800"/>
          </a:p>
        </p:txBody>
      </p:sp>
      <p:sp>
        <p:nvSpPr>
          <p:cNvPr id="169" name="Google Shape;169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>
            <a:off x="76200" y="381000"/>
            <a:ext cx="8869500" cy="3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this module, we covered: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Why context engineering matters and how generic AI assistants fail without it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Using Kestra's AI Copilot to generate and refine flows by describing inputs and goals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Implementing RAG to build AI responses using real data from your own sources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Building autonomous AI agents that use tools and make decisions dynamically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Designing multi-agent systems where specialised agents collaborate on complex tasks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Roboto"/>
              <a:buChar char="●"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Best practices for cost, security, observability, and production readiness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You now have the building blocks to use AI across the full workflow lifecycle — from generating flows faster, to answering questions from your data, to automating tasks that don't have a fixed sequence of steps.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Where to go from here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Kestra documentation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External resources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Homework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6" name="Google Shape;17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29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Where to go from here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2" name="Google Shape;182;p30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Where to go from here</a:t>
            </a:r>
            <a:endParaRPr sz="1800"/>
          </a:p>
        </p:txBody>
      </p:sp>
      <p:sp>
        <p:nvSpPr>
          <p:cNvPr id="184" name="Google Shape;184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>
            <a:off x="76200" y="533400"/>
            <a:ext cx="8869500" cy="25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Experiment with different LLM providers. The flows in this module use Gemini, but Kestra's AI plugin supports other providers too. Try swapping the provider and comparing results.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 custom agents for your data pipelines. Take a workflow you already run and ask: which parts involve decisions that depend on external data? Those are good candidates for an agent.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Explore Kestra Blueprints. The </a:t>
            </a:r>
            <a:r>
              <a:rPr lang="en" sz="1600">
                <a:solidFill>
                  <a:schemeClr val="accent3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Blueprints library</a:t>
            </a: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has pre-built workflow examples you can import and adapt, including AI and agent patterns.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Where to go from here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Kestra documentation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External resources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Homework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1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Kestra documentation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3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Where to go from here</a:t>
            </a:r>
            <a:endParaRPr sz="1800"/>
          </a:p>
        </p:txBody>
      </p:sp>
      <p:sp>
        <p:nvSpPr>
          <p:cNvPr id="199" name="Google Shape;199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0" name="Google Shape;200;p32"/>
          <p:cNvGrpSpPr/>
          <p:nvPr/>
        </p:nvGrpSpPr>
        <p:grpSpPr>
          <a:xfrm>
            <a:off x="381000" y="952500"/>
            <a:ext cx="8001000" cy="3238500"/>
            <a:chOff x="0" y="0"/>
            <a:chExt cx="8001000" cy="3238500"/>
          </a:xfrm>
        </p:grpSpPr>
        <p:sp>
          <p:nvSpPr>
            <p:cNvPr id="201" name="Google Shape;201;p32"/>
            <p:cNvSpPr/>
            <p:nvPr/>
          </p:nvSpPr>
          <p:spPr>
            <a:xfrm>
              <a:off x="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4F8FC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32"/>
            <p:cNvSpPr/>
            <p:nvPr/>
          </p:nvSpPr>
          <p:spPr>
            <a:xfrm>
              <a:off x="276225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4F8FC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5524500" y="0"/>
              <a:ext cx="2476500" cy="3238500"/>
            </a:xfrm>
            <a:prstGeom prst="roundRect">
              <a:avLst>
                <a:gd fmla="val 4615" name="adj"/>
              </a:avLst>
            </a:prstGeom>
            <a:solidFill>
              <a:srgbClr val="F4F8FC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2"/>
            <p:cNvSpPr txBox="1"/>
            <p:nvPr/>
          </p:nvSpPr>
          <p:spPr>
            <a:xfrm>
              <a:off x="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Conceptual Overview</a:t>
              </a:r>
              <a:endParaRPr b="1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Start with foundational concepts and high-level structure of AI-driven workflow orchestration.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AI Tools Overview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205;p32"/>
            <p:cNvSpPr txBox="1"/>
            <p:nvPr/>
          </p:nvSpPr>
          <p:spPr>
            <a:xfrm>
              <a:off x="276225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Core Features</a:t>
              </a:r>
              <a:endParaRPr b="1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Explore interactive assistants, autonomous agents, and intelligent retrieval workflows.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AI Copilot</a:t>
              </a: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AI Agents</a:t>
              </a: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RAG Workflows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6" name="Google Shape;206;p32"/>
            <p:cNvSpPr txBox="1"/>
            <p:nvPr/>
          </p:nvSpPr>
          <p:spPr>
            <a:xfrm>
              <a:off x="5524500" y="0"/>
              <a:ext cx="2476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28600" lIns="190500" spcFirstLastPara="1" rIns="1905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Hands-on Plugins</a:t>
              </a:r>
              <a:endParaRPr b="1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Integrate concrete plugin tasks into data pipelines to execute custom AI and RAG steps.</a:t>
              </a:r>
              <a:endParaRPr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AI Plugin</a:t>
              </a: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8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AI Agent Task</a:t>
              </a:r>
              <a:r>
                <a:rPr b="0" lang="en" sz="13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9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RAG Tasks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Where to go from here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Kestra documentation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External resources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Homework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External resources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External resources</a:t>
            </a:r>
            <a:endParaRPr sz="1800"/>
          </a:p>
        </p:txBody>
      </p:sp>
      <p:sp>
        <p:nvSpPr>
          <p:cNvPr id="220" name="Google Shape;220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1" name="Google Shape;221;p34"/>
          <p:cNvGrpSpPr/>
          <p:nvPr/>
        </p:nvGrpSpPr>
        <p:grpSpPr>
          <a:xfrm>
            <a:off x="381000" y="1047750"/>
            <a:ext cx="8362950" cy="3143400"/>
            <a:chOff x="0" y="0"/>
            <a:chExt cx="8362950" cy="3143400"/>
          </a:xfrm>
        </p:grpSpPr>
        <p:sp>
          <p:nvSpPr>
            <p:cNvPr id="222" name="Google Shape;222;p34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4F8FC"/>
            </a:solidFill>
            <a:ln cap="flat" cmpd="sng" w="9525">
              <a:solidFill>
                <a:srgbClr val="CFE2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34"/>
            <p:cNvSpPr txBox="1"/>
            <p:nvPr/>
          </p:nvSpPr>
          <p:spPr>
            <a:xfrm>
              <a:off x="0" y="0"/>
              <a:ext cx="1905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rgbClr val="0B539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api</a:t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rPr>
                <a:t>Gemini API</a:t>
              </a:r>
              <a:endParaRPr b="1" sz="16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rPr>
                <a:t>Integrate Google's powerful Gemini models into your own applications and workflows.</a:t>
              </a:r>
              <a:endParaRPr b="0" sz="11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794FF"/>
                  </a:solidFill>
                  <a:uFill>
                    <a:noFill/>
                  </a:uFill>
                  <a:latin typeface="Roboto Medium"/>
                  <a:ea typeface="Roboto Medium"/>
                  <a:cs typeface="Roboto Medium"/>
                  <a:sym typeface="Roboto Medium"/>
                  <a:hlinkClick r:id="rId3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➔ API Docs</a:t>
              </a:r>
              <a:endParaRPr b="0" sz="1100"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  <p:grpSp>
          <p:nvGrpSpPr>
            <p:cNvPr id="224" name="Google Shape;224;p34"/>
            <p:cNvGrpSpPr/>
            <p:nvPr/>
          </p:nvGrpSpPr>
          <p:grpSpPr>
            <a:xfrm>
              <a:off x="2152650" y="0"/>
              <a:ext cx="1905000" cy="3143400"/>
              <a:chOff x="0" y="0"/>
              <a:chExt cx="1905000" cy="3143400"/>
            </a:xfrm>
          </p:grpSpPr>
          <p:sp>
            <p:nvSpPr>
              <p:cNvPr id="225" name="Google Shape;225;p34"/>
              <p:cNvSpPr/>
              <p:nvPr/>
            </p:nvSpPr>
            <p:spPr>
              <a:xfrm>
                <a:off x="0" y="0"/>
                <a:ext cx="1905000" cy="3143400"/>
              </a:xfrm>
              <a:prstGeom prst="roundRect">
                <a:avLst>
                  <a:gd fmla="val 6000" name="adj"/>
                </a:avLst>
              </a:prstGeom>
              <a:solidFill>
                <a:srgbClr val="F4F8FC"/>
              </a:solidFill>
              <a:ln cap="flat" cmpd="sng" w="9525">
                <a:solidFill>
                  <a:srgbClr val="CFE2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34"/>
              <p:cNvSpPr txBox="1"/>
              <p:nvPr/>
            </p:nvSpPr>
            <p:spPr>
              <a:xfrm>
                <a:off x="0" y="0"/>
                <a:ext cx="19050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1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construction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B5394"/>
                    </a:solidFill>
                    <a:latin typeface="Roboto"/>
                    <a:ea typeface="Roboto"/>
                    <a:cs typeface="Roboto"/>
                    <a:sym typeface="Roboto"/>
                  </a:rPr>
                  <a:t>AI Studio</a:t>
                </a:r>
                <a:endParaRPr b="1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66666"/>
                    </a:solidFill>
                    <a:latin typeface="Roboto"/>
                    <a:ea typeface="Roboto"/>
                    <a:cs typeface="Roboto"/>
                    <a:sym typeface="Roboto"/>
                  </a:rPr>
                  <a:t>Prototype ideas quickly in a web-based developer environment for model tuning.</a:t>
                </a:r>
                <a:endParaRPr b="0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794FF"/>
                    </a:solidFill>
                    <a:uFill>
                      <a:noFill/>
                    </a:uFill>
                    <a:latin typeface="Roboto Medium"/>
                    <a:ea typeface="Roboto Medium"/>
                    <a:cs typeface="Roboto Medium"/>
                    <a:sym typeface="Roboto Medium"/>
                    <a:hlinkClick r:id="rId4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➔ Go to Studio</a:t>
                </a:r>
                <a:endParaRPr b="0" sz="1100"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227" name="Google Shape;227;p34"/>
            <p:cNvGrpSpPr/>
            <p:nvPr/>
          </p:nvGrpSpPr>
          <p:grpSpPr>
            <a:xfrm>
              <a:off x="4305300" y="0"/>
              <a:ext cx="1905000" cy="3143400"/>
              <a:chOff x="0" y="0"/>
              <a:chExt cx="1905000" cy="3143400"/>
            </a:xfrm>
          </p:grpSpPr>
          <p:sp>
            <p:nvSpPr>
              <p:cNvPr id="228" name="Google Shape;228;p34"/>
              <p:cNvSpPr/>
              <p:nvPr/>
            </p:nvSpPr>
            <p:spPr>
              <a:xfrm>
                <a:off x="0" y="0"/>
                <a:ext cx="1905000" cy="3143400"/>
              </a:xfrm>
              <a:prstGeom prst="roundRect">
                <a:avLst>
                  <a:gd fmla="val 6000" name="adj"/>
                </a:avLst>
              </a:prstGeom>
              <a:solidFill>
                <a:srgbClr val="F4F8FC"/>
              </a:solidFill>
              <a:ln cap="flat" cmpd="sng" w="9525">
                <a:solidFill>
                  <a:srgbClr val="CFE2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34"/>
              <p:cNvSpPr txBox="1"/>
              <p:nvPr/>
            </p:nvSpPr>
            <p:spPr>
              <a:xfrm>
                <a:off x="0" y="0"/>
                <a:ext cx="19050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1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search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B5394"/>
                    </a:solidFill>
                    <a:latin typeface="Roboto"/>
                    <a:ea typeface="Roboto"/>
                    <a:cs typeface="Roboto"/>
                    <a:sym typeface="Roboto"/>
                  </a:rPr>
                  <a:t>Tavily Search</a:t>
                </a:r>
                <a:endParaRPr b="1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66666"/>
                    </a:solidFill>
                    <a:latin typeface="Roboto"/>
                    <a:ea typeface="Roboto"/>
                    <a:cs typeface="Roboto"/>
                    <a:sym typeface="Roboto"/>
                  </a:rPr>
                  <a:t>Enable LLMs and autonomous agents to conduct real-time, optimized web searches.</a:t>
                </a:r>
                <a:endParaRPr b="0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794FF"/>
                    </a:solidFill>
                    <a:uFill>
                      <a:noFill/>
                    </a:uFill>
                    <a:latin typeface="Roboto Medium"/>
                    <a:ea typeface="Roboto Medium"/>
                    <a:cs typeface="Roboto Medium"/>
                    <a:sym typeface="Roboto Medium"/>
                    <a:hlinkClick r:id="rId5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➔ Search Docs</a:t>
                </a:r>
                <a:endParaRPr b="0" sz="1100"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  <p:grpSp>
          <p:nvGrpSpPr>
            <p:cNvPr id="230" name="Google Shape;230;p34"/>
            <p:cNvGrpSpPr/>
            <p:nvPr/>
          </p:nvGrpSpPr>
          <p:grpSpPr>
            <a:xfrm>
              <a:off x="6457950" y="0"/>
              <a:ext cx="1905000" cy="3143400"/>
              <a:chOff x="0" y="0"/>
              <a:chExt cx="1905000" cy="3143400"/>
            </a:xfrm>
          </p:grpSpPr>
          <p:sp>
            <p:nvSpPr>
              <p:cNvPr id="231" name="Google Shape;231;p34"/>
              <p:cNvSpPr/>
              <p:nvPr/>
            </p:nvSpPr>
            <p:spPr>
              <a:xfrm>
                <a:off x="0" y="0"/>
                <a:ext cx="1905000" cy="3143400"/>
              </a:xfrm>
              <a:prstGeom prst="roundRect">
                <a:avLst>
                  <a:gd fmla="val 6000" name="adj"/>
                </a:avLst>
              </a:prstGeom>
              <a:solidFill>
                <a:srgbClr val="F4F8FC"/>
              </a:solidFill>
              <a:ln cap="flat" cmpd="sng" w="9525">
                <a:solidFill>
                  <a:srgbClr val="CFE2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34"/>
              <p:cNvSpPr txBox="1"/>
              <p:nvPr/>
            </p:nvSpPr>
            <p:spPr>
              <a:xfrm>
                <a:off x="0" y="0"/>
                <a:ext cx="1905000" cy="314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90500" lIns="190500" spcFirstLastPara="1" rIns="190500" wrap="square" tIns="1905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100">
                    <a:solidFill>
                      <a:srgbClr val="0B5394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code</a:t>
                </a:r>
                <a:endParaRPr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00">
                    <a:solidFill>
                      <a:srgbClr val="0B5394"/>
                    </a:solidFill>
                    <a:latin typeface="Roboto"/>
                    <a:ea typeface="Roboto"/>
                    <a:cs typeface="Roboto"/>
                    <a:sym typeface="Roboto"/>
                  </a:rPr>
                  <a:t>Kestra GitHub</a:t>
                </a:r>
                <a:endParaRPr b="1" sz="1600">
                  <a:solidFill>
                    <a:srgbClr val="0B5394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666666"/>
                    </a:solidFill>
                    <a:latin typeface="Roboto"/>
                    <a:ea typeface="Roboto"/>
                    <a:cs typeface="Roboto"/>
                    <a:sym typeface="Roboto"/>
                  </a:rPr>
                  <a:t>Explore source code, contribute, and join the community on the Kestra repository.</a:t>
                </a:r>
                <a:endParaRPr b="0" sz="1100">
                  <a:solidFill>
                    <a:srgbClr val="666666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100">
                    <a:solidFill>
                      <a:srgbClr val="3794FF"/>
                    </a:solidFill>
                    <a:uFill>
                      <a:noFill/>
                    </a:uFill>
                    <a:latin typeface="Roboto Medium"/>
                    <a:ea typeface="Roboto Medium"/>
                    <a:cs typeface="Roboto Medium"/>
                    <a:sym typeface="Roboto Medium"/>
                    <a:hlinkClick r:id="rId6">
                      <a:extLst>
                        <a:ext uri="{A12FA001-AC4F-418D-AE19-62706E023703}">
                          <ahyp:hlinkClr val="tx"/>
                        </a:ext>
                      </a:extLst>
                    </a:hlinkClick>
                  </a:rPr>
                  <a:t>➔ Repository</a:t>
                </a:r>
                <a:endParaRPr b="0" sz="1100">
                  <a:latin typeface="Roboto Medium"/>
                  <a:ea typeface="Roboto Medium"/>
                  <a:cs typeface="Roboto Medium"/>
                  <a:sym typeface="Roboto Medium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5"/>
          <p:cNvSpPr txBox="1"/>
          <p:nvPr>
            <p:ph idx="1" type="body"/>
          </p:nvPr>
        </p:nvSpPr>
        <p:spPr>
          <a:xfrm>
            <a:off x="4812375" y="402200"/>
            <a:ext cx="42753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Next Steps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Where to go from here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Kestra documentation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•"/>
            </a:pPr>
            <a:r>
              <a:rPr lang="en">
                <a:solidFill>
                  <a:schemeClr val="dk2"/>
                </a:solidFill>
              </a:rPr>
              <a:t>External resources</a:t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Homework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5"/>
          <p:cNvSpPr txBox="1"/>
          <p:nvPr>
            <p:ph type="title"/>
          </p:nvPr>
        </p:nvSpPr>
        <p:spPr>
          <a:xfrm>
            <a:off x="177925" y="2003300"/>
            <a:ext cx="42753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Homework</a:t>
            </a:r>
            <a:endParaRPr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" name="Google Shape;244;p36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Homework</a:t>
            </a:r>
            <a:endParaRPr sz="1800"/>
          </a:p>
        </p:txBody>
      </p:sp>
      <p:sp>
        <p:nvSpPr>
          <p:cNvPr id="246" name="Google Shape;246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1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6"/>
          <p:cNvSpPr txBox="1"/>
          <p:nvPr/>
        </p:nvSpPr>
        <p:spPr>
          <a:xfrm>
            <a:off x="76200" y="533400"/>
            <a:ext cx="88695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Complete the hands-on assignment to test your understanding of AI Copilot, RAG workflows, and agents in Kestra.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