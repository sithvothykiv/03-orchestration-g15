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Roboto Medium"/>
      <p:regular r:id="rId23"/>
      <p:bold r:id="rId24"/>
      <p:italic r:id="rId25"/>
      <p:boldItalic r:id="rId26"/>
    </p:embeddedFont>
    <p:embeddedFont>
      <p:font typeface="Roboto"/>
      <p:regular r:id="rId27"/>
      <p:bold r:id="rId28"/>
      <p:italic r:id="rId29"/>
      <p:boldItalic r:id="rId30"/>
    </p:embeddedFont>
    <p:embeddedFont>
      <p:font typeface="Roboto Ligh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Medium-bold.fntdata"/><Relationship Id="rId23" Type="http://schemas.openxmlformats.org/officeDocument/2006/relationships/font" Target="fonts/Roboto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edium-boldItalic.fntdata"/><Relationship Id="rId25" Type="http://schemas.openxmlformats.org/officeDocument/2006/relationships/font" Target="fonts/RobotoMedium-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Light-regular.fntdata"/><Relationship Id="rId30" Type="http://schemas.openxmlformats.org/officeDocument/2006/relationships/font" Target="fonts/Roboto-boldItalic.fntdata"/><Relationship Id="rId11" Type="http://schemas.openxmlformats.org/officeDocument/2006/relationships/slide" Target="slides/slide7.xml"/><Relationship Id="rId33" Type="http://schemas.openxmlformats.org/officeDocument/2006/relationships/font" Target="fonts/RobotoLight-italic.fntdata"/><Relationship Id="rId10" Type="http://schemas.openxmlformats.org/officeDocument/2006/relationships/slide" Target="slides/slide6.xml"/><Relationship Id="rId32" Type="http://schemas.openxmlformats.org/officeDocument/2006/relationships/font" Target="fonts/RobotoLight-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RobotoLight-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9143fda57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9143fda57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9143fda57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9143fda57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629ba9936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629ba99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5bca5494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5bca5494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629ba9936_0_1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629ba9936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5bca5494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5bca5494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629ba9936_0_1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629ba993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5bca5494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5bca5494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629ba9936_0_1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629ba993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629ba9936_0_1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629ba993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629ba9936_0_1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629ba9936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5bca5494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f5bca5494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629ba9936_0_2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629ba993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629ba9936_0_2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629ba9936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5bca5494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f5bca5494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629ba9936_0_23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629ba9936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bca5494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5bca5494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629ba9936_0_2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629ba9936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7_0)">
  <p:cSld name="Title and body (g3f06253986f_7_0)">
    <p:spTree>
      <p:nvGrpSpPr>
        <p:cNvPr id="140" name="Shape 140"/>
        <p:cNvGrpSpPr/>
        <p:nvPr/>
      </p:nvGrpSpPr>
      <p:grpSpPr>
        <a:xfrm>
          <a:off x="0" y="0"/>
          <a:ext cx="0" cy="0"/>
          <a:chOff x="0" y="0"/>
          <a:chExt cx="0" cy="0"/>
        </a:xfrm>
      </p:grpSpPr>
      <p:sp>
        <p:nvSpPr>
          <p:cNvPr id="141" name="Google Shape;141;p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14_0)">
  <p:cSld name="Title and body (g3f06253986f_14_0)">
    <p:spTree>
      <p:nvGrpSpPr>
        <p:cNvPr id="144" name="Shape 144"/>
        <p:cNvGrpSpPr/>
        <p:nvPr/>
      </p:nvGrpSpPr>
      <p:grpSpPr>
        <a:xfrm>
          <a:off x="0" y="0"/>
          <a:ext cx="0" cy="0"/>
          <a:chOff x="0" y="0"/>
          <a:chExt cx="0" cy="0"/>
        </a:xfrm>
      </p:grpSpPr>
      <p:sp>
        <p:nvSpPr>
          <p:cNvPr id="145" name="Google Shape;145;p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1.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indent="-330200" lvl="1" marL="914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indent="-330200" lvl="2" marL="1371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indent="-330200" lvl="3" marL="1828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indent="-330200" lvl="4" marL="22860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indent="-330200" lvl="5" marL="2743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indent="-330200" lvl="6" marL="3200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indent="-330200" lvl="7" marL="3657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indent="-330200" lvl="8" marL="4114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hyperlink" Target="http://localhost:808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hyperlink" Target="https://aistudio.google.com/app/apike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hyperlink" Target="https://platform.openai.com/hom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hyperlink" Target="https://tavily.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hyperlink" Target="http://localhost:808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ctrTitle"/>
          </p:nvPr>
        </p:nvSpPr>
        <p:spPr>
          <a:xfrm>
            <a:off x="311700" y="18113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solidFill>
                  <a:schemeClr val="accent3"/>
                </a:solidFill>
              </a:rPr>
              <a:t>Setting up Kestra</a:t>
            </a:r>
            <a:endParaRPr sz="4200"/>
          </a:p>
        </p:txBody>
      </p:sp>
      <p:sp>
        <p:nvSpPr>
          <p:cNvPr id="153" name="Google Shape;153;p26"/>
          <p:cNvSpPr txBox="1"/>
          <p:nvPr/>
        </p:nvSpPr>
        <p:spPr>
          <a:xfrm>
            <a:off x="345775" y="28927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02 | July, 2026</a:t>
            </a:r>
            <a:endParaRPr sz="1200">
              <a:solidFill>
                <a:srgbClr val="BF9000"/>
              </a:solidFill>
              <a:latin typeface="Roboto Medium"/>
              <a:ea typeface="Roboto Medium"/>
              <a:cs typeface="Roboto Medium"/>
              <a:sym typeface="Roboto Medium"/>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nvSpPr>
        <p:spPr>
          <a:xfrm>
            <a:off x="311700" y="3769550"/>
            <a:ext cx="8520600" cy="1167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Light"/>
                <a:ea typeface="Roboto Light"/>
                <a:cs typeface="Roboto Light"/>
                <a:sym typeface="Roboto Light"/>
              </a:rPr>
              <a:t>Instructor</a:t>
            </a:r>
            <a:r>
              <a:rPr lang="en" sz="1600">
                <a:latin typeface="Roboto Light"/>
                <a:ea typeface="Roboto Light"/>
                <a:cs typeface="Roboto Light"/>
                <a:sym typeface="Roboto Light"/>
              </a:rPr>
              <a:t>: Sithvothy Kiv </a:t>
            </a:r>
            <a:endParaRPr sz="1600">
              <a:latin typeface="Roboto Light"/>
              <a:ea typeface="Roboto Light"/>
              <a:cs typeface="Roboto Light"/>
              <a:sym typeface="Roboto Light"/>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Setting up Kestra</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Prerequisites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1: Start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2: Obtain API Keys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3: Configure API Keys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4: Import Example Flows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5: Run Your First Agent</a:t>
            </a:r>
            <a:endParaRPr>
              <a:solidFill>
                <a:schemeClr val="dk2"/>
              </a:solidFill>
            </a:endParaRPr>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Setting up Kestra</a:t>
            </a:r>
            <a:endParaRPr>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2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68" name="Google Shape;168;p2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Setting up Kestra</a:t>
            </a:r>
            <a:endParaRPr b="0" sz="1800">
              <a:solidFill>
                <a:srgbClr val="0B5394"/>
              </a:solidFill>
              <a:latin typeface="Roboto Medium"/>
              <a:ea typeface="Roboto Medium"/>
              <a:cs typeface="Roboto Medium"/>
              <a:sym typeface="Roboto Medium"/>
            </a:endParaRPr>
          </a:p>
        </p:txBody>
      </p:sp>
      <p:sp>
        <p:nvSpPr>
          <p:cNvPr id="169" name="Google Shape;169;p28"/>
          <p:cNvSpPr txBox="1"/>
          <p:nvPr/>
        </p:nvSpPr>
        <p:spPr>
          <a:xfrm>
            <a:off x="428625" y="952500"/>
            <a:ext cx="8286900" cy="35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1F2328"/>
                </a:solidFill>
                <a:latin typeface="Roboto"/>
                <a:ea typeface="Roboto"/>
                <a:cs typeface="Roboto"/>
                <a:sym typeface="Roboto"/>
              </a:rPr>
              <a:t>Here's how to set up everything you need to run the example flows in this module.</a:t>
            </a:r>
            <a:endParaRPr sz="1800">
              <a:solidFill>
                <a:srgbClr val="1F2328"/>
              </a:solidFill>
              <a:latin typeface="Roboto"/>
              <a:ea typeface="Roboto"/>
              <a:cs typeface="Roboto"/>
              <a:sym typeface="Roboto"/>
            </a:endParaRPr>
          </a:p>
        </p:txBody>
      </p:sp>
      <p:sp>
        <p:nvSpPr>
          <p:cNvPr id="170" name="Google Shape;170;p2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Setting up Kestra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Prerequisites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Step 1: Start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2: Obtain API Keys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3: Configure API Keys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4: Import Example Flows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5: Run Your First Agent</a:t>
            </a:r>
            <a:endParaRPr>
              <a:solidFill>
                <a:schemeClr val="dk2"/>
              </a:solidFill>
            </a:endParaRPr>
          </a:p>
        </p:txBody>
      </p:sp>
      <p:sp>
        <p:nvSpPr>
          <p:cNvPr id="176" name="Google Shape;17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9"/>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Prerequisites</a:t>
            </a:r>
            <a:endParaRPr>
              <a:solidFill>
                <a:schemeClr val="accent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cxnSp>
        <p:nvCxnSpPr>
          <p:cNvPr id="182" name="Google Shape;182;p30"/>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83" name="Google Shape;183;p30"/>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Prerequisites</a:t>
            </a:r>
            <a:endParaRPr b="0" sz="1800">
              <a:solidFill>
                <a:srgbClr val="0B5394"/>
              </a:solidFill>
              <a:latin typeface="Roboto Medium"/>
              <a:ea typeface="Roboto Medium"/>
              <a:cs typeface="Roboto Medium"/>
              <a:sym typeface="Roboto Medium"/>
            </a:endParaRPr>
          </a:p>
        </p:txBody>
      </p:sp>
      <p:sp>
        <p:nvSpPr>
          <p:cNvPr id="184" name="Google Shape;184;p30"/>
          <p:cNvSpPr txBox="1"/>
          <p:nvPr/>
        </p:nvSpPr>
        <p:spPr>
          <a:xfrm>
            <a:off x="428625" y="952500"/>
            <a:ext cx="8286900" cy="920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1F2328"/>
                </a:solidFill>
                <a:latin typeface="Roboto"/>
                <a:ea typeface="Roboto"/>
                <a:cs typeface="Roboto"/>
                <a:sym typeface="Roboto"/>
              </a:rPr>
              <a:t>This module requires Docker with Docker Compose to run Kestra locally. Docker Desktop is the easiest way to get both on Mac and Windows. If you don't have Docker installed, set that up before proceeding.</a:t>
            </a:r>
            <a:endParaRPr sz="1800">
              <a:solidFill>
                <a:srgbClr val="1F2328"/>
              </a:solidFill>
              <a:latin typeface="Roboto"/>
              <a:ea typeface="Roboto"/>
              <a:cs typeface="Roboto"/>
              <a:sym typeface="Roboto"/>
            </a:endParaRPr>
          </a:p>
        </p:txBody>
      </p:sp>
      <p:sp>
        <p:nvSpPr>
          <p:cNvPr id="185" name="Google Shape;185;p3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Setting up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Prerequisites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1: Start Kestra</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Step 2: Obtain API Keys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3: Configure API Keys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4: Import Example Flows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5: Run Your First Agent</a:t>
            </a:r>
            <a:endParaRPr>
              <a:solidFill>
                <a:schemeClr val="dk2"/>
              </a:solidFill>
            </a:endParaRPr>
          </a:p>
        </p:txBody>
      </p:sp>
      <p:sp>
        <p:nvSpPr>
          <p:cNvPr id="191" name="Google Shape;191;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2" name="Google Shape;192;p31"/>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1: Start Kestra</a:t>
            </a:r>
            <a:endParaRPr>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cxnSp>
        <p:nvCxnSpPr>
          <p:cNvPr id="197" name="Google Shape;197;p32"/>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98" name="Google Shape;198;p32"/>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1: Start Kestra</a:t>
            </a:r>
            <a:endParaRPr b="0" sz="1800">
              <a:solidFill>
                <a:srgbClr val="0B5394"/>
              </a:solidFill>
              <a:latin typeface="Roboto Medium"/>
              <a:ea typeface="Roboto Medium"/>
              <a:cs typeface="Roboto Medium"/>
              <a:sym typeface="Roboto Medium"/>
            </a:endParaRPr>
          </a:p>
        </p:txBody>
      </p:sp>
      <p:sp>
        <p:nvSpPr>
          <p:cNvPr id="199" name="Google Shape;199;p32"/>
          <p:cNvSpPr txBox="1"/>
          <p:nvPr/>
        </p:nvSpPr>
        <p:spPr>
          <a:xfrm>
            <a:off x="428625" y="952500"/>
            <a:ext cx="8286900" cy="47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700">
                <a:solidFill>
                  <a:schemeClr val="dk1"/>
                </a:solidFill>
                <a:latin typeface="Roboto"/>
                <a:ea typeface="Roboto"/>
                <a:cs typeface="Roboto"/>
                <a:sym typeface="Roboto"/>
              </a:rPr>
              <a:t>This module includes a </a:t>
            </a:r>
            <a:r>
              <a:rPr lang="en" sz="1700">
                <a:solidFill>
                  <a:srgbClr val="188038"/>
                </a:solidFill>
                <a:latin typeface="Roboto"/>
                <a:ea typeface="Roboto"/>
                <a:cs typeface="Roboto"/>
                <a:sym typeface="Roboto"/>
              </a:rPr>
              <a:t>docker-compose.yml</a:t>
            </a:r>
            <a:r>
              <a:rPr lang="en" sz="1700">
                <a:solidFill>
                  <a:schemeClr val="dk1"/>
                </a:solidFill>
                <a:latin typeface="Roboto"/>
                <a:ea typeface="Roboto"/>
                <a:cs typeface="Roboto"/>
                <a:sym typeface="Roboto"/>
              </a:rPr>
              <a:t> with Kestra pre-configured:</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rgbClr val="1F2328"/>
              </a:solidFill>
              <a:latin typeface="Roboto"/>
              <a:ea typeface="Roboto"/>
              <a:cs typeface="Roboto"/>
              <a:sym typeface="Roboto"/>
            </a:endParaRPr>
          </a:p>
        </p:txBody>
      </p:sp>
      <p:sp>
        <p:nvSpPr>
          <p:cNvPr id="200" name="Google Shape;200;p3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201" name="Google Shape;201;p32"/>
          <p:cNvSpPr txBox="1"/>
          <p:nvPr/>
        </p:nvSpPr>
        <p:spPr>
          <a:xfrm>
            <a:off x="428625" y="2171700"/>
            <a:ext cx="8286900" cy="47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700">
                <a:solidFill>
                  <a:srgbClr val="1F2328"/>
                </a:solidFill>
                <a:latin typeface="Roboto"/>
                <a:ea typeface="Roboto"/>
                <a:cs typeface="Roboto"/>
                <a:sym typeface="Roboto"/>
              </a:rPr>
              <a:t>Once the container starts, access the Kestra UI at </a:t>
            </a:r>
            <a:r>
              <a:rPr lang="en" sz="1700" u="sng">
                <a:solidFill>
                  <a:schemeClr val="hlink"/>
                </a:solidFill>
                <a:latin typeface="Roboto"/>
                <a:ea typeface="Roboto"/>
                <a:cs typeface="Roboto"/>
                <a:sym typeface="Roboto"/>
                <a:hlinkClick r:id="rId3"/>
              </a:rPr>
              <a:t>http://localhost:8080</a:t>
            </a:r>
            <a:r>
              <a:rPr lang="en" sz="1700">
                <a:solidFill>
                  <a:srgbClr val="1F2328"/>
                </a:solidFill>
                <a:latin typeface="Roboto"/>
                <a:ea typeface="Roboto"/>
                <a:cs typeface="Roboto"/>
                <a:sym typeface="Roboto"/>
              </a:rPr>
              <a:t>.</a:t>
            </a:r>
            <a:endParaRPr sz="17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1F2328"/>
                </a:solidFill>
                <a:latin typeface="Roboto"/>
                <a:ea typeface="Roboto"/>
                <a:cs typeface="Roboto"/>
                <a:sym typeface="Roboto"/>
              </a:rPr>
              <a:t>To shut down Kestra:</a:t>
            </a:r>
            <a:endParaRPr sz="17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rgbClr val="1F2328"/>
              </a:solidFill>
              <a:latin typeface="Roboto"/>
              <a:ea typeface="Roboto"/>
              <a:cs typeface="Roboto"/>
              <a:sym typeface="Roboto"/>
            </a:endParaRPr>
          </a:p>
        </p:txBody>
      </p:sp>
      <p:sp>
        <p:nvSpPr>
          <p:cNvPr id="202" name="Google Shape;202;p32"/>
          <p:cNvSpPr txBox="1"/>
          <p:nvPr/>
        </p:nvSpPr>
        <p:spPr>
          <a:xfrm>
            <a:off x="443975" y="1261050"/>
            <a:ext cx="8229000" cy="7785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cd</a:t>
            </a:r>
            <a:r>
              <a:rPr lang="en" sz="1300">
                <a:highlight>
                  <a:srgbClr val="FFFFFF"/>
                </a:highlight>
                <a:latin typeface="Consolas"/>
                <a:ea typeface="Consolas"/>
                <a:cs typeface="Consolas"/>
                <a:sym typeface="Consolas"/>
              </a:rPr>
              <a:t> 03-orchestration</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docker</a:t>
            </a:r>
            <a:r>
              <a:rPr lang="en" sz="1300">
                <a:highlight>
                  <a:srgbClr val="FFFFFF"/>
                </a:highlight>
                <a:latin typeface="Consolas"/>
                <a:ea typeface="Consolas"/>
                <a:cs typeface="Consolas"/>
                <a:sym typeface="Consolas"/>
              </a:rPr>
              <a:t> </a:t>
            </a:r>
            <a:r>
              <a:rPr lang="en" sz="1300">
                <a:solidFill>
                  <a:schemeClr val="accent3"/>
                </a:solidFill>
                <a:highlight>
                  <a:srgbClr val="FFFFFF"/>
                </a:highlight>
                <a:latin typeface="Consolas"/>
                <a:ea typeface="Consolas"/>
                <a:cs typeface="Consolas"/>
                <a:sym typeface="Consolas"/>
              </a:rPr>
              <a:t>compose</a:t>
            </a:r>
            <a:r>
              <a:rPr lang="en" sz="1300">
                <a:highlight>
                  <a:srgbClr val="FFFFFF"/>
                </a:highlight>
                <a:latin typeface="Consolas"/>
                <a:ea typeface="Consolas"/>
                <a:cs typeface="Consolas"/>
                <a:sym typeface="Consolas"/>
              </a:rPr>
              <a:t> up -d</a:t>
            </a:r>
            <a:endParaRPr sz="1300">
              <a:highlight>
                <a:srgbClr val="FFFFFF"/>
              </a:highlight>
              <a:latin typeface="Consolas"/>
              <a:ea typeface="Consolas"/>
              <a:cs typeface="Consolas"/>
              <a:sym typeface="Consolas"/>
            </a:endParaRPr>
          </a:p>
        </p:txBody>
      </p:sp>
      <p:sp>
        <p:nvSpPr>
          <p:cNvPr id="203" name="Google Shape;203;p32"/>
          <p:cNvSpPr txBox="1"/>
          <p:nvPr/>
        </p:nvSpPr>
        <p:spPr>
          <a:xfrm>
            <a:off x="443975" y="3089850"/>
            <a:ext cx="8229000" cy="516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docker</a:t>
            </a:r>
            <a:r>
              <a:rPr lang="en" sz="1300">
                <a:highlight>
                  <a:srgbClr val="FFFFFF"/>
                </a:highlight>
                <a:latin typeface="Consolas"/>
                <a:ea typeface="Consolas"/>
                <a:cs typeface="Consolas"/>
                <a:sym typeface="Consolas"/>
              </a:rPr>
              <a:t> </a:t>
            </a:r>
            <a:r>
              <a:rPr lang="en" sz="1300">
                <a:solidFill>
                  <a:schemeClr val="accent3"/>
                </a:solidFill>
                <a:highlight>
                  <a:srgbClr val="FFFFFF"/>
                </a:highlight>
                <a:latin typeface="Consolas"/>
                <a:ea typeface="Consolas"/>
                <a:cs typeface="Consolas"/>
                <a:sym typeface="Consolas"/>
              </a:rPr>
              <a:t>compose</a:t>
            </a:r>
            <a:r>
              <a:rPr lang="en" sz="1300">
                <a:highlight>
                  <a:srgbClr val="FFFFFF"/>
                </a:highlight>
                <a:latin typeface="Consolas"/>
                <a:ea typeface="Consolas"/>
                <a:cs typeface="Consolas"/>
                <a:sym typeface="Consolas"/>
              </a:rPr>
              <a:t> down</a:t>
            </a:r>
            <a:endParaRPr sz="1300">
              <a:highlight>
                <a:srgbClr val="FFFFFF"/>
              </a:highlight>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Setting up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Prerequisites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1: Start Kestra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2: Obtain API Keys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Step 3: Configure API Keys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4: Import Example Flows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5: Run Your First Agent</a:t>
            </a:r>
            <a:endParaRPr>
              <a:solidFill>
                <a:schemeClr val="dk2"/>
              </a:solidFill>
            </a:endParaRPr>
          </a:p>
        </p:txBody>
      </p:sp>
      <p:sp>
        <p:nvSpPr>
          <p:cNvPr id="209" name="Google Shape;20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3"/>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2: Obtain API Keys</a:t>
            </a:r>
            <a:endParaRPr>
              <a:solidFill>
                <a:schemeClr val="accent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cxnSp>
        <p:nvCxnSpPr>
          <p:cNvPr id="215" name="Google Shape;215;p34"/>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16" name="Google Shape;216;p34"/>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2: Obtain API Keys</a:t>
            </a:r>
            <a:endParaRPr b="0" sz="1800">
              <a:solidFill>
                <a:srgbClr val="0B5394"/>
              </a:solidFill>
              <a:latin typeface="Roboto Medium"/>
              <a:ea typeface="Roboto Medium"/>
              <a:cs typeface="Roboto Medium"/>
              <a:sym typeface="Roboto Medium"/>
            </a:endParaRPr>
          </a:p>
        </p:txBody>
      </p:sp>
      <p:sp>
        <p:nvSpPr>
          <p:cNvPr id="217" name="Google Shape;217;p34"/>
          <p:cNvSpPr txBox="1"/>
          <p:nvPr/>
        </p:nvSpPr>
        <p:spPr>
          <a:xfrm>
            <a:off x="428625" y="952500"/>
            <a:ext cx="8286900" cy="211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1F2328"/>
                </a:solidFill>
                <a:latin typeface="Roboto"/>
                <a:ea typeface="Roboto"/>
                <a:cs typeface="Roboto"/>
                <a:sym typeface="Roboto"/>
              </a:rPr>
              <a:t>Gemini API Key (Required)</a:t>
            </a:r>
            <a:endParaRPr b="1"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Visit </a:t>
            </a:r>
            <a:r>
              <a:rPr lang="en" sz="1800" u="sng">
                <a:solidFill>
                  <a:schemeClr val="hlink"/>
                </a:solidFill>
                <a:latin typeface="Roboto"/>
                <a:ea typeface="Roboto"/>
                <a:cs typeface="Roboto"/>
                <a:sym typeface="Roboto"/>
                <a:hlinkClick r:id="rId3"/>
              </a:rPr>
              <a:t>Google AI Studio</a:t>
            </a:r>
            <a:endParaRPr sz="1800" u="sng">
              <a:solidFill>
                <a:schemeClr val="hlink"/>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Sign in with your Google account</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Click "Create API Key" and copy your key</a:t>
            </a:r>
            <a:endParaRPr sz="18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rgbClr val="1F2328"/>
                </a:solidFill>
                <a:latin typeface="Roboto"/>
                <a:ea typeface="Roboto"/>
                <a:cs typeface="Roboto"/>
                <a:sym typeface="Roboto"/>
              </a:rPr>
              <a:t>The free tier is sufficient for light use, but rate limits are relatively low — you may hit quota quickly if you run the agent and multi-agent flows repeatedly. If you run into 429 Resource Exhausted errors, wait a minute before retrying, or consider upgrading to a paid tier.</a:t>
            </a:r>
            <a:endParaRPr sz="18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1F2328"/>
              </a:solidFill>
              <a:latin typeface="Roboto"/>
              <a:ea typeface="Roboto"/>
              <a:cs typeface="Roboto"/>
              <a:sym typeface="Roboto"/>
            </a:endParaRPr>
          </a:p>
        </p:txBody>
      </p:sp>
      <p:sp>
        <p:nvSpPr>
          <p:cNvPr id="218" name="Google Shape;218;p34"/>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cxnSp>
        <p:nvCxnSpPr>
          <p:cNvPr id="223" name="Google Shape;223;p35"/>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24" name="Google Shape;224;p35"/>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2: Obtain API Keys</a:t>
            </a:r>
            <a:endParaRPr b="0" sz="1800">
              <a:solidFill>
                <a:srgbClr val="0B5394"/>
              </a:solidFill>
              <a:latin typeface="Roboto Medium"/>
              <a:ea typeface="Roboto Medium"/>
              <a:cs typeface="Roboto Medium"/>
              <a:sym typeface="Roboto Medium"/>
            </a:endParaRPr>
          </a:p>
        </p:txBody>
      </p:sp>
      <p:sp>
        <p:nvSpPr>
          <p:cNvPr id="225" name="Google Shape;225;p35"/>
          <p:cNvSpPr txBox="1"/>
          <p:nvPr/>
        </p:nvSpPr>
        <p:spPr>
          <a:xfrm>
            <a:off x="428625" y="952500"/>
            <a:ext cx="8286900" cy="211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1F2328"/>
                </a:solidFill>
                <a:latin typeface="Roboto"/>
                <a:ea typeface="Roboto"/>
                <a:cs typeface="Roboto"/>
                <a:sym typeface="Roboto"/>
              </a:rPr>
              <a:t>OpenAI API Key (Required for flow 3)</a:t>
            </a:r>
            <a:endParaRPr b="1"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Visit </a:t>
            </a:r>
            <a:r>
              <a:rPr lang="en" sz="1800" u="sng">
                <a:solidFill>
                  <a:schemeClr val="hlink"/>
                </a:solidFill>
                <a:latin typeface="Roboto"/>
                <a:ea typeface="Roboto"/>
                <a:cs typeface="Roboto"/>
                <a:sym typeface="Roboto"/>
                <a:hlinkClick r:id="rId3"/>
              </a:rPr>
              <a:t>platform.openai.com</a:t>
            </a:r>
            <a:r>
              <a:rPr lang="en" sz="1800">
                <a:solidFill>
                  <a:srgbClr val="1F2328"/>
                </a:solidFill>
                <a:latin typeface="Roboto"/>
                <a:ea typeface="Roboto"/>
                <a:cs typeface="Roboto"/>
                <a:sym typeface="Roboto"/>
              </a:rPr>
              <a:t> and sign in or create an account</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AutoNum type="arabicPeriod"/>
            </a:pPr>
            <a:r>
              <a:rPr lang="en" sz="1800">
                <a:solidFill>
                  <a:srgbClr val="1F2328"/>
                </a:solidFill>
                <a:latin typeface="Roboto"/>
                <a:ea typeface="Roboto"/>
                <a:cs typeface="Roboto"/>
                <a:sym typeface="Roboto"/>
              </a:rPr>
              <a:t>Go to </a:t>
            </a:r>
            <a:r>
              <a:rPr b="1" lang="en" sz="1800">
                <a:solidFill>
                  <a:srgbClr val="1F2328"/>
                </a:solidFill>
                <a:latin typeface="Roboto"/>
                <a:ea typeface="Roboto"/>
                <a:cs typeface="Roboto"/>
                <a:sym typeface="Roboto"/>
              </a:rPr>
              <a:t>API keys</a:t>
            </a:r>
            <a:r>
              <a:rPr lang="en" sz="1800">
                <a:solidFill>
                  <a:srgbClr val="1F2328"/>
                </a:solidFill>
                <a:latin typeface="Roboto"/>
                <a:ea typeface="Roboto"/>
                <a:cs typeface="Roboto"/>
                <a:sym typeface="Roboto"/>
              </a:rPr>
              <a:t> and create a new key</a:t>
            </a:r>
            <a:endParaRPr sz="18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1F2328"/>
              </a:solidFill>
              <a:latin typeface="Roboto"/>
              <a:ea typeface="Roboto"/>
              <a:cs typeface="Roboto"/>
              <a:sym typeface="Roboto"/>
            </a:endParaRPr>
          </a:p>
        </p:txBody>
      </p:sp>
      <p:sp>
        <p:nvSpPr>
          <p:cNvPr id="226" name="Google Shape;226;p3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cxnSp>
        <p:nvCxnSpPr>
          <p:cNvPr id="231" name="Google Shape;231;p36"/>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32" name="Google Shape;232;p36"/>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2: Obtain API Keys</a:t>
            </a:r>
            <a:endParaRPr b="0" sz="1800">
              <a:solidFill>
                <a:srgbClr val="0B5394"/>
              </a:solidFill>
              <a:latin typeface="Roboto Medium"/>
              <a:ea typeface="Roboto Medium"/>
              <a:cs typeface="Roboto Medium"/>
              <a:sym typeface="Roboto Medium"/>
            </a:endParaRPr>
          </a:p>
        </p:txBody>
      </p:sp>
      <p:sp>
        <p:nvSpPr>
          <p:cNvPr id="233" name="Google Shape;233;p36"/>
          <p:cNvSpPr txBox="1"/>
          <p:nvPr/>
        </p:nvSpPr>
        <p:spPr>
          <a:xfrm>
            <a:off x="428625" y="952500"/>
            <a:ext cx="8286900" cy="211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1F2328"/>
                </a:solidFill>
                <a:latin typeface="Roboto"/>
                <a:ea typeface="Roboto"/>
                <a:cs typeface="Roboto"/>
                <a:sym typeface="Roboto"/>
              </a:rPr>
              <a:t>Tavily API Key (Required for web search: flows 3, 5, and 6)</a:t>
            </a:r>
            <a:endParaRPr b="1"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Visit </a:t>
            </a:r>
            <a:r>
              <a:rPr lang="en" sz="1800" u="sng">
                <a:solidFill>
                  <a:schemeClr val="hlink"/>
                </a:solidFill>
                <a:latin typeface="Roboto"/>
                <a:ea typeface="Roboto"/>
                <a:cs typeface="Roboto"/>
                <a:sym typeface="Roboto"/>
                <a:hlinkClick r:id="rId3"/>
              </a:rPr>
              <a:t>Tavily</a:t>
            </a:r>
            <a:endParaRPr sz="1800" u="sng">
              <a:solidFill>
                <a:schemeClr val="hlink"/>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Sign up for the free tier</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Get your API key from the dashboard</a:t>
            </a:r>
            <a:endParaRPr sz="18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rgbClr val="1F2328"/>
                </a:solidFill>
                <a:latin typeface="Roboto"/>
                <a:ea typeface="Roboto"/>
                <a:cs typeface="Roboto"/>
                <a:sym typeface="Roboto"/>
              </a:rPr>
              <a:t>The free tier includes 1,000 searches/month.</a:t>
            </a:r>
            <a:endParaRPr sz="18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1F2328"/>
              </a:solidFill>
              <a:latin typeface="Roboto"/>
              <a:ea typeface="Roboto"/>
              <a:cs typeface="Roboto"/>
              <a:sym typeface="Roboto"/>
            </a:endParaRPr>
          </a:p>
        </p:txBody>
      </p:sp>
      <p:sp>
        <p:nvSpPr>
          <p:cNvPr id="234" name="Google Shape;234;p36"/>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Setting up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Prerequisites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1: Start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2: Obtain API Keys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3: Configure API Keys in Kestra</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Step 4: Import Example Flows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5: Run Your First Agent</a:t>
            </a:r>
            <a:endParaRPr>
              <a:solidFill>
                <a:schemeClr val="dk2"/>
              </a:solidFill>
            </a:endParaRPr>
          </a:p>
        </p:txBody>
      </p:sp>
      <p:sp>
        <p:nvSpPr>
          <p:cNvPr id="240" name="Google Shape;240;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3: Configure API Keys in Kestra</a:t>
            </a:r>
            <a:endParaRPr>
              <a:solidFill>
                <a:schemeClr val="accent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cxnSp>
        <p:nvCxnSpPr>
          <p:cNvPr id="246" name="Google Shape;246;p3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47" name="Google Shape;247;p3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3: Configure API Keys in Kestra</a:t>
            </a:r>
            <a:endParaRPr b="0" sz="1800">
              <a:solidFill>
                <a:srgbClr val="0B5394"/>
              </a:solidFill>
              <a:latin typeface="Roboto Medium"/>
              <a:ea typeface="Roboto Medium"/>
              <a:cs typeface="Roboto Medium"/>
              <a:sym typeface="Roboto Medium"/>
            </a:endParaRPr>
          </a:p>
        </p:txBody>
      </p:sp>
      <p:sp>
        <p:nvSpPr>
          <p:cNvPr id="248" name="Google Shape;248;p38"/>
          <p:cNvSpPr txBox="1"/>
          <p:nvPr/>
        </p:nvSpPr>
        <p:spPr>
          <a:xfrm>
            <a:off x="428625" y="952500"/>
            <a:ext cx="8286900" cy="211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Kestra reads secrets from environment variables prefixed with </a:t>
            </a:r>
            <a:r>
              <a:rPr lang="en" sz="1800">
                <a:solidFill>
                  <a:srgbClr val="188038"/>
                </a:solidFill>
                <a:latin typeface="Roboto"/>
                <a:ea typeface="Roboto"/>
                <a:cs typeface="Roboto"/>
                <a:sym typeface="Roboto"/>
              </a:rPr>
              <a:t>SECRET_</a:t>
            </a:r>
            <a:r>
              <a:rPr lang="en" sz="1800">
                <a:solidFill>
                  <a:schemeClr val="dk1"/>
                </a:solidFill>
                <a:latin typeface="Roboto"/>
                <a:ea typeface="Roboto"/>
                <a:cs typeface="Roboto"/>
                <a:sym typeface="Roboto"/>
              </a:rPr>
              <a:t> where the value is base64-encoded. Export your keys before starting Kestra:</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1F2328"/>
              </a:solidFill>
              <a:latin typeface="Roboto"/>
              <a:ea typeface="Roboto"/>
              <a:cs typeface="Roboto"/>
              <a:sym typeface="Roboto"/>
            </a:endParaRPr>
          </a:p>
        </p:txBody>
      </p:sp>
      <p:sp>
        <p:nvSpPr>
          <p:cNvPr id="249" name="Google Shape;249;p3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250" name="Google Shape;250;p38"/>
          <p:cNvSpPr txBox="1"/>
          <p:nvPr/>
        </p:nvSpPr>
        <p:spPr>
          <a:xfrm>
            <a:off x="443975" y="1870650"/>
            <a:ext cx="8229000" cy="1630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export</a:t>
            </a:r>
            <a:r>
              <a:rPr lang="en" sz="1300">
                <a:highlight>
                  <a:srgbClr val="FFFFFF"/>
                </a:highlight>
                <a:latin typeface="Consolas"/>
                <a:ea typeface="Consolas"/>
                <a:cs typeface="Consolas"/>
                <a:sym typeface="Consolas"/>
              </a:rPr>
              <a:t> GEMINI_API_KEY=</a:t>
            </a:r>
            <a:r>
              <a:rPr lang="en" sz="1300">
                <a:solidFill>
                  <a:schemeClr val="accent3"/>
                </a:solidFill>
                <a:highlight>
                  <a:srgbClr val="FFFFFF"/>
                </a:highlight>
                <a:latin typeface="Consolas"/>
                <a:ea typeface="Consolas"/>
                <a:cs typeface="Consolas"/>
                <a:sym typeface="Consolas"/>
              </a:rPr>
              <a:t>"your-gemini-api-key-here"</a:t>
            </a:r>
            <a:r>
              <a:rPr lang="en" sz="1300">
                <a:highlight>
                  <a:srgbClr val="FFFFFF"/>
                </a:highlight>
                <a:latin typeface="Consolas"/>
                <a:ea typeface="Consolas"/>
                <a:cs typeface="Consolas"/>
                <a:sym typeface="Consolas"/>
              </a:rPr>
              <a:t> # required</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export</a:t>
            </a:r>
            <a:r>
              <a:rPr lang="en" sz="1300">
                <a:highlight>
                  <a:srgbClr val="FFFFFF"/>
                </a:highlight>
                <a:latin typeface="Consolas"/>
                <a:ea typeface="Consolas"/>
                <a:cs typeface="Consolas"/>
                <a:sym typeface="Consolas"/>
              </a:rPr>
              <a:t> SECRET_GEMINI_API_KEY=$(echo -n $GEMINI_API_KEY | base64) # required</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export</a:t>
            </a:r>
            <a:r>
              <a:rPr lang="en" sz="1300">
                <a:highlight>
                  <a:srgbClr val="FFFFFF"/>
                </a:highlight>
                <a:latin typeface="Consolas"/>
                <a:ea typeface="Consolas"/>
                <a:cs typeface="Consolas"/>
                <a:sym typeface="Consolas"/>
              </a:rPr>
              <a:t> SECRET_OPENAI_API_KEY=$(echo -n </a:t>
            </a:r>
            <a:r>
              <a:rPr lang="en" sz="1300">
                <a:solidFill>
                  <a:schemeClr val="accent3"/>
                </a:solidFill>
                <a:highlight>
                  <a:srgbClr val="FFFFFF"/>
                </a:highlight>
                <a:latin typeface="Consolas"/>
                <a:ea typeface="Consolas"/>
                <a:cs typeface="Consolas"/>
                <a:sym typeface="Consolas"/>
              </a:rPr>
              <a:t>"your-openai-api-key-here"</a:t>
            </a:r>
            <a:r>
              <a:rPr lang="en" sz="1300">
                <a:highlight>
                  <a:srgbClr val="FFFFFF"/>
                </a:highlight>
                <a:latin typeface="Consolas"/>
                <a:ea typeface="Consolas"/>
                <a:cs typeface="Consolas"/>
                <a:sym typeface="Consolas"/>
              </a:rPr>
              <a:t> | base64)   # required for flow 3</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export</a:t>
            </a:r>
            <a:r>
              <a:rPr lang="en" sz="1300">
                <a:highlight>
                  <a:srgbClr val="FFFFFF"/>
                </a:highlight>
                <a:latin typeface="Consolas"/>
                <a:ea typeface="Consolas"/>
                <a:cs typeface="Consolas"/>
                <a:sym typeface="Consolas"/>
              </a:rPr>
              <a:t> SECRET_TAVILY_API_KEY=$(echo -n </a:t>
            </a:r>
            <a:r>
              <a:rPr lang="en" sz="1300">
                <a:solidFill>
                  <a:schemeClr val="accent3"/>
                </a:solidFill>
                <a:highlight>
                  <a:srgbClr val="FFFFFF"/>
                </a:highlight>
                <a:latin typeface="Consolas"/>
                <a:ea typeface="Consolas"/>
                <a:cs typeface="Consolas"/>
                <a:sym typeface="Consolas"/>
              </a:rPr>
              <a:t>"your-tavily-api-key-here"</a:t>
            </a:r>
            <a:r>
              <a:rPr lang="en" sz="1300">
                <a:highlight>
                  <a:srgbClr val="FFFFFF"/>
                </a:highlight>
                <a:latin typeface="Consolas"/>
                <a:ea typeface="Consolas"/>
                <a:cs typeface="Consolas"/>
                <a:sym typeface="Consolas"/>
              </a:rPr>
              <a:t> | base64)   # optional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highlight>
                <a:srgbClr val="FFFFFF"/>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cxnSp>
        <p:nvCxnSpPr>
          <p:cNvPr id="255" name="Google Shape;255;p39"/>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56" name="Google Shape;256;p39"/>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3: Configure API Keys in Kestra</a:t>
            </a:r>
            <a:endParaRPr b="0" sz="1800">
              <a:solidFill>
                <a:srgbClr val="0B5394"/>
              </a:solidFill>
              <a:latin typeface="Roboto Medium"/>
              <a:ea typeface="Roboto Medium"/>
              <a:cs typeface="Roboto Medium"/>
              <a:sym typeface="Roboto Medium"/>
            </a:endParaRPr>
          </a:p>
        </p:txBody>
      </p:sp>
      <p:sp>
        <p:nvSpPr>
          <p:cNvPr id="257" name="Google Shape;257;p39"/>
          <p:cNvSpPr txBox="1"/>
          <p:nvPr/>
        </p:nvSpPr>
        <p:spPr>
          <a:xfrm>
            <a:off x="428625" y="952500"/>
            <a:ext cx="8286900" cy="43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Then start (or restart) Kestra:</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1F2328"/>
              </a:solidFill>
              <a:latin typeface="Roboto"/>
              <a:ea typeface="Roboto"/>
              <a:cs typeface="Roboto"/>
              <a:sym typeface="Roboto"/>
            </a:endParaRPr>
          </a:p>
        </p:txBody>
      </p:sp>
      <p:sp>
        <p:nvSpPr>
          <p:cNvPr id="258" name="Google Shape;258;p39"/>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259" name="Google Shape;259;p39"/>
          <p:cNvSpPr txBox="1"/>
          <p:nvPr/>
        </p:nvSpPr>
        <p:spPr>
          <a:xfrm>
            <a:off x="443975" y="1565850"/>
            <a:ext cx="8229000" cy="370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accent2"/>
                </a:solidFill>
                <a:highlight>
                  <a:srgbClr val="FFFFFF"/>
                </a:highlight>
                <a:latin typeface="Consolas"/>
                <a:ea typeface="Consolas"/>
                <a:cs typeface="Consolas"/>
                <a:sym typeface="Consolas"/>
              </a:rPr>
              <a:t>docker</a:t>
            </a:r>
            <a:r>
              <a:rPr lang="en" sz="1300">
                <a:highlight>
                  <a:srgbClr val="FFFFFF"/>
                </a:highlight>
                <a:latin typeface="Consolas"/>
                <a:ea typeface="Consolas"/>
                <a:cs typeface="Consolas"/>
                <a:sym typeface="Consolas"/>
              </a:rPr>
              <a:t> </a:t>
            </a:r>
            <a:r>
              <a:rPr lang="en" sz="1300">
                <a:solidFill>
                  <a:schemeClr val="accent3"/>
                </a:solidFill>
                <a:highlight>
                  <a:srgbClr val="FFFFFF"/>
                </a:highlight>
                <a:latin typeface="Consolas"/>
                <a:ea typeface="Consolas"/>
                <a:cs typeface="Consolas"/>
                <a:sym typeface="Consolas"/>
              </a:rPr>
              <a:t>compose</a:t>
            </a:r>
            <a:r>
              <a:rPr lang="en" sz="1300">
                <a:highlight>
                  <a:srgbClr val="FFFFFF"/>
                </a:highlight>
                <a:latin typeface="Consolas"/>
                <a:ea typeface="Consolas"/>
                <a:cs typeface="Consolas"/>
                <a:sym typeface="Consolas"/>
              </a:rPr>
              <a:t> up -d</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highlight>
                <a:srgbClr val="FFFFFF"/>
              </a:highlight>
              <a:latin typeface="Consolas"/>
              <a:ea typeface="Consolas"/>
              <a:cs typeface="Consolas"/>
              <a:sym typeface="Consolas"/>
            </a:endParaRPr>
          </a:p>
        </p:txBody>
      </p:sp>
      <p:sp>
        <p:nvSpPr>
          <p:cNvPr id="260" name="Google Shape;260;p39"/>
          <p:cNvSpPr txBox="1"/>
          <p:nvPr/>
        </p:nvSpPr>
        <p:spPr>
          <a:xfrm>
            <a:off x="504825" y="2171700"/>
            <a:ext cx="8286900" cy="43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In flows, reference secrets with </a:t>
            </a:r>
            <a:r>
              <a:rPr lang="en" sz="1800">
                <a:solidFill>
                  <a:srgbClr val="188038"/>
                </a:solidFill>
                <a:latin typeface="Roboto"/>
                <a:ea typeface="Roboto"/>
                <a:cs typeface="Roboto"/>
                <a:sym typeface="Roboto"/>
              </a:rPr>
              <a:t>{{ secret('GEMINI_API_KEY') }}</a:t>
            </a:r>
            <a:r>
              <a:rPr lang="en" sz="1800">
                <a:solidFill>
                  <a:schemeClr val="dk1"/>
                </a:solidFill>
                <a:latin typeface="Roboto"/>
                <a:ea typeface="Roboto"/>
                <a:cs typeface="Roboto"/>
                <a:sym typeface="Roboto"/>
              </a:rPr>
              <a:t> — omit the </a:t>
            </a:r>
            <a:r>
              <a:rPr lang="en" sz="1800">
                <a:solidFill>
                  <a:srgbClr val="188038"/>
                </a:solidFill>
                <a:latin typeface="Roboto"/>
                <a:ea typeface="Roboto"/>
                <a:cs typeface="Roboto"/>
                <a:sym typeface="Roboto"/>
              </a:rPr>
              <a:t>SECRET_</a:t>
            </a:r>
            <a:r>
              <a:rPr lang="en" sz="1800">
                <a:solidFill>
                  <a:schemeClr val="dk1"/>
                </a:solidFill>
                <a:latin typeface="Roboto"/>
                <a:ea typeface="Roboto"/>
                <a:cs typeface="Roboto"/>
                <a:sym typeface="Roboto"/>
              </a:rPr>
              <a:t> prefix when calling </a:t>
            </a:r>
            <a:r>
              <a:rPr lang="en" sz="1800">
                <a:solidFill>
                  <a:srgbClr val="188038"/>
                </a:solidFill>
                <a:latin typeface="Roboto"/>
                <a:ea typeface="Roboto"/>
                <a:cs typeface="Roboto"/>
                <a:sym typeface="Roboto"/>
              </a:rPr>
              <a:t>secret()</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1F2328"/>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Setting up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Prerequisites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1: Start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2: Obtain API Keys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3: Configure API Keys in Kestra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4: Import Example Flows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Step 5: Run Your First Agent</a:t>
            </a:r>
            <a:endParaRPr>
              <a:solidFill>
                <a:schemeClr val="dk2"/>
              </a:solidFill>
            </a:endParaRPr>
          </a:p>
        </p:txBody>
      </p:sp>
      <p:sp>
        <p:nvSpPr>
          <p:cNvPr id="266" name="Google Shape;26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40"/>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4: Import Example Flows</a:t>
            </a:r>
            <a:endParaRPr>
              <a:solidFill>
                <a:schemeClr val="accent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cxnSp>
        <p:nvCxnSpPr>
          <p:cNvPr id="272" name="Google Shape;272;p41"/>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73" name="Google Shape;273;p41"/>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4: Import Example Flows</a:t>
            </a:r>
            <a:endParaRPr b="0" sz="1800">
              <a:solidFill>
                <a:srgbClr val="0B5394"/>
              </a:solidFill>
              <a:latin typeface="Roboto Medium"/>
              <a:ea typeface="Roboto Medium"/>
              <a:cs typeface="Roboto Medium"/>
              <a:sym typeface="Roboto Medium"/>
            </a:endParaRPr>
          </a:p>
        </p:txBody>
      </p:sp>
      <p:sp>
        <p:nvSpPr>
          <p:cNvPr id="274" name="Google Shape;274;p4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275" name="Google Shape;275;p41"/>
          <p:cNvSpPr txBox="1"/>
          <p:nvPr/>
        </p:nvSpPr>
        <p:spPr>
          <a:xfrm>
            <a:off x="443975" y="956250"/>
            <a:ext cx="8229000" cy="31644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cd 03-orchestration</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 Adjust username and password to match your Kestra setup</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curl -X POST -u </a:t>
            </a:r>
            <a:r>
              <a:rPr lang="en" sz="1300">
                <a:solidFill>
                  <a:schemeClr val="accent3"/>
                </a:solidFill>
                <a:highlight>
                  <a:srgbClr val="FFFFFF"/>
                </a:highlight>
                <a:latin typeface="Consolas"/>
                <a:ea typeface="Consolas"/>
                <a:cs typeface="Consolas"/>
                <a:sym typeface="Consolas"/>
              </a:rPr>
              <a:t>'admin@kestra.io:Admin1234!'</a:t>
            </a:r>
            <a:r>
              <a:rPr lang="en" sz="1300">
                <a:highlight>
                  <a:srgbClr val="FFFFFF"/>
                </a:highlight>
                <a:latin typeface="Consolas"/>
                <a:ea typeface="Consolas"/>
                <a:cs typeface="Consolas"/>
                <a:sym typeface="Consolas"/>
              </a:rPr>
              <a:t> http://localhost:8080/api/v1/flows/import -F fileUpload=@flows/1_chat_without_rag.yaml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curl -X POST -u </a:t>
            </a:r>
            <a:r>
              <a:rPr lang="en" sz="1300">
                <a:solidFill>
                  <a:schemeClr val="accent3"/>
                </a:solidFill>
                <a:highlight>
                  <a:srgbClr val="FFFFFF"/>
                </a:highlight>
                <a:latin typeface="Consolas"/>
                <a:ea typeface="Consolas"/>
                <a:cs typeface="Consolas"/>
                <a:sym typeface="Consolas"/>
              </a:rPr>
              <a:t>'admin@kestra.io:Admin1234!'</a:t>
            </a:r>
            <a:r>
              <a:rPr lang="en" sz="1300">
                <a:highlight>
                  <a:srgbClr val="FFFFFF"/>
                </a:highlight>
                <a:latin typeface="Consolas"/>
                <a:ea typeface="Consolas"/>
                <a:cs typeface="Consolas"/>
                <a:sym typeface="Consolas"/>
              </a:rPr>
              <a:t> http://localhost:8080/api/v1/flows/import -F fileUpload=@flows/2_chat_with_rag.yaml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curl -X POST -u </a:t>
            </a:r>
            <a:r>
              <a:rPr lang="en" sz="1300">
                <a:solidFill>
                  <a:schemeClr val="accent3"/>
                </a:solidFill>
                <a:highlight>
                  <a:srgbClr val="FFFFFF"/>
                </a:highlight>
                <a:latin typeface="Consolas"/>
                <a:ea typeface="Consolas"/>
                <a:cs typeface="Consolas"/>
                <a:sym typeface="Consolas"/>
              </a:rPr>
              <a:t>'admin@kestra.io:Admin1234!'</a:t>
            </a:r>
            <a:r>
              <a:rPr lang="en" sz="1300">
                <a:highlight>
                  <a:srgbClr val="FFFFFF"/>
                </a:highlight>
                <a:latin typeface="Consolas"/>
                <a:ea typeface="Consolas"/>
                <a:cs typeface="Consolas"/>
                <a:sym typeface="Consolas"/>
              </a:rPr>
              <a:t> http://localhost:8080/api/v1/flows/import -F fileUpload=@flows/3_rag_with_websearch.yaml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curl -X POST -u </a:t>
            </a:r>
            <a:r>
              <a:rPr lang="en" sz="1300">
                <a:solidFill>
                  <a:schemeClr val="accent3"/>
                </a:solidFill>
                <a:highlight>
                  <a:srgbClr val="FFFFFF"/>
                </a:highlight>
                <a:latin typeface="Consolas"/>
                <a:ea typeface="Consolas"/>
                <a:cs typeface="Consolas"/>
                <a:sym typeface="Consolas"/>
              </a:rPr>
              <a:t>'admin@kestra.io:Admin1234!'</a:t>
            </a:r>
            <a:r>
              <a:rPr lang="en" sz="1300">
                <a:highlight>
                  <a:srgbClr val="FFFFFF"/>
                </a:highlight>
                <a:latin typeface="Consolas"/>
                <a:ea typeface="Consolas"/>
                <a:cs typeface="Consolas"/>
                <a:sym typeface="Consolas"/>
              </a:rPr>
              <a:t> http://localhost:8080/api/v1/flows/import -F fileUpload=@flows/4_simple_agent.yaml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curl -X POST -u </a:t>
            </a:r>
            <a:r>
              <a:rPr lang="en" sz="1300">
                <a:solidFill>
                  <a:schemeClr val="accent3"/>
                </a:solidFill>
                <a:highlight>
                  <a:srgbClr val="FFFFFF"/>
                </a:highlight>
                <a:latin typeface="Consolas"/>
                <a:ea typeface="Consolas"/>
                <a:cs typeface="Consolas"/>
                <a:sym typeface="Consolas"/>
              </a:rPr>
              <a:t>'admin@kestra.io:Admin1234!'</a:t>
            </a:r>
            <a:r>
              <a:rPr lang="en" sz="1300">
                <a:highlight>
                  <a:srgbClr val="FFFFFF"/>
                </a:highlight>
                <a:latin typeface="Consolas"/>
                <a:ea typeface="Consolas"/>
                <a:cs typeface="Consolas"/>
                <a:sym typeface="Consolas"/>
              </a:rPr>
              <a:t> http://localhost:8080/api/v1/flows/import -F fileUpload=@flows/5_web_research_agent.yaml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highlight>
                  <a:srgbClr val="FFFFFF"/>
                </a:highlight>
                <a:latin typeface="Consolas"/>
                <a:ea typeface="Consolas"/>
                <a:cs typeface="Consolas"/>
                <a:sym typeface="Consolas"/>
              </a:rPr>
              <a:t>curl -X POST -u </a:t>
            </a:r>
            <a:r>
              <a:rPr lang="en" sz="1300">
                <a:solidFill>
                  <a:schemeClr val="accent3"/>
                </a:solidFill>
                <a:highlight>
                  <a:srgbClr val="FFFFFF"/>
                </a:highlight>
                <a:latin typeface="Consolas"/>
                <a:ea typeface="Consolas"/>
                <a:cs typeface="Consolas"/>
                <a:sym typeface="Consolas"/>
              </a:rPr>
              <a:t>'admin@kestra.io:Admin1234!'</a:t>
            </a:r>
            <a:r>
              <a:rPr lang="en" sz="1300">
                <a:highlight>
                  <a:srgbClr val="FFFFFF"/>
                </a:highlight>
                <a:latin typeface="Consolas"/>
                <a:ea typeface="Consolas"/>
                <a:cs typeface="Consolas"/>
                <a:sym typeface="Consolas"/>
              </a:rPr>
              <a:t> http://localhost:8080/api/v1/flows/import -F fileUpload=@flows/6_multi_agent_research.yaml</a:t>
            </a:r>
            <a:endParaRPr sz="13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highlight>
                <a:srgbClr val="FFFFFF"/>
              </a:highlight>
              <a:latin typeface="Consolas"/>
              <a:ea typeface="Consolas"/>
              <a:cs typeface="Consolas"/>
              <a:sym typeface="Consolas"/>
            </a:endParaRPr>
          </a:p>
        </p:txBody>
      </p:sp>
      <p:sp>
        <p:nvSpPr>
          <p:cNvPr id="276" name="Google Shape;276;p41"/>
          <p:cNvSpPr txBox="1"/>
          <p:nvPr/>
        </p:nvSpPr>
        <p:spPr>
          <a:xfrm>
            <a:off x="381000" y="4343400"/>
            <a:ext cx="85878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latin typeface="Roboto"/>
                <a:ea typeface="Roboto"/>
                <a:cs typeface="Roboto"/>
                <a:sym typeface="Roboto"/>
              </a:rPr>
              <a:t>Alternatively, copy-paste the flow YAML directly into Kestra's UI.</a:t>
            </a:r>
            <a:endParaRPr sz="1500">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Setting up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Prerequisites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1: Start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2: Obtain API Keys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3: Configure API Keys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Step 4: Import Example Flows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5: Run Your First Agent</a:t>
            </a:r>
            <a:endParaRPr b="1">
              <a:solidFill>
                <a:schemeClr val="accent3"/>
              </a:solidFill>
              <a:latin typeface="Roboto"/>
              <a:ea typeface="Roboto"/>
              <a:cs typeface="Roboto"/>
              <a:sym typeface="Roboto"/>
            </a:endParaRPr>
          </a:p>
        </p:txBody>
      </p:sp>
      <p:sp>
        <p:nvSpPr>
          <p:cNvPr id="282" name="Google Shape;282;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2"/>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5: Run Your First Agent</a:t>
            </a:r>
            <a:endParaRPr>
              <a:solidFill>
                <a:schemeClr val="accent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cxnSp>
        <p:nvCxnSpPr>
          <p:cNvPr id="288" name="Google Shape;288;p43"/>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89" name="Google Shape;289;p43"/>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Step 5: Run Your First Agent</a:t>
            </a:r>
            <a:endParaRPr b="0" sz="1800">
              <a:solidFill>
                <a:srgbClr val="0B5394"/>
              </a:solidFill>
              <a:latin typeface="Roboto Medium"/>
              <a:ea typeface="Roboto Medium"/>
              <a:cs typeface="Roboto Medium"/>
              <a:sym typeface="Roboto Medium"/>
            </a:endParaRPr>
          </a:p>
        </p:txBody>
      </p:sp>
      <p:sp>
        <p:nvSpPr>
          <p:cNvPr id="290" name="Google Shape;290;p4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291" name="Google Shape;291;p43"/>
          <p:cNvSpPr txBox="1"/>
          <p:nvPr/>
        </p:nvSpPr>
        <p:spPr>
          <a:xfrm>
            <a:off x="381000" y="914400"/>
            <a:ext cx="8587800" cy="3010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Open Kestra UI at </a:t>
            </a:r>
            <a:r>
              <a:rPr lang="en" sz="1800" u="sng">
                <a:solidFill>
                  <a:schemeClr val="hlink"/>
                </a:solidFill>
                <a:latin typeface="Roboto"/>
                <a:ea typeface="Roboto"/>
                <a:cs typeface="Roboto"/>
                <a:sym typeface="Roboto"/>
                <a:hlinkClick r:id="rId3"/>
              </a:rPr>
              <a:t>http://localhost:8080</a:t>
            </a:r>
            <a:endParaRPr sz="1800" u="sng">
              <a:solidFill>
                <a:schemeClr val="hlink"/>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AutoNum type="arabicPeriod"/>
            </a:pPr>
            <a:r>
              <a:rPr lang="en" sz="1800">
                <a:solidFill>
                  <a:srgbClr val="1F2328"/>
                </a:solidFill>
                <a:latin typeface="Roboto"/>
                <a:ea typeface="Roboto"/>
                <a:cs typeface="Roboto"/>
                <a:sym typeface="Roboto"/>
              </a:rPr>
              <a:t>Navigate to the project_name namespace</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AutoNum type="arabicPeriod"/>
            </a:pPr>
            <a:r>
              <a:rPr lang="en" sz="1800">
                <a:solidFill>
                  <a:srgbClr val="1F2328"/>
                </a:solidFill>
                <a:latin typeface="Roboto"/>
                <a:ea typeface="Roboto"/>
                <a:cs typeface="Roboto"/>
                <a:sym typeface="Roboto"/>
              </a:rPr>
              <a:t>Find the </a:t>
            </a:r>
            <a:r>
              <a:rPr lang="en" sz="1800">
                <a:solidFill>
                  <a:schemeClr val="accent3"/>
                </a:solidFill>
                <a:latin typeface="Roboto"/>
                <a:ea typeface="Roboto"/>
                <a:cs typeface="Roboto"/>
                <a:sym typeface="Roboto"/>
              </a:rPr>
              <a:t>4_simple_agent</a:t>
            </a:r>
            <a:r>
              <a:rPr lang="en" sz="1800">
                <a:solidFill>
                  <a:srgbClr val="1F2328"/>
                </a:solidFill>
                <a:latin typeface="Roboto"/>
                <a:ea typeface="Roboto"/>
                <a:cs typeface="Roboto"/>
                <a:sym typeface="Roboto"/>
              </a:rPr>
              <a:t> flow and click "Execute"</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Leave default inputs or customize them</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Font typeface="Roboto"/>
              <a:buAutoNum type="arabicPeriod"/>
            </a:pPr>
            <a:r>
              <a:rPr lang="en" sz="1800">
                <a:solidFill>
                  <a:srgbClr val="1F2328"/>
                </a:solidFill>
                <a:latin typeface="Roboto"/>
                <a:ea typeface="Roboto"/>
                <a:cs typeface="Roboto"/>
                <a:sym typeface="Roboto"/>
              </a:rPr>
              <a:t>Watch the execution and review the outputs</a:t>
            </a:r>
            <a:endParaRPr sz="1800">
              <a:solidFill>
                <a:srgbClr val="1F2328"/>
              </a:solidFill>
              <a:latin typeface="Roboto"/>
              <a:ea typeface="Roboto"/>
              <a:cs typeface="Roboto"/>
              <a:sym typeface="Roboto"/>
            </a:endParaRPr>
          </a:p>
          <a:p>
            <a:pPr indent="-342900" lvl="0" marL="457200" rtl="0" algn="l">
              <a:lnSpc>
                <a:spcPct val="115000"/>
              </a:lnSpc>
              <a:spcBef>
                <a:spcPts val="0"/>
              </a:spcBef>
              <a:spcAft>
                <a:spcPts val="0"/>
              </a:spcAft>
              <a:buClr>
                <a:srgbClr val="1F2328"/>
              </a:buClr>
              <a:buSzPts val="1800"/>
              <a:buAutoNum type="arabicPeriod"/>
            </a:pPr>
            <a:r>
              <a:rPr lang="en" sz="1800">
                <a:solidFill>
                  <a:srgbClr val="1F2328"/>
                </a:solidFill>
                <a:latin typeface="Roboto"/>
                <a:ea typeface="Roboto"/>
                <a:cs typeface="Roboto"/>
                <a:sym typeface="Roboto"/>
              </a:rPr>
              <a:t>Then run </a:t>
            </a:r>
            <a:r>
              <a:rPr lang="en" sz="1800">
                <a:solidFill>
                  <a:schemeClr val="accent3"/>
                </a:solidFill>
                <a:latin typeface="Roboto"/>
                <a:ea typeface="Roboto"/>
                <a:cs typeface="Roboto"/>
                <a:sym typeface="Roboto"/>
              </a:rPr>
              <a:t>5_web_research_agent</a:t>
            </a:r>
            <a:r>
              <a:rPr lang="en" sz="1800">
                <a:solidFill>
                  <a:srgbClr val="1F2328"/>
                </a:solidFill>
                <a:latin typeface="Roboto"/>
                <a:ea typeface="Roboto"/>
                <a:cs typeface="Roboto"/>
                <a:sym typeface="Roboto"/>
              </a:rPr>
              <a:t> and </a:t>
            </a:r>
            <a:r>
              <a:rPr lang="en" sz="1800">
                <a:solidFill>
                  <a:schemeClr val="accent3"/>
                </a:solidFill>
                <a:latin typeface="Roboto"/>
                <a:ea typeface="Roboto"/>
                <a:cs typeface="Roboto"/>
                <a:sym typeface="Roboto"/>
              </a:rPr>
              <a:t>6_multi_agent_research</a:t>
            </a:r>
            <a:r>
              <a:rPr lang="en" sz="1800">
                <a:solidFill>
                  <a:srgbClr val="1F2328"/>
                </a:solidFill>
                <a:latin typeface="Roboto"/>
                <a:ea typeface="Roboto"/>
                <a:cs typeface="Roboto"/>
                <a:sym typeface="Roboto"/>
              </a:rPr>
              <a:t> and analyze the logs and outputs</a:t>
            </a:r>
            <a:endParaRPr sz="18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