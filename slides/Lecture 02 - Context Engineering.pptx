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6858000" cy="9144000"/>
  <p:embeddedFontLst>
    <p:embeddedFont>
      <p:font typeface="Roboto Medium"/>
      <p:regular r:id="rId14"/>
      <p:bold r:id="rId15"/>
      <p:italic r:id="rId16"/>
      <p:boldItalic r:id="rId17"/>
    </p:embeddedFont>
    <p:embeddedFont>
      <p:font typeface="Roboto"/>
      <p:regular r:id="rId18"/>
      <p:bold r:id="rId19"/>
      <p:italic r:id="rId20"/>
      <p:boldItalic r:id="rId21"/>
    </p:embeddedFont>
    <p:embeddedFont>
      <p:font typeface="Roboto Light"/>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RobotoLight-regular.fntdata"/><Relationship Id="rId21" Type="http://schemas.openxmlformats.org/officeDocument/2006/relationships/font" Target="fonts/Roboto-boldItalic.fntdata"/><Relationship Id="rId24" Type="http://schemas.openxmlformats.org/officeDocument/2006/relationships/font" Target="fonts/RobotoLight-italic.fntdata"/><Relationship Id="rId23" Type="http://schemas.openxmlformats.org/officeDocument/2006/relationships/font" Target="fonts/RobotoLight-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RobotoLight-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RobotoMedium-bold.fntdata"/><Relationship Id="rId14" Type="http://schemas.openxmlformats.org/officeDocument/2006/relationships/font" Target="fonts/RobotoMedium-regular.fntdata"/><Relationship Id="rId17" Type="http://schemas.openxmlformats.org/officeDocument/2006/relationships/font" Target="fonts/RobotoMedium-boldItalic.fntdata"/><Relationship Id="rId16" Type="http://schemas.openxmlformats.org/officeDocument/2006/relationships/font" Target="fonts/RobotoMedium-italic.fntdata"/><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9143fda576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9143fda576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9143fda576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9143fda576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6299bbfca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f6299bbf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5bca5494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f5bca5494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f6299bbfca_0_15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f6299bbfca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5bca5494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f5bca5494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f6299bbfca_0_16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f6299bbfca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f5bca5494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f5bca5494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6299bbfca_0_17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f6299bbfca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2" name="Google Shape;12;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3"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9" name="Google Shape;29;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30" name="Google Shape;30;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3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4" name="Google Shape;34;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6" name="Google Shape;36;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37" name="Google Shape;37;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8" name="Google Shape;38;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9"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2" name="Google Shape;42;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3" name="Google Shape;43;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44" name="Google Shape;44;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5" name="Google Shape;45;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8"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1" name="Google Shape;51;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52" name="Google Shape;52;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3" name="Google Shape;53;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7"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0" name="Google Shape;60;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61" name="Google Shape;61;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62" name="Google Shape;62;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3" name="Google Shape;63;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6"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9" name="Google Shape;69;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70" name="Google Shape;70;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71" name="Google Shape;71;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2" name="Google Shape;72;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78" name="Google Shape;7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80" name="Google Shape;80;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7" name="Google Shape;87;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8"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1" name="Google Shape;91;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2" name="Google Shape;9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5"/>
          <p:cNvSpPr txBox="1"/>
          <p:nvPr>
            <p:ph type="title"/>
          </p:nvPr>
        </p:nvSpPr>
        <p:spPr>
          <a:xfrm>
            <a:off x="95425" y="4382350"/>
            <a:ext cx="842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cxnSp>
        <p:nvCxnSpPr>
          <p:cNvPr id="97" name="Google Shape;97;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100" name="Shape 100"/>
        <p:cNvGrpSpPr/>
        <p:nvPr/>
      </p:nvGrpSpPr>
      <p:grpSpPr>
        <a:xfrm>
          <a:off x="0" y="0"/>
          <a:ext cx="0" cy="0"/>
          <a:chOff x="0" y="0"/>
          <a:chExt cx="0" cy="0"/>
        </a:xfrm>
      </p:grpSpPr>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2"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8" name="Google Shape;108;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9" name="Google Shape;109;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6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10"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3" name="Google Shape;113;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4" name="Google Shape;114;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15" name="Google Shape;11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6"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0" name="Google Shape;120;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1" name="Google Shape;121;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3"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7" name="Google Shape;127;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8" name="Google Shape;128;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9" name="Google Shape;129;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3" name="Google Shape;13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4"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38" name="Google Shape;138;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39" name="Google Shape;139;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f06253986f_7_0)">
  <p:cSld name="Title and body (g3f06253986f_7_0)">
    <p:spTree>
      <p:nvGrpSpPr>
        <p:cNvPr id="140" name="Shape 140"/>
        <p:cNvGrpSpPr/>
        <p:nvPr/>
      </p:nvGrpSpPr>
      <p:grpSpPr>
        <a:xfrm>
          <a:off x="0" y="0"/>
          <a:ext cx="0" cy="0"/>
          <a:chOff x="0" y="0"/>
          <a:chExt cx="0" cy="0"/>
        </a:xfrm>
      </p:grpSpPr>
      <p:sp>
        <p:nvSpPr>
          <p:cNvPr id="141" name="Google Shape;141;p2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b="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2" name="Google Shape;142;p2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30200" lvl="0" marL="457200">
              <a:spcBef>
                <a:spcPts val="600"/>
              </a:spcBef>
              <a:spcAft>
                <a:spcPts val="0"/>
              </a:spcAft>
              <a:buSzPts val="1600"/>
              <a:buChar char="●"/>
              <a:defRPr/>
            </a:lvl1pPr>
            <a:lvl2pPr indent="-330200" lvl="1" marL="914400">
              <a:spcBef>
                <a:spcPts val="600"/>
              </a:spcBef>
              <a:spcAft>
                <a:spcPts val="0"/>
              </a:spcAft>
              <a:buSzPts val="1600"/>
              <a:buChar char="○"/>
              <a:defRPr/>
            </a:lvl2pPr>
            <a:lvl3pPr indent="-330200" lvl="2" marL="1371600">
              <a:spcBef>
                <a:spcPts val="600"/>
              </a:spcBef>
              <a:spcAft>
                <a:spcPts val="0"/>
              </a:spcAft>
              <a:buSzPts val="1600"/>
              <a:buChar char="■"/>
              <a:defRPr/>
            </a:lvl3pPr>
            <a:lvl4pPr indent="-330200" lvl="3" marL="1828800">
              <a:spcBef>
                <a:spcPts val="600"/>
              </a:spcBef>
              <a:spcAft>
                <a:spcPts val="0"/>
              </a:spcAft>
              <a:buSzPts val="1600"/>
              <a:buChar char="●"/>
              <a:defRPr/>
            </a:lvl4pPr>
            <a:lvl5pPr indent="-330200" lvl="4" marL="2286000">
              <a:spcBef>
                <a:spcPts val="600"/>
              </a:spcBef>
              <a:spcAft>
                <a:spcPts val="0"/>
              </a:spcAft>
              <a:buSzPts val="1600"/>
              <a:buChar char="○"/>
              <a:defRPr/>
            </a:lvl5pPr>
            <a:lvl6pPr indent="-330200" lvl="5" marL="2743200">
              <a:spcBef>
                <a:spcPts val="600"/>
              </a:spcBef>
              <a:spcAft>
                <a:spcPts val="0"/>
              </a:spcAft>
              <a:buSzPts val="1600"/>
              <a:buChar char="■"/>
              <a:defRPr/>
            </a:lvl6pPr>
            <a:lvl7pPr indent="-330200" lvl="6" marL="3200400">
              <a:spcBef>
                <a:spcPts val="600"/>
              </a:spcBef>
              <a:spcAft>
                <a:spcPts val="0"/>
              </a:spcAft>
              <a:buSzPts val="1600"/>
              <a:buChar char="●"/>
              <a:defRPr/>
            </a:lvl7pPr>
            <a:lvl8pPr indent="-330200" lvl="7" marL="3657600">
              <a:spcBef>
                <a:spcPts val="600"/>
              </a:spcBef>
              <a:spcAft>
                <a:spcPts val="0"/>
              </a:spcAft>
              <a:buSzPts val="1600"/>
              <a:buChar char="○"/>
              <a:defRPr/>
            </a:lvl8pPr>
            <a:lvl9pPr indent="-330200" lvl="8" marL="4114800">
              <a:spcBef>
                <a:spcPts val="600"/>
              </a:spcBef>
              <a:spcAft>
                <a:spcPts val="0"/>
              </a:spcAft>
              <a:buSzPts val="1600"/>
              <a:buChar char="■"/>
              <a:defRPr/>
            </a:lvl9pPr>
          </a:lstStyle>
          <a:p/>
        </p:txBody>
      </p:sp>
      <p:sp>
        <p:nvSpPr>
          <p:cNvPr id="143" name="Google Shape;143;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f06253986f_14_0)">
  <p:cSld name="Title and body (g3f06253986f_14_0)">
    <p:spTree>
      <p:nvGrpSpPr>
        <p:cNvPr id="144" name="Shape 144"/>
        <p:cNvGrpSpPr/>
        <p:nvPr/>
      </p:nvGrpSpPr>
      <p:grpSpPr>
        <a:xfrm>
          <a:off x="0" y="0"/>
          <a:ext cx="0" cy="0"/>
          <a:chOff x="0" y="0"/>
          <a:chExt cx="0" cy="0"/>
        </a:xfrm>
      </p:grpSpPr>
      <p:sp>
        <p:nvSpPr>
          <p:cNvPr id="145" name="Google Shape;145;p2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b="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6" name="Google Shape;146;p2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30200" lvl="0" marL="457200">
              <a:spcBef>
                <a:spcPts val="600"/>
              </a:spcBef>
              <a:spcAft>
                <a:spcPts val="0"/>
              </a:spcAft>
              <a:buSzPts val="1600"/>
              <a:buChar char="●"/>
              <a:defRPr/>
            </a:lvl1pPr>
            <a:lvl2pPr indent="-330200" lvl="1" marL="914400">
              <a:spcBef>
                <a:spcPts val="600"/>
              </a:spcBef>
              <a:spcAft>
                <a:spcPts val="0"/>
              </a:spcAft>
              <a:buSzPts val="1600"/>
              <a:buChar char="○"/>
              <a:defRPr/>
            </a:lvl2pPr>
            <a:lvl3pPr indent="-330200" lvl="2" marL="1371600">
              <a:spcBef>
                <a:spcPts val="600"/>
              </a:spcBef>
              <a:spcAft>
                <a:spcPts val="0"/>
              </a:spcAft>
              <a:buSzPts val="1600"/>
              <a:buChar char="■"/>
              <a:defRPr/>
            </a:lvl3pPr>
            <a:lvl4pPr indent="-330200" lvl="3" marL="1828800">
              <a:spcBef>
                <a:spcPts val="600"/>
              </a:spcBef>
              <a:spcAft>
                <a:spcPts val="0"/>
              </a:spcAft>
              <a:buSzPts val="1600"/>
              <a:buChar char="●"/>
              <a:defRPr/>
            </a:lvl4pPr>
            <a:lvl5pPr indent="-330200" lvl="4" marL="2286000">
              <a:spcBef>
                <a:spcPts val="600"/>
              </a:spcBef>
              <a:spcAft>
                <a:spcPts val="0"/>
              </a:spcAft>
              <a:buSzPts val="1600"/>
              <a:buChar char="○"/>
              <a:defRPr/>
            </a:lvl5pPr>
            <a:lvl6pPr indent="-330200" lvl="5" marL="2743200">
              <a:spcBef>
                <a:spcPts val="600"/>
              </a:spcBef>
              <a:spcAft>
                <a:spcPts val="0"/>
              </a:spcAft>
              <a:buSzPts val="1600"/>
              <a:buChar char="■"/>
              <a:defRPr/>
            </a:lvl6pPr>
            <a:lvl7pPr indent="-330200" lvl="6" marL="3200400">
              <a:spcBef>
                <a:spcPts val="600"/>
              </a:spcBef>
              <a:spcAft>
                <a:spcPts val="0"/>
              </a:spcAft>
              <a:buSzPts val="1600"/>
              <a:buChar char="●"/>
              <a:defRPr/>
            </a:lvl7pPr>
            <a:lvl8pPr indent="-330200" lvl="7" marL="3657600">
              <a:spcBef>
                <a:spcPts val="600"/>
              </a:spcBef>
              <a:spcAft>
                <a:spcPts val="0"/>
              </a:spcAft>
              <a:buSzPts val="1600"/>
              <a:buChar char="○"/>
              <a:defRPr/>
            </a:lvl8pPr>
            <a:lvl9pPr indent="-330200" lvl="8" marL="4114800">
              <a:spcBef>
                <a:spcPts val="600"/>
              </a:spcBef>
              <a:spcAft>
                <a:spcPts val="0"/>
              </a:spcAft>
              <a:buSzPts val="1600"/>
              <a:buChar char="■"/>
              <a:defRPr/>
            </a:lvl9pPr>
          </a:lstStyle>
          <a:p/>
        </p:txBody>
      </p:sp>
      <p:sp>
        <p:nvSpPr>
          <p:cNvPr id="147" name="Google Shape;147;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theme" Target="../theme/theme2.xml"/><Relationship Id="rId25" Type="http://schemas.openxmlformats.org/officeDocument/2006/relationships/slideLayout" Target="../slideLayouts/slideLayout24.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30200" lvl="0" marL="4572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1pPr>
            <a:lvl2pPr indent="-330200" lvl="1" marL="9144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2pPr>
            <a:lvl3pPr indent="-330200" lvl="2" marL="13716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3pPr>
            <a:lvl4pPr indent="-330200" lvl="3" marL="18288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4pPr>
            <a:lvl5pPr indent="-330200" lvl="4" marL="22860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5pPr>
            <a:lvl6pPr indent="-330200" lvl="5" marL="27432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6pPr>
            <a:lvl7pPr indent="-330200" lvl="6" marL="32004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7pPr>
            <a:lvl8pPr indent="-330200" lvl="7" marL="36576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8pPr>
            <a:lvl9pPr indent="-330200" lvl="8" marL="41148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0" y="4983478"/>
            <a:ext cx="457200" cy="160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ctrTitle"/>
          </p:nvPr>
        </p:nvSpPr>
        <p:spPr>
          <a:xfrm>
            <a:off x="311700" y="1811375"/>
            <a:ext cx="8709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200">
                <a:solidFill>
                  <a:schemeClr val="accent3"/>
                </a:solidFill>
              </a:rPr>
              <a:t>Context Engineering</a:t>
            </a:r>
            <a:endParaRPr sz="4200"/>
          </a:p>
        </p:txBody>
      </p:sp>
      <p:sp>
        <p:nvSpPr>
          <p:cNvPr id="153" name="Google Shape;153;p26"/>
          <p:cNvSpPr txBox="1"/>
          <p:nvPr/>
        </p:nvSpPr>
        <p:spPr>
          <a:xfrm>
            <a:off x="345775" y="28927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02 | July, 2026</a:t>
            </a:r>
            <a:endParaRPr sz="1200">
              <a:solidFill>
                <a:srgbClr val="BF9000"/>
              </a:solidFill>
              <a:latin typeface="Roboto Medium"/>
              <a:ea typeface="Roboto Medium"/>
              <a:cs typeface="Roboto Medium"/>
              <a:sym typeface="Roboto Medium"/>
            </a:endParaRPr>
          </a:p>
        </p:txBody>
      </p:sp>
      <p:sp>
        <p:nvSpPr>
          <p:cNvPr id="154" name="Google Shape;154;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26"/>
          <p:cNvSpPr txBox="1"/>
          <p:nvPr/>
        </p:nvSpPr>
        <p:spPr>
          <a:xfrm>
            <a:off x="311700" y="3769550"/>
            <a:ext cx="8520600" cy="11673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Light"/>
                <a:ea typeface="Roboto Light"/>
                <a:cs typeface="Roboto Light"/>
                <a:sym typeface="Roboto Light"/>
              </a:rPr>
              <a:t>Instructor</a:t>
            </a:r>
            <a:r>
              <a:rPr lang="en" sz="1600">
                <a:latin typeface="Roboto Light"/>
                <a:ea typeface="Roboto Light"/>
                <a:cs typeface="Roboto Light"/>
                <a:sym typeface="Roboto Light"/>
              </a:rPr>
              <a:t>: Sithvothy Kiv </a:t>
            </a:r>
            <a:endParaRPr sz="1600">
              <a:latin typeface="Roboto Light"/>
              <a:ea typeface="Roboto Light"/>
              <a:cs typeface="Roboto Light"/>
              <a:sym typeface="Roboto Light"/>
            </a:endParaRPr>
          </a:p>
          <a:p>
            <a:pPr indent="0" lvl="0" marL="0" rtl="0" algn="l">
              <a:spcBef>
                <a:spcPts val="600"/>
              </a:spcBef>
              <a:spcAft>
                <a:spcPts val="0"/>
              </a:spcAft>
              <a:buNone/>
            </a:pPr>
            <a:r>
              <a:rPr lang="en" sz="1600">
                <a:latin typeface="Roboto Light"/>
                <a:ea typeface="Roboto Light"/>
                <a:cs typeface="Roboto Light"/>
                <a:sym typeface="Roboto Light"/>
              </a:rPr>
              <a:t>Slides Credit: Josh Hug</a:t>
            </a:r>
            <a:endParaRPr sz="1600">
              <a:latin typeface="Roboto Light"/>
              <a:ea typeface="Roboto Light"/>
              <a:cs typeface="Roboto Light"/>
              <a:sym typeface="Roboto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Context Engineering</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Experiment: ChatGPT Without Context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Why Does This Happen?</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Context is Everything</a:t>
            </a:r>
            <a:endParaRPr>
              <a:solidFill>
                <a:schemeClr val="dk2"/>
              </a:solidFill>
            </a:endParaRPr>
          </a:p>
        </p:txBody>
      </p:sp>
      <p:sp>
        <p:nvSpPr>
          <p:cNvPr id="161" name="Google Shape;161;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2" name="Google Shape;162;p27"/>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Context Engineering</a:t>
            </a:r>
            <a:endParaRPr>
              <a:solidFill>
                <a:schemeClr val="accent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cxnSp>
        <p:nvCxnSpPr>
          <p:cNvPr id="167" name="Google Shape;167;p28"/>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168" name="Google Shape;168;p28"/>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Context Engineering</a:t>
            </a:r>
            <a:endParaRPr b="0" sz="1800">
              <a:solidFill>
                <a:srgbClr val="0B5394"/>
              </a:solidFill>
              <a:latin typeface="Roboto Medium"/>
              <a:ea typeface="Roboto Medium"/>
              <a:cs typeface="Roboto Medium"/>
              <a:sym typeface="Roboto Medium"/>
            </a:endParaRPr>
          </a:p>
        </p:txBody>
      </p:sp>
      <p:grpSp>
        <p:nvGrpSpPr>
          <p:cNvPr id="169" name="Google Shape;169;p28"/>
          <p:cNvGrpSpPr/>
          <p:nvPr/>
        </p:nvGrpSpPr>
        <p:grpSpPr>
          <a:xfrm>
            <a:off x="428625" y="952500"/>
            <a:ext cx="8286900" cy="571500"/>
            <a:chOff x="0" y="0"/>
            <a:chExt cx="8286900" cy="571500"/>
          </a:xfrm>
        </p:grpSpPr>
        <p:sp>
          <p:nvSpPr>
            <p:cNvPr id="170" name="Google Shape;170;p28"/>
            <p:cNvSpPr/>
            <p:nvPr/>
          </p:nvSpPr>
          <p:spPr>
            <a:xfrm>
              <a:off x="0" y="0"/>
              <a:ext cx="82869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28"/>
            <p:cNvSpPr txBox="1"/>
            <p:nvPr/>
          </p:nvSpPr>
          <p:spPr>
            <a:xfrm>
              <a:off x="0" y="0"/>
              <a:ext cx="8286900" cy="359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500">
                  <a:solidFill>
                    <a:srgbClr val="1F2328"/>
                  </a:solidFill>
                  <a:latin typeface="Roboto"/>
                  <a:ea typeface="Roboto"/>
                  <a:cs typeface="Roboto"/>
                  <a:sym typeface="Roboto"/>
                </a:rPr>
                <a:t>Let's start by seeing what happens when AI lacks proper context.</a:t>
              </a:r>
              <a:endParaRPr sz="1500">
                <a:solidFill>
                  <a:srgbClr val="1F2328"/>
                </a:solidFill>
                <a:latin typeface="Roboto"/>
                <a:ea typeface="Roboto"/>
                <a:cs typeface="Roboto"/>
                <a:sym typeface="Roboto"/>
              </a:endParaRPr>
            </a:p>
            <a:p>
              <a:pPr indent="0" lvl="0" marL="0" rtl="0" algn="l">
                <a:spcBef>
                  <a:spcPts val="0"/>
                </a:spcBef>
                <a:spcAft>
                  <a:spcPts val="0"/>
                </a:spcAft>
                <a:buNone/>
              </a:pPr>
              <a:r>
                <a:t/>
              </a:r>
              <a:endParaRPr sz="1500">
                <a:solidFill>
                  <a:srgbClr val="1F2328"/>
                </a:solidFill>
                <a:latin typeface="Roboto"/>
                <a:ea typeface="Roboto"/>
                <a:cs typeface="Roboto"/>
                <a:sym typeface="Roboto"/>
              </a:endParaRPr>
            </a:p>
          </p:txBody>
        </p:sp>
      </p:grpSp>
      <p:sp>
        <p:nvSpPr>
          <p:cNvPr id="172" name="Google Shape;172;p28"/>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Context Engineering</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Experiment: ChatGPT Without Context</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Why Does This Happen?</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Context is Everything</a:t>
            </a:r>
            <a:endParaRPr>
              <a:solidFill>
                <a:schemeClr val="dk2"/>
              </a:solidFill>
            </a:endParaRPr>
          </a:p>
        </p:txBody>
      </p:sp>
      <p:sp>
        <p:nvSpPr>
          <p:cNvPr id="178" name="Google Shape;178;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9" name="Google Shape;179;p29"/>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Experiment: ChatGPT Without Context</a:t>
            </a:r>
            <a:endParaRPr>
              <a:solidFill>
                <a:schemeClr val="accent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cxnSp>
        <p:nvCxnSpPr>
          <p:cNvPr id="184" name="Google Shape;184;p30"/>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185" name="Google Shape;185;p30"/>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Experiment: ChatGPT Without Context</a:t>
            </a:r>
            <a:endParaRPr b="0" sz="1800">
              <a:solidFill>
                <a:srgbClr val="0B5394"/>
              </a:solidFill>
              <a:latin typeface="Roboto Medium"/>
              <a:ea typeface="Roboto Medium"/>
              <a:cs typeface="Roboto Medium"/>
              <a:sym typeface="Roboto Medium"/>
            </a:endParaRPr>
          </a:p>
        </p:txBody>
      </p:sp>
      <p:grpSp>
        <p:nvGrpSpPr>
          <p:cNvPr id="186" name="Google Shape;186;p30"/>
          <p:cNvGrpSpPr/>
          <p:nvPr/>
        </p:nvGrpSpPr>
        <p:grpSpPr>
          <a:xfrm>
            <a:off x="428625" y="952500"/>
            <a:ext cx="8286900" cy="3023700"/>
            <a:chOff x="0" y="0"/>
            <a:chExt cx="8286900" cy="3023700"/>
          </a:xfrm>
        </p:grpSpPr>
        <p:sp>
          <p:nvSpPr>
            <p:cNvPr id="187" name="Google Shape;187;p30"/>
            <p:cNvSpPr/>
            <p:nvPr/>
          </p:nvSpPr>
          <p:spPr>
            <a:xfrm>
              <a:off x="0" y="0"/>
              <a:ext cx="82869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30"/>
            <p:cNvSpPr txBox="1"/>
            <p:nvPr/>
          </p:nvSpPr>
          <p:spPr>
            <a:xfrm>
              <a:off x="0" y="0"/>
              <a:ext cx="8286900" cy="3023700"/>
            </a:xfrm>
            <a:prstGeom prst="rect">
              <a:avLst/>
            </a:prstGeom>
            <a:noFill/>
            <a:ln>
              <a:noFill/>
            </a:ln>
          </p:spPr>
          <p:txBody>
            <a:bodyPr anchorCtr="0" anchor="t" bIns="0" lIns="0" spcFirstLastPara="1" rIns="0" wrap="square" tIns="0">
              <a:noAutofit/>
            </a:bodyPr>
            <a:lstStyle/>
            <a:p>
              <a:pPr indent="-336550" lvl="0" marL="457200" rtl="0" algn="l">
                <a:lnSpc>
                  <a:spcPct val="115000"/>
                </a:lnSpc>
                <a:spcBef>
                  <a:spcPts val="0"/>
                </a:spcBef>
                <a:spcAft>
                  <a:spcPts val="0"/>
                </a:spcAft>
                <a:buClr>
                  <a:schemeClr val="dk1"/>
                </a:buClr>
                <a:buSzPts val="1700"/>
                <a:buFont typeface="Roboto"/>
                <a:buAutoNum type="arabicPeriod"/>
              </a:pPr>
              <a:r>
                <a:rPr lang="en" sz="1700">
                  <a:solidFill>
                    <a:schemeClr val="dk1"/>
                  </a:solidFill>
                  <a:latin typeface="Roboto"/>
                  <a:ea typeface="Roboto"/>
                  <a:cs typeface="Roboto"/>
                  <a:sym typeface="Roboto"/>
                </a:rPr>
                <a:t>Open ChatGPT in a private browser window (to avoid any existing chat context)</a:t>
              </a:r>
              <a:endParaRPr sz="1700">
                <a:solidFill>
                  <a:schemeClr val="dk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Font typeface="Roboto"/>
                <a:buAutoNum type="arabicPeriod"/>
              </a:pPr>
              <a:r>
                <a:rPr lang="en" sz="1700">
                  <a:solidFill>
                    <a:schemeClr val="dk1"/>
                  </a:solidFill>
                  <a:latin typeface="Roboto"/>
                  <a:ea typeface="Roboto"/>
                  <a:cs typeface="Roboto"/>
                  <a:sym typeface="Roboto"/>
                </a:rPr>
                <a:t>Enter this prompt:</a:t>
              </a:r>
              <a:endParaRPr sz="1700">
                <a:solidFill>
                  <a:schemeClr val="dk1"/>
                </a:solidFill>
                <a:latin typeface="Roboto"/>
                <a:ea typeface="Roboto"/>
                <a:cs typeface="Roboto"/>
                <a:sym typeface="Roboto"/>
              </a:endParaRPr>
            </a:p>
            <a:p>
              <a:pPr indent="0" lvl="0" marL="0" rtl="0" algn="l">
                <a:spcBef>
                  <a:spcPts val="0"/>
                </a:spcBef>
                <a:spcAft>
                  <a:spcPts val="0"/>
                </a:spcAft>
                <a:buNone/>
              </a:pPr>
              <a:r>
                <a:rPr lang="en" sz="1700">
                  <a:solidFill>
                    <a:schemeClr val="accent3"/>
                  </a:solidFill>
                  <a:latin typeface="Roboto"/>
                  <a:ea typeface="Roboto"/>
                  <a:cs typeface="Roboto"/>
                  <a:sym typeface="Roboto"/>
                </a:rPr>
                <a:t>“</a:t>
              </a:r>
              <a:r>
                <a:rPr lang="en" sz="1700">
                  <a:solidFill>
                    <a:schemeClr val="accent3"/>
                  </a:solidFill>
                  <a:latin typeface="Roboto"/>
                  <a:ea typeface="Roboto"/>
                  <a:cs typeface="Roboto"/>
                  <a:sym typeface="Roboto"/>
                </a:rPr>
                <a:t>Create a Kestra flow that loads NYC taxi data from a CSV file to BigQuery. The flow should extract data, upload to GCS, and load to BigQuery.</a:t>
              </a:r>
              <a:r>
                <a:rPr lang="en" sz="1700">
                  <a:solidFill>
                    <a:schemeClr val="accent3"/>
                  </a:solidFill>
                  <a:latin typeface="Roboto"/>
                  <a:ea typeface="Roboto"/>
                  <a:cs typeface="Roboto"/>
                  <a:sym typeface="Roboto"/>
                </a:rPr>
                <a:t>”</a:t>
              </a:r>
              <a:endParaRPr sz="1700">
                <a:solidFill>
                  <a:schemeClr val="accent3"/>
                </a:solidFill>
                <a:latin typeface="Roboto"/>
                <a:ea typeface="Roboto"/>
                <a:cs typeface="Roboto"/>
                <a:sym typeface="Roboto"/>
              </a:endParaRPr>
            </a:p>
            <a:p>
              <a:pPr indent="-336550" lvl="0" marL="457200" rtl="0" algn="l">
                <a:lnSpc>
                  <a:spcPct val="115000"/>
                </a:lnSpc>
                <a:spcBef>
                  <a:spcPts val="300"/>
                </a:spcBef>
                <a:spcAft>
                  <a:spcPts val="0"/>
                </a:spcAft>
                <a:buClr>
                  <a:schemeClr val="dk1"/>
                </a:buClr>
                <a:buSzPts val="1700"/>
                <a:buFont typeface="Roboto"/>
                <a:buAutoNum type="arabicPeriod"/>
              </a:pPr>
              <a:r>
                <a:rPr lang="en" sz="1700">
                  <a:solidFill>
                    <a:schemeClr val="dk1"/>
                  </a:solidFill>
                  <a:latin typeface="Roboto"/>
                  <a:ea typeface="Roboto"/>
                  <a:cs typeface="Roboto"/>
                  <a:sym typeface="Roboto"/>
                </a:rPr>
                <a:t>Observe the results. ChatGPT will generate a Kestra flow, but it likely contains:</a:t>
              </a:r>
              <a:endParaRPr sz="1700">
                <a:solidFill>
                  <a:schemeClr val="dk1"/>
                </a:solidFill>
                <a:latin typeface="Roboto"/>
                <a:ea typeface="Roboto"/>
                <a:cs typeface="Roboto"/>
                <a:sym typeface="Roboto"/>
              </a:endParaRPr>
            </a:p>
            <a:p>
              <a:pPr indent="-336550" lvl="1" marL="914400" rtl="0" algn="l">
                <a:lnSpc>
                  <a:spcPct val="115000"/>
                </a:lnSpc>
                <a:spcBef>
                  <a:spcPts val="0"/>
                </a:spcBef>
                <a:spcAft>
                  <a:spcPts val="0"/>
                </a:spcAft>
                <a:buClr>
                  <a:schemeClr val="dk1"/>
                </a:buClr>
                <a:buSzPts val="1700"/>
                <a:buFont typeface="Roboto"/>
                <a:buChar char="○"/>
              </a:pPr>
              <a:r>
                <a:rPr lang="en" sz="1700">
                  <a:solidFill>
                    <a:schemeClr val="dk1"/>
                  </a:solidFill>
                  <a:latin typeface="Roboto"/>
                  <a:ea typeface="Roboto"/>
                  <a:cs typeface="Roboto"/>
                  <a:sym typeface="Roboto"/>
                </a:rPr>
                <a:t>Outdated plugin syntax (e.g., old task types that have been renamed)</a:t>
              </a:r>
              <a:endParaRPr sz="1700">
                <a:solidFill>
                  <a:schemeClr val="dk1"/>
                </a:solidFill>
                <a:latin typeface="Roboto"/>
                <a:ea typeface="Roboto"/>
                <a:cs typeface="Roboto"/>
                <a:sym typeface="Roboto"/>
              </a:endParaRPr>
            </a:p>
            <a:p>
              <a:pPr indent="-336550" lvl="1" marL="914400" rtl="0" algn="l">
                <a:lnSpc>
                  <a:spcPct val="115000"/>
                </a:lnSpc>
                <a:spcBef>
                  <a:spcPts val="0"/>
                </a:spcBef>
                <a:spcAft>
                  <a:spcPts val="0"/>
                </a:spcAft>
                <a:buClr>
                  <a:schemeClr val="dk1"/>
                </a:buClr>
                <a:buSzPts val="1700"/>
                <a:buFont typeface="Roboto"/>
                <a:buChar char="○"/>
              </a:pPr>
              <a:r>
                <a:rPr lang="en" sz="1700">
                  <a:solidFill>
                    <a:schemeClr val="dk1"/>
                  </a:solidFill>
                  <a:latin typeface="Roboto"/>
                  <a:ea typeface="Roboto"/>
                  <a:cs typeface="Roboto"/>
                  <a:sym typeface="Roboto"/>
                </a:rPr>
                <a:t>Incorrect property names (e.g., properties that don't exist in current versions)</a:t>
              </a:r>
              <a:endParaRPr sz="1700">
                <a:solidFill>
                  <a:schemeClr val="dk1"/>
                </a:solidFill>
                <a:latin typeface="Roboto"/>
                <a:ea typeface="Roboto"/>
                <a:cs typeface="Roboto"/>
                <a:sym typeface="Roboto"/>
              </a:endParaRPr>
            </a:p>
            <a:p>
              <a:pPr indent="-336550" lvl="1" marL="914400" rtl="0" algn="l">
                <a:lnSpc>
                  <a:spcPct val="115000"/>
                </a:lnSpc>
                <a:spcBef>
                  <a:spcPts val="0"/>
                </a:spcBef>
                <a:spcAft>
                  <a:spcPts val="0"/>
                </a:spcAft>
                <a:buClr>
                  <a:schemeClr val="dk1"/>
                </a:buClr>
                <a:buSzPts val="1700"/>
                <a:buFont typeface="Roboto"/>
                <a:buChar char="○"/>
              </a:pPr>
              <a:r>
                <a:rPr lang="en" sz="1700">
                  <a:solidFill>
                    <a:schemeClr val="dk1"/>
                  </a:solidFill>
                  <a:latin typeface="Roboto"/>
                  <a:ea typeface="Roboto"/>
                  <a:cs typeface="Roboto"/>
                  <a:sym typeface="Roboto"/>
                </a:rPr>
                <a:t>Hallucinated features (e.g., tasks, triggers, or properties that never existed)</a:t>
              </a:r>
              <a:endParaRPr sz="17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700">
                <a:solidFill>
                  <a:schemeClr val="dk1"/>
                </a:solidFill>
                <a:latin typeface="Roboto"/>
                <a:ea typeface="Roboto"/>
                <a:cs typeface="Roboto"/>
                <a:sym typeface="Roboto"/>
              </a:endParaRPr>
            </a:p>
            <a:p>
              <a:pPr indent="0" lvl="0" marL="0" rtl="0" algn="l">
                <a:spcBef>
                  <a:spcPts val="0"/>
                </a:spcBef>
                <a:spcAft>
                  <a:spcPts val="0"/>
                </a:spcAft>
                <a:buNone/>
              </a:pPr>
              <a:r>
                <a:t/>
              </a:r>
              <a:endParaRPr sz="1700">
                <a:solidFill>
                  <a:srgbClr val="1F2328"/>
                </a:solidFill>
                <a:latin typeface="Roboto"/>
                <a:ea typeface="Roboto"/>
                <a:cs typeface="Roboto"/>
                <a:sym typeface="Roboto"/>
              </a:endParaRPr>
            </a:p>
          </p:txBody>
        </p:sp>
      </p:grpSp>
      <p:sp>
        <p:nvSpPr>
          <p:cNvPr id="189" name="Google Shape;189;p30"/>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Context Engineering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Experiment: ChatGPT Without Context</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Why Does This Happen?</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Context is Everything</a:t>
            </a:r>
            <a:endParaRPr>
              <a:solidFill>
                <a:schemeClr val="dk2"/>
              </a:solidFill>
            </a:endParaRPr>
          </a:p>
        </p:txBody>
      </p:sp>
      <p:sp>
        <p:nvSpPr>
          <p:cNvPr id="195" name="Google Shape;195;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6" name="Google Shape;196;p31"/>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Why Does This Happen?</a:t>
            </a:r>
            <a:endParaRPr>
              <a:solidFill>
                <a:schemeClr val="accent3"/>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cxnSp>
        <p:nvCxnSpPr>
          <p:cNvPr id="201" name="Google Shape;201;p32"/>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02" name="Google Shape;202;p32"/>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Why Does This Happen?</a:t>
            </a:r>
            <a:endParaRPr b="0" sz="1800">
              <a:solidFill>
                <a:srgbClr val="0B5394"/>
              </a:solidFill>
              <a:latin typeface="Roboto Medium"/>
              <a:ea typeface="Roboto Medium"/>
              <a:cs typeface="Roboto Medium"/>
              <a:sym typeface="Roboto Medium"/>
            </a:endParaRPr>
          </a:p>
        </p:txBody>
      </p:sp>
      <p:sp>
        <p:nvSpPr>
          <p:cNvPr id="203" name="Google Shape;203;p32"/>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grpSp>
        <p:nvGrpSpPr>
          <p:cNvPr id="204" name="Google Shape;204;p32"/>
          <p:cNvGrpSpPr/>
          <p:nvPr/>
        </p:nvGrpSpPr>
        <p:grpSpPr>
          <a:xfrm>
            <a:off x="428625" y="952500"/>
            <a:ext cx="8286900" cy="1765200"/>
            <a:chOff x="0" y="0"/>
            <a:chExt cx="8286900" cy="1765200"/>
          </a:xfrm>
        </p:grpSpPr>
        <p:sp>
          <p:nvSpPr>
            <p:cNvPr id="205" name="Google Shape;205;p32"/>
            <p:cNvSpPr/>
            <p:nvPr/>
          </p:nvSpPr>
          <p:spPr>
            <a:xfrm>
              <a:off x="0" y="0"/>
              <a:ext cx="82869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32"/>
            <p:cNvSpPr txBox="1"/>
            <p:nvPr/>
          </p:nvSpPr>
          <p:spPr>
            <a:xfrm>
              <a:off x="0" y="0"/>
              <a:ext cx="8286900" cy="1765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700">
                  <a:solidFill>
                    <a:srgbClr val="1F2328"/>
                  </a:solidFill>
                  <a:latin typeface="Roboto"/>
                  <a:ea typeface="Roboto"/>
                  <a:cs typeface="Roboto"/>
                  <a:sym typeface="Roboto"/>
                </a:rPr>
                <a:t>Large Language Models like GPT are trained on data up to a specific point in time. They don't automatically know about software updates and new releases, renamed plugins or changed APIs, new best practices in your organisation, or specific configurations for your infrastructure.</a:t>
              </a:r>
              <a:endParaRPr sz="1700">
                <a:solidFill>
                  <a:srgbClr val="1F2328"/>
                </a:solidFill>
                <a:latin typeface="Roboto"/>
                <a:ea typeface="Roboto"/>
                <a:cs typeface="Roboto"/>
                <a:sym typeface="Roboto"/>
              </a:endParaRPr>
            </a:p>
            <a:p>
              <a:pPr indent="0" lvl="0" marL="0" rtl="0" algn="l">
                <a:spcBef>
                  <a:spcPts val="0"/>
                </a:spcBef>
                <a:spcAft>
                  <a:spcPts val="0"/>
                </a:spcAft>
                <a:buNone/>
              </a:pPr>
              <a:r>
                <a:t/>
              </a:r>
              <a:endParaRPr sz="17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Roboto"/>
                  <a:ea typeface="Roboto"/>
                  <a:cs typeface="Roboto"/>
                  <a:sym typeface="Roboto"/>
                </a:rPr>
                <a:t>This is the fundamental challenge of using AI: the model can only work with information it has access to.</a:t>
              </a:r>
              <a:endParaRPr sz="17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700">
                <a:solidFill>
                  <a:schemeClr val="dk1"/>
                </a:solidFill>
                <a:latin typeface="Roboto"/>
                <a:ea typeface="Roboto"/>
                <a:cs typeface="Roboto"/>
                <a:sym typeface="Roboto"/>
              </a:endParaRPr>
            </a:p>
            <a:p>
              <a:pPr indent="0" lvl="0" marL="0" rtl="0" algn="l">
                <a:spcBef>
                  <a:spcPts val="0"/>
                </a:spcBef>
                <a:spcAft>
                  <a:spcPts val="0"/>
                </a:spcAft>
                <a:buNone/>
              </a:pPr>
              <a:r>
                <a:t/>
              </a:r>
              <a:endParaRPr sz="1700">
                <a:solidFill>
                  <a:schemeClr val="dk1"/>
                </a:solidFill>
                <a:latin typeface="Roboto"/>
                <a:ea typeface="Roboto"/>
                <a:cs typeface="Roboto"/>
                <a:sym typeface="Robot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Context Engineering</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Experiment: ChatGPT Without Context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Why Does This Happen?</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Context is Everything</a:t>
            </a:r>
            <a:endParaRPr b="1">
              <a:solidFill>
                <a:schemeClr val="accent3"/>
              </a:solidFill>
              <a:latin typeface="Roboto"/>
              <a:ea typeface="Roboto"/>
              <a:cs typeface="Roboto"/>
              <a:sym typeface="Roboto"/>
            </a:endParaRPr>
          </a:p>
        </p:txBody>
      </p:sp>
      <p:sp>
        <p:nvSpPr>
          <p:cNvPr id="212" name="Google Shape;212;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3" name="Google Shape;213;p33"/>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Context is Everything</a:t>
            </a:r>
            <a:endParaRPr>
              <a:solidFill>
                <a:schemeClr val="accent3"/>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cxnSp>
        <p:nvCxnSpPr>
          <p:cNvPr id="218" name="Google Shape;218;p34"/>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19" name="Google Shape;219;p34"/>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Context is Everything</a:t>
            </a:r>
            <a:endParaRPr b="0" sz="1800">
              <a:solidFill>
                <a:srgbClr val="0B5394"/>
              </a:solidFill>
              <a:latin typeface="Roboto Medium"/>
              <a:ea typeface="Roboto Medium"/>
              <a:cs typeface="Roboto Medium"/>
              <a:sym typeface="Roboto Medium"/>
            </a:endParaRPr>
          </a:p>
        </p:txBody>
      </p:sp>
      <p:sp>
        <p:nvSpPr>
          <p:cNvPr id="220" name="Google Shape;220;p34"/>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grpSp>
        <p:nvGrpSpPr>
          <p:cNvPr id="221" name="Google Shape;221;p34"/>
          <p:cNvGrpSpPr/>
          <p:nvPr/>
        </p:nvGrpSpPr>
        <p:grpSpPr>
          <a:xfrm>
            <a:off x="428625" y="952500"/>
            <a:ext cx="8286900" cy="1917600"/>
            <a:chOff x="0" y="0"/>
            <a:chExt cx="8286900" cy="1917600"/>
          </a:xfrm>
        </p:grpSpPr>
        <p:sp>
          <p:nvSpPr>
            <p:cNvPr id="222" name="Google Shape;222;p34"/>
            <p:cNvSpPr/>
            <p:nvPr/>
          </p:nvSpPr>
          <p:spPr>
            <a:xfrm>
              <a:off x="0" y="0"/>
              <a:ext cx="82869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34"/>
            <p:cNvSpPr txBox="1"/>
            <p:nvPr/>
          </p:nvSpPr>
          <p:spPr>
            <a:xfrm>
              <a:off x="0" y="0"/>
              <a:ext cx="8286900" cy="1917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700">
                  <a:solidFill>
                    <a:srgbClr val="1F2328"/>
                  </a:solidFill>
                  <a:latin typeface="Roboto"/>
                  <a:ea typeface="Roboto"/>
                  <a:cs typeface="Roboto"/>
                  <a:sym typeface="Roboto"/>
                </a:rPr>
                <a:t>Without proper context, generic AI assistants hallucinate outdated or incorrect code that you can't trust for production use. With proper context, AI generates accurate, current, production-ready code you can iterate on quickly. The same principle applies whether you're generating flows or answering questions from your own data.</a:t>
              </a:r>
              <a:endParaRPr sz="1700">
                <a:solidFill>
                  <a:srgbClr val="1F2328"/>
                </a:solidFill>
                <a:latin typeface="Roboto"/>
                <a:ea typeface="Roboto"/>
                <a:cs typeface="Roboto"/>
                <a:sym typeface="Roboto"/>
              </a:endParaRPr>
            </a:p>
            <a:p>
              <a:pPr indent="0" lvl="0" marL="0" rtl="0" algn="l">
                <a:lnSpc>
                  <a:spcPct val="115000"/>
                </a:lnSpc>
                <a:spcBef>
                  <a:spcPts val="0"/>
                </a:spcBef>
                <a:spcAft>
                  <a:spcPts val="0"/>
                </a:spcAft>
                <a:buNone/>
              </a:pPr>
              <a:r>
                <a:t/>
              </a:r>
              <a:endParaRPr sz="1700">
                <a:solidFill>
                  <a:srgbClr val="1F2328"/>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700">
                  <a:solidFill>
                    <a:srgbClr val="1F2328"/>
                  </a:solidFill>
                  <a:latin typeface="Roboto"/>
                  <a:ea typeface="Roboto"/>
                  <a:cs typeface="Roboto"/>
                  <a:sym typeface="Roboto"/>
                </a:rPr>
                <a:t>In the next section, we'll see how Kestra's AI Copilot solves this problem by giving the model everything it needs to generate correct flows.</a:t>
              </a:r>
              <a:endParaRPr sz="1700">
                <a:solidFill>
                  <a:srgbClr val="1F2328"/>
                </a:solidFill>
                <a:latin typeface="Roboto"/>
                <a:ea typeface="Roboto"/>
                <a:cs typeface="Roboto"/>
                <a:sym typeface="Roboto"/>
              </a:endParaRPr>
            </a:p>
            <a:p>
              <a:pPr indent="0" lvl="0" marL="0" rtl="0" algn="l">
                <a:spcBef>
                  <a:spcPts val="0"/>
                </a:spcBef>
                <a:spcAft>
                  <a:spcPts val="0"/>
                </a:spcAft>
                <a:buNone/>
              </a:pPr>
              <a:r>
                <a:t/>
              </a:r>
              <a:endParaRPr sz="1700">
                <a:solidFill>
                  <a:srgbClr val="1F2328"/>
                </a:solidFill>
                <a:latin typeface="Roboto"/>
                <a:ea typeface="Roboto"/>
                <a:cs typeface="Roboto"/>
                <a:sym typeface="Roboto"/>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B7B7B7"/>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