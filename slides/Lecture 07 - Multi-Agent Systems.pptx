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edium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oboto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20D332-B913-4398-9E99-C6DC9133B7EA}">
  <a:tblStyle styleId="{F420D332-B913-4398-9E99-C6DC9133B7E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Light-bold.fntdata"/><Relationship Id="rId23" Type="http://schemas.openxmlformats.org/officeDocument/2006/relationships/font" Target="fonts/Roboto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Light-boldItalic.fntdata"/><Relationship Id="rId25" Type="http://schemas.openxmlformats.org/officeDocument/2006/relationships/font" Target="fonts/Roboto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Medium-regular.fntdata"/><Relationship Id="rId14" Type="http://schemas.openxmlformats.org/officeDocument/2006/relationships/slide" Target="slides/slide9.xml"/><Relationship Id="rId17" Type="http://schemas.openxmlformats.org/officeDocument/2006/relationships/font" Target="fonts/RobotoMedium-italic.fntdata"/><Relationship Id="rId16" Type="http://schemas.openxmlformats.org/officeDocument/2006/relationships/font" Target="fonts/RobotoMedium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oboto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9143fda57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9143fda57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143fda57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9143fda57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7ad1dd60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87ad1dd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98ef4ac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98ef4ac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7ad1dd60_0_1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87ad1dd6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7ad1dd60_0_1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87ad1dd6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1b97625c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a1b9762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8ef4ac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98ef4ac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7ad1dd60_0_1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87ad1dd6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7_0)">
  <p:cSld name="Title and body (g3f06253986f_7_0)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14_0)">
  <p:cSld name="Title and body (g3f06253986f_14_0)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hyperlink" Target="about:blan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ctrTitle"/>
          </p:nvPr>
        </p:nvSpPr>
        <p:spPr>
          <a:xfrm>
            <a:off x="311700" y="18113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</a:rPr>
              <a:t>Multi-Agent Systems</a:t>
            </a:r>
            <a:endParaRPr sz="4200"/>
          </a:p>
        </p:txBody>
      </p:sp>
      <p:sp>
        <p:nvSpPr>
          <p:cNvPr id="153" name="Google Shape;153;p26"/>
          <p:cNvSpPr txBox="1"/>
          <p:nvPr/>
        </p:nvSpPr>
        <p:spPr>
          <a:xfrm>
            <a:off x="345775" y="28927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07 | July, 2026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311700" y="3769550"/>
            <a:ext cx="85206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Instructor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: Sithvothy Kiv 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Josh Hug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Multi-Agent Systems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Example: Company Research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Best Practices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Multi-Agent Systems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28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Multi-Agent Systems</a:t>
            </a:r>
            <a:endParaRPr sz="1800"/>
          </a:p>
        </p:txBody>
      </p:sp>
      <p:sp>
        <p:nvSpPr>
          <p:cNvPr id="169" name="Google Shape;169;p28"/>
          <p:cNvSpPr txBox="1"/>
          <p:nvPr/>
        </p:nvSpPr>
        <p:spPr>
          <a:xfrm>
            <a:off x="428625" y="714375"/>
            <a:ext cx="82869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complex tasks, you can design systems where multiple specialized agents collaborate. Each agent has a clear responsibility, and one agent can call another as a tool.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main benefits are separation of concerns (each agent focuses on one thing) and easier debugging (you can isolate issues to a specific agent).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Multi-Agent Systems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Example: Company Research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Best Practices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9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Example: Company Research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30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Example: Company Research</a:t>
            </a:r>
            <a:endParaRPr sz="1800"/>
          </a:p>
        </p:txBody>
      </p:sp>
      <p:sp>
        <p:nvSpPr>
          <p:cNvPr id="184" name="Google Shape;184;p30"/>
          <p:cNvSpPr txBox="1"/>
          <p:nvPr/>
        </p:nvSpPr>
        <p:spPr>
          <a:xfrm>
            <a:off x="428625" y="714375"/>
            <a:ext cx="82869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Flow: </a:t>
            </a:r>
            <a:r>
              <a:rPr lang="en" sz="17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6_multi_agent_research</a:t>
            </a:r>
            <a:r>
              <a:rPr lang="en" sz="1700">
                <a:solidFill>
                  <a:schemeClr val="accent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.yaml</a:t>
            </a:r>
            <a:endParaRPr sz="17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flow demonstrates a two-agent system for competitor research: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0"/>
          <p:cNvGraphicFramePr/>
          <p:nvPr/>
        </p:nvGraphicFramePr>
        <p:xfrm>
          <a:off x="4572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{F420D332-B913-4398-9E99-C6DC9133B7EA}</a:tableStyleId>
              </a:tblPr>
              <a:tblGrid>
                <a:gridCol w="1421300"/>
                <a:gridCol w="2319500"/>
                <a:gridCol w="2210925"/>
                <a:gridCol w="2240550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55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Agent</a:t>
                      </a:r>
                      <a:endParaRPr b="1" sz="155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55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Specialization</a:t>
                      </a:r>
                      <a:endParaRPr b="1" sz="155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55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Tools</a:t>
                      </a:r>
                      <a:endParaRPr b="1" sz="155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55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Responsibility</a:t>
                      </a:r>
                      <a:endParaRPr b="1" sz="155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Research Agent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Web research and data gathering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Tavily web search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Find factual, current information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 Analyst Agent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Analysis and synthesis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Research agent (used as a tool)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 structured reports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Example: Company Research</a:t>
            </a:r>
            <a:endParaRPr sz="1800"/>
          </a:p>
        </p:txBody>
      </p:sp>
      <p:sp>
        <p:nvSpPr>
          <p:cNvPr id="193" name="Google Shape;193;p31"/>
          <p:cNvSpPr txBox="1"/>
          <p:nvPr/>
        </p:nvSpPr>
        <p:spPr>
          <a:xfrm>
            <a:off x="428625" y="714375"/>
            <a:ext cx="8286900" cy="2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it works: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company name (e.g., "kestra.io")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 agent receives prompt: "Research this company"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 agent calls the research agent tool: "Find information about kestra.io"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Research agent uses Tavily to gather data from the web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Research agent returns findings to the main agent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 agent structures the findings into a final JSON output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3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Example: Company Research</a:t>
            </a:r>
            <a:endParaRPr sz="1800"/>
          </a:p>
        </p:txBody>
      </p:sp>
      <p:sp>
        <p:nvSpPr>
          <p:cNvPr id="201" name="Google Shape;201;p32"/>
          <p:cNvSpPr txBox="1"/>
          <p:nvPr/>
        </p:nvSpPr>
        <p:spPr>
          <a:xfrm>
            <a:off x="428625" y="714375"/>
            <a:ext cx="8286900" cy="1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key pattern here is using AI Agent as a tool. The main agent treats the research agent exactly like a web search or database call — it invokes it when needed and works with whatever comes back.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Multi-Agent Systems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Example: Company Research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Best Practices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3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Best Practices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Best Practices</a:t>
            </a:r>
            <a:endParaRPr sz="1800"/>
          </a:p>
        </p:txBody>
      </p:sp>
      <p:sp>
        <p:nvSpPr>
          <p:cNvPr id="216" name="Google Shape;216;p34"/>
          <p:cNvSpPr txBox="1"/>
          <p:nvPr/>
        </p:nvSpPr>
        <p:spPr>
          <a:xfrm>
            <a:off x="428625" y="714375"/>
            <a:ext cx="8286900" cy="20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Define clear responsibilities: each agent should have a specific role and stay within it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Monitor token usage: multiple agents means multiple LLM calls — costs add up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 agent purposes: make the system maintainable by describing what each agent does in your flow and task descriptions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